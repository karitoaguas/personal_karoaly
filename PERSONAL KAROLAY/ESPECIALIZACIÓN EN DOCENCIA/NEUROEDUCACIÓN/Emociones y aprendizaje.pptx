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9" r:id="rId18"/>
    <p:sldId id="272" r:id="rId19"/>
    <p:sldId id="273" r:id="rId20"/>
    <p:sldId id="280" r:id="rId21"/>
    <p:sldId id="274" r:id="rId22"/>
    <p:sldId id="275" r:id="rId23"/>
    <p:sldId id="276" r:id="rId24"/>
    <p:sldId id="277" r:id="rId25"/>
    <p:sldId id="278" r:id="rId26"/>
    <p:sldId id="281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236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5742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9946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121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4786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336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845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007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780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958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915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4163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1168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8803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578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5318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181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C2A98CA-C1CB-47E7-8DEA-7A95F5996BC6}" type="datetimeFigureOut">
              <a:rPr lang="es-CO" smtClean="0"/>
              <a:t>18/05/2023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CO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42D048-7F4E-48AD-8335-1101B34B4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23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95211" y="1032210"/>
            <a:ext cx="9144000" cy="2387600"/>
          </a:xfrm>
        </p:spPr>
        <p:txBody>
          <a:bodyPr/>
          <a:lstStyle/>
          <a:p>
            <a:pPr algn="ctr"/>
            <a:r>
              <a:rPr lang="es-CO" sz="8000" b="1" dirty="0" smtClean="0"/>
              <a:t>Emociones y aprendizaje</a:t>
            </a:r>
            <a:endParaRPr lang="es-CO" sz="8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58085" y="5366443"/>
            <a:ext cx="9144000" cy="1655762"/>
          </a:xfrm>
        </p:spPr>
        <p:txBody>
          <a:bodyPr/>
          <a:lstStyle/>
          <a:p>
            <a:pPr algn="l"/>
            <a:r>
              <a:rPr lang="es-CO" sz="3200" dirty="0" smtClean="0"/>
              <a:t>Jessica Jerez Jurado</a:t>
            </a:r>
          </a:p>
          <a:p>
            <a:pPr algn="l"/>
            <a:r>
              <a:rPr lang="es-CO" dirty="0" smtClean="0"/>
              <a:t>Mg. Neuropsicología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1579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6000" b="1" dirty="0" smtClean="0"/>
              <a:t>Introducción</a:t>
            </a:r>
            <a:endParaRPr lang="es-CO" sz="60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6465" y="2436074"/>
            <a:ext cx="7267828" cy="411927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4000" dirty="0" smtClean="0">
                <a:solidFill>
                  <a:schemeClr val="tx1"/>
                </a:solidFill>
              </a:rPr>
              <a:t>Hace más </a:t>
            </a:r>
            <a:r>
              <a:rPr lang="es-ES" sz="4000" dirty="0">
                <a:solidFill>
                  <a:schemeClr val="tx1"/>
                </a:solidFill>
              </a:rPr>
              <a:t>de 2000 años, Platón enunció la </a:t>
            </a:r>
            <a:r>
              <a:rPr lang="es-ES" sz="4000" dirty="0" smtClean="0">
                <a:solidFill>
                  <a:schemeClr val="tx1"/>
                </a:solidFill>
              </a:rPr>
              <a:t>cita: </a:t>
            </a:r>
            <a:r>
              <a:rPr lang="es-ES" sz="4000" dirty="0">
                <a:solidFill>
                  <a:schemeClr val="tx1"/>
                </a:solidFill>
              </a:rPr>
              <a:t>“todo aprendizaje tiene una base emocional</a:t>
            </a:r>
            <a:r>
              <a:rPr lang="es-ES" sz="4000" dirty="0" smtClean="0">
                <a:solidFill>
                  <a:schemeClr val="tx1"/>
                </a:solidFill>
              </a:rPr>
              <a:t>”…</a:t>
            </a:r>
            <a:endParaRPr lang="es-CO" sz="40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951" y="2616377"/>
            <a:ext cx="3410831" cy="362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6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9092" y="2137893"/>
            <a:ext cx="11590985" cy="417812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800" dirty="0" smtClean="0">
                <a:solidFill>
                  <a:schemeClr val="tx1"/>
                </a:solidFill>
              </a:rPr>
              <a:t>Quizá </a:t>
            </a:r>
            <a:r>
              <a:rPr lang="es-ES" sz="2800" dirty="0">
                <a:solidFill>
                  <a:schemeClr val="tx1"/>
                </a:solidFill>
              </a:rPr>
              <a:t>no fuera consciente de, hasta qué punto, estaba </a:t>
            </a:r>
            <a:r>
              <a:rPr lang="es-ES" sz="2800" b="1" dirty="0">
                <a:solidFill>
                  <a:schemeClr val="tx1"/>
                </a:solidFill>
              </a:rPr>
              <a:t>adelantándose a las conclusiones </a:t>
            </a:r>
            <a:r>
              <a:rPr lang="es-ES" sz="2800" dirty="0">
                <a:solidFill>
                  <a:schemeClr val="tx1"/>
                </a:solidFill>
              </a:rPr>
              <a:t>que se derivan de las evidencias que arrojan recientes estudios llevados a cabo en los campos de la neurobiología y la educación (</a:t>
            </a:r>
            <a:r>
              <a:rPr lang="es-ES" sz="2800" dirty="0" err="1">
                <a:solidFill>
                  <a:schemeClr val="tx1"/>
                </a:solidFill>
              </a:rPr>
              <a:t>Immordino</a:t>
            </a:r>
            <a:r>
              <a:rPr lang="es-ES" sz="2800" dirty="0">
                <a:solidFill>
                  <a:schemeClr val="tx1"/>
                </a:solidFill>
              </a:rPr>
              <a:t>- Yang &amp; Damasio 2007, 2009; </a:t>
            </a:r>
            <a:r>
              <a:rPr lang="es-ES" sz="2800" dirty="0" err="1">
                <a:solidFill>
                  <a:schemeClr val="tx1"/>
                </a:solidFill>
              </a:rPr>
              <a:t>Grindal</a:t>
            </a:r>
            <a:r>
              <a:rPr lang="es-ES" sz="2800" dirty="0">
                <a:solidFill>
                  <a:schemeClr val="tx1"/>
                </a:solidFill>
              </a:rPr>
              <a:t>, </a:t>
            </a:r>
            <a:r>
              <a:rPr lang="es-ES" sz="2800" dirty="0" err="1">
                <a:solidFill>
                  <a:schemeClr val="tx1"/>
                </a:solidFill>
              </a:rPr>
              <a:t>Hinton</a:t>
            </a:r>
            <a:r>
              <a:rPr lang="es-ES" sz="2800" dirty="0">
                <a:solidFill>
                  <a:schemeClr val="tx1"/>
                </a:solidFill>
              </a:rPr>
              <a:t>, &amp; </a:t>
            </a:r>
            <a:r>
              <a:rPr lang="es-ES" sz="2800" dirty="0" err="1">
                <a:solidFill>
                  <a:schemeClr val="tx1"/>
                </a:solidFill>
              </a:rPr>
              <a:t>Shonkoff</a:t>
            </a:r>
            <a:r>
              <a:rPr lang="es-ES" sz="2800" dirty="0">
                <a:solidFill>
                  <a:schemeClr val="tx1"/>
                </a:solidFill>
              </a:rPr>
              <a:t> 2011; Rolla, </a:t>
            </a:r>
            <a:r>
              <a:rPr lang="es-ES" sz="2800" dirty="0" err="1">
                <a:solidFill>
                  <a:schemeClr val="tx1"/>
                </a:solidFill>
              </a:rPr>
              <a:t>Hinton</a:t>
            </a:r>
            <a:r>
              <a:rPr lang="es-ES" sz="2800" dirty="0">
                <a:solidFill>
                  <a:schemeClr val="tx1"/>
                </a:solidFill>
              </a:rPr>
              <a:t>, &amp; </a:t>
            </a:r>
            <a:r>
              <a:rPr lang="es-ES" sz="2800" dirty="0" err="1">
                <a:solidFill>
                  <a:schemeClr val="tx1"/>
                </a:solidFill>
              </a:rPr>
              <a:t>Shonkoff</a:t>
            </a:r>
            <a:r>
              <a:rPr lang="es-ES" sz="2800" dirty="0">
                <a:solidFill>
                  <a:schemeClr val="tx1"/>
                </a:solidFill>
              </a:rPr>
              <a:t> 2011). </a:t>
            </a:r>
            <a:endParaRPr lang="es-CO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46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0914" y="2292439"/>
            <a:ext cx="11256134" cy="437881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800" dirty="0">
                <a:solidFill>
                  <a:schemeClr val="tx1"/>
                </a:solidFill>
              </a:rPr>
              <a:t>Las emociones se fundamentan en </a:t>
            </a:r>
            <a:r>
              <a:rPr lang="es-ES" sz="2800" b="1" dirty="0">
                <a:solidFill>
                  <a:schemeClr val="tx1"/>
                </a:solidFill>
              </a:rPr>
              <a:t>una compleja red de zonas cerebrales,</a:t>
            </a:r>
            <a:r>
              <a:rPr lang="es-ES" sz="2800" dirty="0">
                <a:solidFill>
                  <a:schemeClr val="tx1"/>
                </a:solidFill>
              </a:rPr>
              <a:t> muchas de las cuales están también implicadas en el aprendizaje. </a:t>
            </a:r>
            <a:endParaRPr lang="es-ES" sz="28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800" dirty="0" smtClean="0">
                <a:solidFill>
                  <a:schemeClr val="tx1"/>
                </a:solidFill>
              </a:rPr>
              <a:t>Algunas </a:t>
            </a:r>
            <a:r>
              <a:rPr lang="es-ES" sz="2800" dirty="0">
                <a:solidFill>
                  <a:schemeClr val="tx1"/>
                </a:solidFill>
              </a:rPr>
              <a:t>de estas regiones del cerebro son el </a:t>
            </a:r>
            <a:r>
              <a:rPr lang="es-ES" sz="2800" b="1" dirty="0">
                <a:solidFill>
                  <a:schemeClr val="tx1"/>
                </a:solidFill>
              </a:rPr>
              <a:t>córtex prefrontal, el hipocampo, la amígdala o el hipotálamo </a:t>
            </a:r>
            <a:r>
              <a:rPr lang="es-ES" sz="2800" dirty="0">
                <a:solidFill>
                  <a:schemeClr val="tx1"/>
                </a:solidFill>
              </a:rPr>
              <a:t>(</a:t>
            </a:r>
            <a:r>
              <a:rPr lang="es-ES" sz="2800" dirty="0" err="1">
                <a:solidFill>
                  <a:schemeClr val="tx1"/>
                </a:solidFill>
              </a:rPr>
              <a:t>Lang</a:t>
            </a:r>
            <a:r>
              <a:rPr lang="es-ES" sz="2800" dirty="0">
                <a:solidFill>
                  <a:schemeClr val="tx1"/>
                </a:solidFill>
              </a:rPr>
              <a:t> &amp; Davis, 2006; </a:t>
            </a:r>
            <a:r>
              <a:rPr lang="es-ES" sz="2800" dirty="0" err="1">
                <a:solidFill>
                  <a:schemeClr val="tx1"/>
                </a:solidFill>
              </a:rPr>
              <a:t>Morgane</a:t>
            </a:r>
            <a:r>
              <a:rPr lang="es-ES" sz="2800" dirty="0">
                <a:solidFill>
                  <a:schemeClr val="tx1"/>
                </a:solidFill>
              </a:rPr>
              <a:t>, </a:t>
            </a:r>
            <a:r>
              <a:rPr lang="es-ES" sz="2800" dirty="0" err="1">
                <a:solidFill>
                  <a:schemeClr val="tx1"/>
                </a:solidFill>
              </a:rPr>
              <a:t>Galler</a:t>
            </a:r>
            <a:r>
              <a:rPr lang="es-ES" sz="2800" dirty="0">
                <a:solidFill>
                  <a:schemeClr val="tx1"/>
                </a:solidFill>
              </a:rPr>
              <a:t> &amp; </a:t>
            </a:r>
            <a:r>
              <a:rPr lang="es-ES" sz="2800" dirty="0" err="1">
                <a:solidFill>
                  <a:schemeClr val="tx1"/>
                </a:solidFill>
              </a:rPr>
              <a:t>Mokler</a:t>
            </a:r>
            <a:r>
              <a:rPr lang="es-ES" sz="2800" dirty="0">
                <a:solidFill>
                  <a:schemeClr val="tx1"/>
                </a:solidFill>
              </a:rPr>
              <a:t>, 2005). </a:t>
            </a:r>
            <a:endParaRPr lang="es-CO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67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1972" y="2240923"/>
            <a:ext cx="8680360" cy="412124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3600" dirty="0">
                <a:solidFill>
                  <a:schemeClr val="tx1"/>
                </a:solidFill>
              </a:rPr>
              <a:t>Por tanto, se podría decir que cuando un estudiante adquiere nuevo conocimiento, </a:t>
            </a:r>
            <a:r>
              <a:rPr lang="es-ES" sz="3600" b="1" dirty="0">
                <a:solidFill>
                  <a:schemeClr val="tx1"/>
                </a:solidFill>
              </a:rPr>
              <a:t>la parte emocional y la cognitiva operan de forma interrelacionada </a:t>
            </a:r>
            <a:r>
              <a:rPr lang="es-ES" sz="3600" dirty="0">
                <a:solidFill>
                  <a:schemeClr val="tx1"/>
                </a:solidFill>
              </a:rPr>
              <a:t>en su </a:t>
            </a:r>
            <a:r>
              <a:rPr lang="es-ES" sz="3600" dirty="0" smtClean="0">
                <a:solidFill>
                  <a:schemeClr val="tx1"/>
                </a:solidFill>
              </a:rPr>
              <a:t>cerebro.</a:t>
            </a:r>
            <a:endParaRPr lang="es-CO" sz="36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332" y="2688161"/>
            <a:ext cx="3028950" cy="322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1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54199" y="2139861"/>
            <a:ext cx="8825659" cy="34163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3200" dirty="0">
                <a:solidFill>
                  <a:schemeClr val="tx1"/>
                </a:solidFill>
              </a:rPr>
              <a:t>Es más, la emoción actúa de “guía” para la obtención de ese aprendizaje, de forma que </a:t>
            </a:r>
            <a:r>
              <a:rPr lang="es-ES" sz="3200" b="1" dirty="0">
                <a:solidFill>
                  <a:schemeClr val="tx1"/>
                </a:solidFill>
              </a:rPr>
              <a:t>etiqueta las experiencias como positivas </a:t>
            </a:r>
            <a:r>
              <a:rPr lang="es-ES" sz="3200" dirty="0">
                <a:solidFill>
                  <a:schemeClr val="tx1"/>
                </a:solidFill>
              </a:rPr>
              <a:t>─y por tanto atractivas para aprender─ o </a:t>
            </a:r>
            <a:r>
              <a:rPr lang="es-ES" sz="3200" b="1" dirty="0">
                <a:solidFill>
                  <a:schemeClr val="tx1"/>
                </a:solidFill>
              </a:rPr>
              <a:t>como negativas </a:t>
            </a:r>
            <a:r>
              <a:rPr lang="es-ES" sz="3200" dirty="0">
                <a:solidFill>
                  <a:schemeClr val="tx1"/>
                </a:solidFill>
              </a:rPr>
              <a:t>─y, por tanto, susceptibles de ser evitadas─</a:t>
            </a:r>
            <a:endParaRPr lang="es-CO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71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17072" y="2268650"/>
            <a:ext cx="11260280" cy="436397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>
                <a:solidFill>
                  <a:schemeClr val="tx1"/>
                </a:solidFill>
              </a:rPr>
              <a:t>Recientes avances basados en imágenes cerebrales han podido abordar el </a:t>
            </a:r>
            <a:r>
              <a:rPr lang="es-ES" sz="2400" b="1" dirty="0">
                <a:solidFill>
                  <a:schemeClr val="tx1"/>
                </a:solidFill>
              </a:rPr>
              <a:t>sustrato neuronal </a:t>
            </a:r>
            <a:r>
              <a:rPr lang="es-ES" sz="2400" dirty="0">
                <a:solidFill>
                  <a:schemeClr val="tx1"/>
                </a:solidFill>
              </a:rPr>
              <a:t>que subyace tras este </a:t>
            </a:r>
            <a:r>
              <a:rPr lang="es-ES" sz="2400" dirty="0" smtClean="0">
                <a:solidFill>
                  <a:schemeClr val="tx1"/>
                </a:solidFill>
              </a:rPr>
              <a:t>mecanismo.</a:t>
            </a:r>
          </a:p>
          <a:p>
            <a:pPr algn="just">
              <a:lnSpc>
                <a:spcPct val="150000"/>
              </a:lnSpc>
            </a:pPr>
            <a:r>
              <a:rPr lang="es-ES" sz="2400" dirty="0">
                <a:solidFill>
                  <a:schemeClr val="tx1"/>
                </a:solidFill>
              </a:rPr>
              <a:t>Cuando los estudiantes se encuentran con una situación, su cerebro, </a:t>
            </a:r>
            <a:r>
              <a:rPr lang="es-ES" sz="2400" b="1" dirty="0">
                <a:solidFill>
                  <a:schemeClr val="tx1"/>
                </a:solidFill>
              </a:rPr>
              <a:t>automática y rápidamente, </a:t>
            </a:r>
            <a:r>
              <a:rPr lang="es-CO" sz="2400" b="1" dirty="0">
                <a:solidFill>
                  <a:schemeClr val="tx1"/>
                </a:solidFill>
              </a:rPr>
              <a:t>la evalúa </a:t>
            </a:r>
            <a:r>
              <a:rPr lang="es-CO" sz="2400" dirty="0">
                <a:solidFill>
                  <a:schemeClr val="tx1"/>
                </a:solidFill>
              </a:rPr>
              <a:t>(</a:t>
            </a:r>
            <a:r>
              <a:rPr lang="es-CO" sz="2400" dirty="0" err="1">
                <a:solidFill>
                  <a:schemeClr val="tx1"/>
                </a:solidFill>
              </a:rPr>
              <a:t>Frijda</a:t>
            </a:r>
            <a:r>
              <a:rPr lang="es-CO" sz="2400" dirty="0">
                <a:solidFill>
                  <a:schemeClr val="tx1"/>
                </a:solidFill>
              </a:rPr>
              <a:t>, 2006). </a:t>
            </a:r>
            <a:endParaRPr lang="es-CO" sz="24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s-ES" sz="2400" b="1" dirty="0">
                <a:solidFill>
                  <a:schemeClr val="tx1"/>
                </a:solidFill>
              </a:rPr>
              <a:t>El córtex prefrontal </a:t>
            </a:r>
            <a:r>
              <a:rPr lang="es-ES" sz="2400" dirty="0">
                <a:solidFill>
                  <a:schemeClr val="tx1"/>
                </a:solidFill>
              </a:rPr>
              <a:t>es el responsable de esta evaluación, indicando si la situación ofrece sensaciones positivas o negativas (</a:t>
            </a:r>
            <a:r>
              <a:rPr lang="es-ES" sz="2400" dirty="0" err="1">
                <a:solidFill>
                  <a:schemeClr val="tx1"/>
                </a:solidFill>
              </a:rPr>
              <a:t>Davidson</a:t>
            </a:r>
            <a:r>
              <a:rPr lang="es-ES" sz="2400" dirty="0">
                <a:solidFill>
                  <a:schemeClr val="tx1"/>
                </a:solidFill>
              </a:rPr>
              <a:t> &amp; Fox, 1989). </a:t>
            </a:r>
            <a:endParaRPr lang="es-CO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97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7676" y="2011073"/>
            <a:ext cx="8104955" cy="473101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s-ES" sz="2600" dirty="0">
                <a:solidFill>
                  <a:schemeClr val="tx1"/>
                </a:solidFill>
              </a:rPr>
              <a:t>Cuando son positivas, el </a:t>
            </a:r>
            <a:r>
              <a:rPr lang="es-ES" sz="2600" b="1" dirty="0">
                <a:solidFill>
                  <a:schemeClr val="tx1"/>
                </a:solidFill>
              </a:rPr>
              <a:t>córtex prefrontal izquierdo</a:t>
            </a:r>
            <a:r>
              <a:rPr lang="es-ES" sz="2600" dirty="0">
                <a:solidFill>
                  <a:schemeClr val="tx1"/>
                </a:solidFill>
              </a:rPr>
              <a:t> muestra una mayor actividad, con ondas cerebrales de mayor </a:t>
            </a:r>
            <a:r>
              <a:rPr lang="es-ES" sz="2600" dirty="0" smtClean="0">
                <a:solidFill>
                  <a:schemeClr val="tx1"/>
                </a:solidFill>
              </a:rPr>
              <a:t>frecuencia.</a:t>
            </a:r>
          </a:p>
          <a:p>
            <a:pPr algn="just">
              <a:lnSpc>
                <a:spcPct val="150000"/>
              </a:lnSpc>
            </a:pPr>
            <a:r>
              <a:rPr lang="es-ES" sz="2600" dirty="0">
                <a:solidFill>
                  <a:schemeClr val="tx1"/>
                </a:solidFill>
              </a:rPr>
              <a:t>Sin embargo, cuando la situación evaluada despierta </a:t>
            </a:r>
            <a:r>
              <a:rPr lang="es-ES" sz="2600" b="1" dirty="0">
                <a:solidFill>
                  <a:schemeClr val="tx1"/>
                </a:solidFill>
              </a:rPr>
              <a:t>emociones negativas</a:t>
            </a:r>
            <a:r>
              <a:rPr lang="es-ES" sz="2600" dirty="0">
                <a:solidFill>
                  <a:schemeClr val="tx1"/>
                </a:solidFill>
              </a:rPr>
              <a:t>, la activación del </a:t>
            </a:r>
            <a:r>
              <a:rPr lang="es-ES" sz="2600" b="1" dirty="0">
                <a:solidFill>
                  <a:schemeClr val="tx1"/>
                </a:solidFill>
              </a:rPr>
              <a:t>córtex prefrontal se produce eminentemente en su parte derecha</a:t>
            </a:r>
            <a:r>
              <a:rPr lang="es-ES" sz="2600" dirty="0">
                <a:solidFill>
                  <a:schemeClr val="tx1"/>
                </a:solidFill>
              </a:rPr>
              <a:t>. </a:t>
            </a:r>
            <a:endParaRPr lang="es-CO" sz="2600" dirty="0">
              <a:solidFill>
                <a:schemeClr val="tx1"/>
              </a:solidFill>
            </a:endParaRPr>
          </a:p>
        </p:txBody>
      </p:sp>
      <p:sp>
        <p:nvSpPr>
          <p:cNvPr id="4" name="AutoShape 2" descr="La Corteza Prefrontal y su relación con la Memoria de Trabaj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397" y="2419216"/>
            <a:ext cx="3058007" cy="40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3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3737" y="2255770"/>
            <a:ext cx="11492100" cy="411927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800" dirty="0">
                <a:solidFill>
                  <a:schemeClr val="tx1"/>
                </a:solidFill>
              </a:rPr>
              <a:t>En cualquier caso, </a:t>
            </a:r>
            <a:r>
              <a:rPr lang="es-ES" sz="2800" b="1" dirty="0">
                <a:solidFill>
                  <a:schemeClr val="tx1"/>
                </a:solidFill>
              </a:rPr>
              <a:t>el córtex prefrontal </a:t>
            </a:r>
            <a:r>
              <a:rPr lang="es-ES" sz="2800" dirty="0">
                <a:solidFill>
                  <a:schemeClr val="tx1"/>
                </a:solidFill>
              </a:rPr>
              <a:t>es la zona cerebral en la que también se </a:t>
            </a:r>
            <a:r>
              <a:rPr lang="es-ES" sz="2800" b="1" dirty="0">
                <a:solidFill>
                  <a:schemeClr val="tx1"/>
                </a:solidFill>
              </a:rPr>
              <a:t>asientan las funciones ejecutivas</a:t>
            </a:r>
            <a:r>
              <a:rPr lang="es-ES" sz="2800" dirty="0">
                <a:solidFill>
                  <a:schemeClr val="tx1"/>
                </a:solidFill>
              </a:rPr>
              <a:t>, entre las que se incluyen la </a:t>
            </a:r>
            <a:r>
              <a:rPr lang="es-ES" sz="2800" b="1" dirty="0">
                <a:solidFill>
                  <a:schemeClr val="tx1"/>
                </a:solidFill>
              </a:rPr>
              <a:t>selección apropiada de estrategias de aprendizaje o la fijación de objetivos</a:t>
            </a:r>
            <a:r>
              <a:rPr lang="es-ES" sz="2800" dirty="0">
                <a:solidFill>
                  <a:schemeClr val="tx1"/>
                </a:solidFill>
              </a:rPr>
              <a:t> (Fuster, 2008). </a:t>
            </a:r>
            <a:endParaRPr lang="es-ES" sz="28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800" dirty="0" smtClean="0">
                <a:solidFill>
                  <a:schemeClr val="tx1"/>
                </a:solidFill>
              </a:rPr>
              <a:t>Por </a:t>
            </a:r>
            <a:r>
              <a:rPr lang="es-ES" sz="2800" dirty="0">
                <a:solidFill>
                  <a:schemeClr val="tx1"/>
                </a:solidFill>
              </a:rPr>
              <a:t>tanto, parece claro que emoción y cognición están vinculadas a nivel biológico. </a:t>
            </a:r>
            <a:endParaRPr lang="es-CO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48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3432" y="2380825"/>
            <a:ext cx="8414049" cy="347532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500" dirty="0">
                <a:solidFill>
                  <a:schemeClr val="tx1"/>
                </a:solidFill>
              </a:rPr>
              <a:t>Las evidencias obtenidas en el campo de la neurociencia en relación a la importancia de las emociones en el aprendizaje han abierto el debate de si los </a:t>
            </a:r>
            <a:r>
              <a:rPr lang="es-ES" sz="2500" b="1" dirty="0">
                <a:solidFill>
                  <a:schemeClr val="tx1"/>
                </a:solidFill>
              </a:rPr>
              <a:t>educadores deben ser también los responsables del desarrollo emocional de sus estudiantes</a:t>
            </a:r>
            <a:r>
              <a:rPr lang="es-ES" sz="2500" dirty="0">
                <a:solidFill>
                  <a:schemeClr val="tx1"/>
                </a:solidFill>
              </a:rPr>
              <a:t> (</a:t>
            </a:r>
            <a:r>
              <a:rPr lang="es-ES" sz="2500" dirty="0" err="1">
                <a:solidFill>
                  <a:schemeClr val="tx1"/>
                </a:solidFill>
              </a:rPr>
              <a:t>Hinton</a:t>
            </a:r>
            <a:r>
              <a:rPr lang="es-ES" sz="2500" dirty="0">
                <a:solidFill>
                  <a:schemeClr val="tx1"/>
                </a:solidFill>
              </a:rPr>
              <a:t>, </a:t>
            </a:r>
            <a:r>
              <a:rPr lang="es-ES" sz="2500" dirty="0" err="1">
                <a:solidFill>
                  <a:schemeClr val="tx1"/>
                </a:solidFill>
              </a:rPr>
              <a:t>Miyamoto</a:t>
            </a:r>
            <a:r>
              <a:rPr lang="es-ES" sz="2500" dirty="0">
                <a:solidFill>
                  <a:schemeClr val="tx1"/>
                </a:solidFill>
              </a:rPr>
              <a:t>, &amp; </a:t>
            </a:r>
            <a:r>
              <a:rPr lang="es-ES" sz="2500" dirty="0" err="1">
                <a:solidFill>
                  <a:schemeClr val="tx1"/>
                </a:solidFill>
              </a:rPr>
              <a:t>della</a:t>
            </a:r>
            <a:r>
              <a:rPr lang="es-ES" sz="2500" dirty="0">
                <a:solidFill>
                  <a:schemeClr val="tx1"/>
                </a:solidFill>
              </a:rPr>
              <a:t> Chiesa, 2008) más allá del desarrollo intelectual. </a:t>
            </a:r>
            <a:endParaRPr lang="es-CO" sz="25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300" y="2584963"/>
            <a:ext cx="2990850" cy="315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Los estados emocionales negativos en el aprendizaje 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7829" y="2294407"/>
            <a:ext cx="8259502" cy="427381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800" dirty="0">
                <a:solidFill>
                  <a:schemeClr val="tx1"/>
                </a:solidFill>
              </a:rPr>
              <a:t>Está comprobado que los estados emocionales negativos, surgidos a partir de situaciones de </a:t>
            </a:r>
            <a:r>
              <a:rPr lang="es-ES" sz="2800" b="1" dirty="0">
                <a:solidFill>
                  <a:schemeClr val="tx1"/>
                </a:solidFill>
              </a:rPr>
              <a:t>miedo o estrés</a:t>
            </a:r>
            <a:r>
              <a:rPr lang="es-ES" sz="2800" dirty="0">
                <a:solidFill>
                  <a:schemeClr val="tx1"/>
                </a:solidFill>
              </a:rPr>
              <a:t>, propician una activación de la </a:t>
            </a:r>
            <a:r>
              <a:rPr lang="es-ES" sz="2800" b="1" dirty="0">
                <a:solidFill>
                  <a:schemeClr val="tx1"/>
                </a:solidFill>
              </a:rPr>
              <a:t>amígdala</a:t>
            </a:r>
            <a:r>
              <a:rPr lang="es-ES" sz="2800" dirty="0">
                <a:solidFill>
                  <a:schemeClr val="tx1"/>
                </a:solidFill>
              </a:rPr>
              <a:t> que deriva en una liberación de </a:t>
            </a:r>
            <a:r>
              <a:rPr lang="es-ES" sz="2800" b="1" dirty="0">
                <a:solidFill>
                  <a:schemeClr val="tx1"/>
                </a:solidFill>
              </a:rPr>
              <a:t>adrenalina, noradrenalina y glucocorticoides </a:t>
            </a:r>
            <a:r>
              <a:rPr lang="es-ES" sz="2800" dirty="0">
                <a:solidFill>
                  <a:schemeClr val="tx1"/>
                </a:solidFill>
              </a:rPr>
              <a:t>(cortisol). </a:t>
            </a:r>
            <a:endParaRPr lang="es-CO" sz="28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414" y="2593617"/>
            <a:ext cx="2828925" cy="320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8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47730" y="2305317"/>
            <a:ext cx="11668259" cy="414699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800" dirty="0">
                <a:solidFill>
                  <a:schemeClr val="tx1"/>
                </a:solidFill>
              </a:rPr>
              <a:t>De esta manera, si bien es cierto que un </a:t>
            </a:r>
            <a:r>
              <a:rPr lang="es-ES" sz="2800" b="1" dirty="0">
                <a:solidFill>
                  <a:schemeClr val="tx1"/>
                </a:solidFill>
              </a:rPr>
              <a:t>nivel leve o moderado </a:t>
            </a:r>
            <a:r>
              <a:rPr lang="es-ES" sz="2800" dirty="0">
                <a:solidFill>
                  <a:schemeClr val="tx1"/>
                </a:solidFill>
              </a:rPr>
              <a:t>de estrés (que supone valores bajos y medios de cortisol) es </a:t>
            </a:r>
            <a:r>
              <a:rPr lang="es-ES" sz="2800" b="1" dirty="0">
                <a:solidFill>
                  <a:schemeClr val="tx1"/>
                </a:solidFill>
              </a:rPr>
              <a:t>esencial para una adaptación óptima </a:t>
            </a:r>
            <a:r>
              <a:rPr lang="es-ES" sz="2800" dirty="0">
                <a:solidFill>
                  <a:schemeClr val="tx1"/>
                </a:solidFill>
              </a:rPr>
              <a:t>a los desafíos ambientales y puede favorecer el rendimiento cognitivo en la medida que </a:t>
            </a:r>
            <a:r>
              <a:rPr lang="es-ES" sz="2800" b="1" dirty="0">
                <a:solidFill>
                  <a:schemeClr val="tx1"/>
                </a:solidFill>
              </a:rPr>
              <a:t>provoca la elevación del nivel general de alerta </a:t>
            </a:r>
            <a:r>
              <a:rPr lang="es-ES" sz="2800" dirty="0">
                <a:solidFill>
                  <a:schemeClr val="tx1"/>
                </a:solidFill>
              </a:rPr>
              <a:t>(</a:t>
            </a:r>
            <a:r>
              <a:rPr lang="es-ES" sz="2800" dirty="0" err="1">
                <a:solidFill>
                  <a:schemeClr val="tx1"/>
                </a:solidFill>
              </a:rPr>
              <a:t>Borod</a:t>
            </a:r>
            <a:r>
              <a:rPr lang="es-ES" sz="2800" dirty="0">
                <a:solidFill>
                  <a:schemeClr val="tx1"/>
                </a:solidFill>
              </a:rPr>
              <a:t>, 2000; </a:t>
            </a:r>
            <a:r>
              <a:rPr lang="es-ES" sz="2800" dirty="0" err="1">
                <a:solidFill>
                  <a:schemeClr val="tx1"/>
                </a:solidFill>
              </a:rPr>
              <a:t>Whalen</a:t>
            </a:r>
            <a:r>
              <a:rPr lang="es-ES" sz="2800" dirty="0">
                <a:solidFill>
                  <a:schemeClr val="tx1"/>
                </a:solidFill>
              </a:rPr>
              <a:t>, 1998), </a:t>
            </a:r>
            <a:endParaRPr lang="es-CO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43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3432" y="2345921"/>
            <a:ext cx="8182229" cy="41321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3200" b="1" dirty="0">
                <a:solidFill>
                  <a:schemeClr val="tx1"/>
                </a:solidFill>
              </a:rPr>
              <a:t>S</a:t>
            </a:r>
            <a:r>
              <a:rPr lang="es-ES" sz="3200" b="1" dirty="0" smtClean="0">
                <a:solidFill>
                  <a:schemeClr val="tx1"/>
                </a:solidFill>
              </a:rPr>
              <a:t>ituaciones </a:t>
            </a:r>
            <a:r>
              <a:rPr lang="es-ES" sz="3200" b="1" dirty="0">
                <a:solidFill>
                  <a:schemeClr val="tx1"/>
                </a:solidFill>
              </a:rPr>
              <a:t>de estrés intenso </a:t>
            </a:r>
            <a:r>
              <a:rPr lang="es-ES" sz="3200" dirty="0">
                <a:solidFill>
                  <a:schemeClr val="tx1"/>
                </a:solidFill>
              </a:rPr>
              <a:t>(en las que se liberan niveles altos de cortisol) tienen un </a:t>
            </a:r>
            <a:r>
              <a:rPr lang="es-ES" sz="3200" b="1" dirty="0">
                <a:solidFill>
                  <a:schemeClr val="tx1"/>
                </a:solidFill>
              </a:rPr>
              <a:t>efecto nocivo sobre el aprendizaje </a:t>
            </a:r>
            <a:r>
              <a:rPr lang="es-ES" sz="3200" dirty="0">
                <a:solidFill>
                  <a:schemeClr val="tx1"/>
                </a:solidFill>
              </a:rPr>
              <a:t>y la memoria, bloqueando el proceso </a:t>
            </a:r>
            <a:r>
              <a:rPr lang="es-ES" sz="3200" dirty="0" smtClean="0">
                <a:solidFill>
                  <a:schemeClr val="tx1"/>
                </a:solidFill>
              </a:rPr>
              <a:t>cognitivo. </a:t>
            </a:r>
            <a:endParaRPr lang="es-CO" sz="32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92" y="2644595"/>
            <a:ext cx="2962275" cy="309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7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0305" y="2266681"/>
            <a:ext cx="8049296" cy="4121239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800" dirty="0">
                <a:solidFill>
                  <a:schemeClr val="tx1"/>
                </a:solidFill>
              </a:rPr>
              <a:t>si el estrés se prolonga en el tiempo, incluso </a:t>
            </a:r>
            <a:r>
              <a:rPr lang="es-ES" sz="2800" b="1" dirty="0">
                <a:solidFill>
                  <a:schemeClr val="tx1"/>
                </a:solidFill>
              </a:rPr>
              <a:t>el deterioro de las neuronas del hipocampo, estructura que resulta esencial para adquirir conocimiento </a:t>
            </a:r>
            <a:r>
              <a:rPr lang="es-ES" sz="2800" dirty="0">
                <a:solidFill>
                  <a:schemeClr val="tx1"/>
                </a:solidFill>
              </a:rPr>
              <a:t>(</a:t>
            </a:r>
            <a:r>
              <a:rPr lang="es-ES" sz="2800" dirty="0" err="1">
                <a:solidFill>
                  <a:schemeClr val="tx1"/>
                </a:solidFill>
              </a:rPr>
              <a:t>McEwen</a:t>
            </a:r>
            <a:r>
              <a:rPr lang="es-ES" sz="2800" dirty="0">
                <a:solidFill>
                  <a:schemeClr val="tx1"/>
                </a:solidFill>
              </a:rPr>
              <a:t> &amp; </a:t>
            </a:r>
            <a:r>
              <a:rPr lang="es-ES" sz="2800" dirty="0" err="1">
                <a:solidFill>
                  <a:schemeClr val="tx1"/>
                </a:solidFill>
              </a:rPr>
              <a:t>Sapolsky</a:t>
            </a:r>
            <a:r>
              <a:rPr lang="es-ES" sz="2800" dirty="0">
                <a:solidFill>
                  <a:schemeClr val="tx1"/>
                </a:solidFill>
              </a:rPr>
              <a:t>, 1995; Cohen, </a:t>
            </a:r>
            <a:r>
              <a:rPr lang="es-ES" sz="2800" dirty="0" err="1">
                <a:solidFill>
                  <a:schemeClr val="tx1"/>
                </a:solidFill>
              </a:rPr>
              <a:t>Dellarco</a:t>
            </a:r>
            <a:r>
              <a:rPr lang="es-ES" sz="2800" dirty="0">
                <a:solidFill>
                  <a:schemeClr val="tx1"/>
                </a:solidFill>
              </a:rPr>
              <a:t>, </a:t>
            </a:r>
            <a:r>
              <a:rPr lang="es-ES" sz="2800" dirty="0" err="1">
                <a:solidFill>
                  <a:schemeClr val="tx1"/>
                </a:solidFill>
              </a:rPr>
              <a:t>Breiner</a:t>
            </a:r>
            <a:r>
              <a:rPr lang="es-ES" sz="2800" dirty="0">
                <a:solidFill>
                  <a:schemeClr val="tx1"/>
                </a:solidFill>
              </a:rPr>
              <a:t>, </a:t>
            </a:r>
            <a:r>
              <a:rPr lang="es-ES" sz="2800" dirty="0" err="1">
                <a:solidFill>
                  <a:schemeClr val="tx1"/>
                </a:solidFill>
              </a:rPr>
              <a:t>Helion</a:t>
            </a:r>
            <a:r>
              <a:rPr lang="es-ES" sz="2800" dirty="0">
                <a:solidFill>
                  <a:schemeClr val="tx1"/>
                </a:solidFill>
              </a:rPr>
              <a:t>, Heller, </a:t>
            </a:r>
            <a:r>
              <a:rPr lang="es-ES" sz="2800" dirty="0" err="1">
                <a:solidFill>
                  <a:schemeClr val="tx1"/>
                </a:solidFill>
              </a:rPr>
              <a:t>Rahdar</a:t>
            </a:r>
            <a:r>
              <a:rPr lang="es-ES" sz="2800" dirty="0">
                <a:solidFill>
                  <a:schemeClr val="tx1"/>
                </a:solidFill>
              </a:rPr>
              <a:t>, </a:t>
            </a:r>
            <a:r>
              <a:rPr lang="es-ES" sz="2800" dirty="0" err="1">
                <a:solidFill>
                  <a:schemeClr val="tx1"/>
                </a:solidFill>
              </a:rPr>
              <a:t>Pedersen</a:t>
            </a:r>
            <a:r>
              <a:rPr lang="es-ES" sz="2800" dirty="0">
                <a:solidFill>
                  <a:schemeClr val="tx1"/>
                </a:solidFill>
              </a:rPr>
              <a:t>, </a:t>
            </a:r>
            <a:r>
              <a:rPr lang="es-ES" sz="2800" dirty="0" err="1">
                <a:solidFill>
                  <a:schemeClr val="tx1"/>
                </a:solidFill>
              </a:rPr>
              <a:t>Chein</a:t>
            </a:r>
            <a:r>
              <a:rPr lang="es-ES" sz="2800" dirty="0">
                <a:solidFill>
                  <a:schemeClr val="tx1"/>
                </a:solidFill>
              </a:rPr>
              <a:t>, </a:t>
            </a:r>
            <a:r>
              <a:rPr lang="es-ES" sz="2800" dirty="0" err="1">
                <a:solidFill>
                  <a:schemeClr val="tx1"/>
                </a:solidFill>
              </a:rPr>
              <a:t>Dyke</a:t>
            </a:r>
            <a:r>
              <a:rPr lang="es-ES" sz="2800" dirty="0">
                <a:solidFill>
                  <a:schemeClr val="tx1"/>
                </a:solidFill>
              </a:rPr>
              <a:t>, </a:t>
            </a:r>
            <a:r>
              <a:rPr lang="es-ES" sz="2800" dirty="0" err="1">
                <a:solidFill>
                  <a:schemeClr val="tx1"/>
                </a:solidFill>
              </a:rPr>
              <a:t>Galvan</a:t>
            </a:r>
            <a:r>
              <a:rPr lang="es-ES" sz="2800" dirty="0">
                <a:solidFill>
                  <a:schemeClr val="tx1"/>
                </a:solidFill>
              </a:rPr>
              <a:t> &amp; </a:t>
            </a:r>
            <a:r>
              <a:rPr lang="es-ES" sz="2800" dirty="0" err="1">
                <a:solidFill>
                  <a:schemeClr val="tx1"/>
                </a:solidFill>
              </a:rPr>
              <a:t>Casey</a:t>
            </a:r>
            <a:r>
              <a:rPr lang="es-ES" sz="2800" dirty="0">
                <a:solidFill>
                  <a:schemeClr val="tx1"/>
                </a:solidFill>
              </a:rPr>
              <a:t>, 2016). </a:t>
            </a:r>
            <a:endParaRPr lang="es-CO" sz="28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663" y="2266681"/>
            <a:ext cx="3275359" cy="335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0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Los estados emocionales positivos en el aprendizaje 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6768" y="2384560"/>
            <a:ext cx="11389069" cy="408063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>
                <a:solidFill>
                  <a:schemeClr val="tx1"/>
                </a:solidFill>
              </a:rPr>
              <a:t>Por el contrario, los estados emocionales positivos activan los llamados </a:t>
            </a:r>
            <a:r>
              <a:rPr lang="es-ES" sz="2400" b="1" dirty="0">
                <a:solidFill>
                  <a:schemeClr val="tx1"/>
                </a:solidFill>
              </a:rPr>
              <a:t>núcleos </a:t>
            </a:r>
            <a:r>
              <a:rPr lang="es-ES" sz="2400" b="1" dirty="0" err="1">
                <a:solidFill>
                  <a:schemeClr val="tx1"/>
                </a:solidFill>
              </a:rPr>
              <a:t>dopaminérgicos</a:t>
            </a:r>
            <a:r>
              <a:rPr lang="es-ES" sz="2400" b="1" dirty="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liberando </a:t>
            </a:r>
            <a:r>
              <a:rPr lang="es-ES" sz="2400" b="1" dirty="0">
                <a:solidFill>
                  <a:schemeClr val="tx1"/>
                </a:solidFill>
              </a:rPr>
              <a:t>dopamina </a:t>
            </a:r>
            <a:r>
              <a:rPr lang="es-ES" sz="2400" dirty="0">
                <a:solidFill>
                  <a:schemeClr val="tx1"/>
                </a:solidFill>
              </a:rPr>
              <a:t>que, a su vez, estimula, en </a:t>
            </a:r>
            <a:r>
              <a:rPr lang="es-ES" sz="2400" b="1" dirty="0">
                <a:solidFill>
                  <a:schemeClr val="tx1"/>
                </a:solidFill>
              </a:rPr>
              <a:t>los ganglios basales</a:t>
            </a:r>
            <a:r>
              <a:rPr lang="es-ES" sz="2400" dirty="0">
                <a:solidFill>
                  <a:schemeClr val="tx1"/>
                </a:solidFill>
              </a:rPr>
              <a:t>, la producción de </a:t>
            </a:r>
            <a:r>
              <a:rPr lang="es-ES" sz="2400" b="1" dirty="0" err="1">
                <a:solidFill>
                  <a:schemeClr val="tx1"/>
                </a:solidFill>
              </a:rPr>
              <a:t>neuropéptidos</a:t>
            </a:r>
            <a:r>
              <a:rPr lang="es-ES" sz="2400" dirty="0">
                <a:solidFill>
                  <a:schemeClr val="tx1"/>
                </a:solidFill>
              </a:rPr>
              <a:t> (también llamados opiáceos endógenos por generar un efecto similar al que provoca el opio). </a:t>
            </a:r>
            <a:endParaRPr lang="es-ES" sz="24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s-ES" sz="2400" dirty="0">
                <a:solidFill>
                  <a:schemeClr val="tx1"/>
                </a:solidFill>
              </a:rPr>
              <a:t>Es decir, </a:t>
            </a:r>
            <a:r>
              <a:rPr lang="es-ES" sz="2400" b="1" dirty="0">
                <a:solidFill>
                  <a:schemeClr val="tx1"/>
                </a:solidFill>
              </a:rPr>
              <a:t>parece claro que, en situaciones de bienestar emocional, aumenta la eficiencia del proceso cognitivo. </a:t>
            </a:r>
            <a:endParaRPr lang="es-CO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5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5400" b="1" dirty="0"/>
              <a:t>Aprendizaje emocional </a:t>
            </a:r>
            <a:endParaRPr lang="es-CO" sz="54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47729" y="2588654"/>
            <a:ext cx="7984901" cy="366296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3200" dirty="0">
                <a:solidFill>
                  <a:schemeClr val="tx1"/>
                </a:solidFill>
              </a:rPr>
              <a:t>Un claro ejemplo del papel que juegan las </a:t>
            </a:r>
            <a:r>
              <a:rPr lang="es-ES" sz="3200" b="1" dirty="0">
                <a:solidFill>
                  <a:schemeClr val="tx1"/>
                </a:solidFill>
              </a:rPr>
              <a:t>emociones en la adquisición de conocimiento </a:t>
            </a:r>
            <a:r>
              <a:rPr lang="es-ES" sz="3200" dirty="0">
                <a:solidFill>
                  <a:schemeClr val="tx1"/>
                </a:solidFill>
              </a:rPr>
              <a:t>lo constituye el denominado aprendizaje </a:t>
            </a:r>
            <a:r>
              <a:rPr lang="es-ES" sz="3200" dirty="0" smtClean="0">
                <a:solidFill>
                  <a:schemeClr val="tx1"/>
                </a:solidFill>
              </a:rPr>
              <a:t>emocional </a:t>
            </a:r>
            <a:endParaRPr lang="es-CO" sz="32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324" y="2948054"/>
            <a:ext cx="2948055" cy="310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4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01919" y="2333043"/>
            <a:ext cx="8761778" cy="42609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800" dirty="0">
                <a:solidFill>
                  <a:schemeClr val="tx1"/>
                </a:solidFill>
              </a:rPr>
              <a:t>en el que, a través de la </a:t>
            </a:r>
            <a:r>
              <a:rPr lang="es-ES" sz="2800" b="1" dirty="0">
                <a:solidFill>
                  <a:schemeClr val="tx1"/>
                </a:solidFill>
              </a:rPr>
              <a:t>asociación de un determinado estímulo con una emoción </a:t>
            </a:r>
            <a:r>
              <a:rPr lang="es-ES" sz="2800" dirty="0">
                <a:solidFill>
                  <a:schemeClr val="tx1"/>
                </a:solidFill>
              </a:rPr>
              <a:t>(condicionamiento), surge ese aprendizaje y, por tanto, dichos estímulos dejan de ser emocionalmente neutros para </a:t>
            </a:r>
            <a:r>
              <a:rPr lang="es-ES" sz="2800" b="1" dirty="0">
                <a:solidFill>
                  <a:schemeClr val="tx1"/>
                </a:solidFill>
              </a:rPr>
              <a:t>adquirir un valor o significado </a:t>
            </a:r>
            <a:r>
              <a:rPr lang="es-ES" sz="2800" b="1" dirty="0" smtClean="0">
                <a:solidFill>
                  <a:schemeClr val="tx1"/>
                </a:solidFill>
              </a:rPr>
              <a:t>emocional.</a:t>
            </a:r>
            <a:endParaRPr lang="es-CO" sz="28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556" y="2614412"/>
            <a:ext cx="2839187" cy="283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78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09500" y="703211"/>
            <a:ext cx="8761413" cy="706964"/>
          </a:xfrm>
        </p:spPr>
        <p:txBody>
          <a:bodyPr/>
          <a:lstStyle/>
          <a:p>
            <a:pPr algn="ctr"/>
            <a:r>
              <a:rPr lang="es-CO" dirty="0"/>
              <a:t>Autorregulación emocional y aprendizaje 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47730" y="2125014"/>
            <a:ext cx="11590985" cy="425002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800" dirty="0">
                <a:solidFill>
                  <a:schemeClr val="tx1"/>
                </a:solidFill>
              </a:rPr>
              <a:t>Por otra parte, el hecho de saber influir sobre las propias emociones, o la llamada autorregulación emocional (Thompson, 1994; Gros, 2003), es conocido que representa un componente esencial de </a:t>
            </a:r>
            <a:r>
              <a:rPr lang="es-ES" sz="2800" b="1" dirty="0">
                <a:solidFill>
                  <a:schemeClr val="tx1"/>
                </a:solidFill>
              </a:rPr>
              <a:t>la competencia </a:t>
            </a:r>
            <a:r>
              <a:rPr lang="es-ES" sz="2800" b="1" dirty="0" smtClean="0">
                <a:solidFill>
                  <a:schemeClr val="tx1"/>
                </a:solidFill>
              </a:rPr>
              <a:t>necesaria </a:t>
            </a:r>
            <a:r>
              <a:rPr lang="es-ES" sz="2800" b="1" dirty="0">
                <a:solidFill>
                  <a:schemeClr val="tx1"/>
                </a:solidFill>
              </a:rPr>
              <a:t>para una interacción exitosa con otros en situaciones de estrés</a:t>
            </a:r>
            <a:r>
              <a:rPr lang="es-ES" sz="2800" dirty="0">
                <a:solidFill>
                  <a:schemeClr val="tx1"/>
                </a:solidFill>
              </a:rPr>
              <a:t>, pero lo interesante, es que también se ha mostrado como una habilidad clave para favorecer un aprendizaje eficaz. </a:t>
            </a:r>
            <a:endParaRPr lang="es-CO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96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47730" y="2318197"/>
            <a:ext cx="7959144" cy="379175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3200" dirty="0">
                <a:solidFill>
                  <a:schemeClr val="tx1"/>
                </a:solidFill>
              </a:rPr>
              <a:t>En primer lugar, porque las </a:t>
            </a:r>
            <a:r>
              <a:rPr lang="es-ES" sz="3200" b="1" dirty="0">
                <a:solidFill>
                  <a:schemeClr val="tx1"/>
                </a:solidFill>
              </a:rPr>
              <a:t>emociones pueden actuar sobre los procesos psicológicos </a:t>
            </a:r>
            <a:r>
              <a:rPr lang="es-ES" sz="3200" dirty="0">
                <a:solidFill>
                  <a:schemeClr val="tx1"/>
                </a:solidFill>
              </a:rPr>
              <a:t>responsables de focalizar la atención o de resolver problemas (Cole, Martin &amp; Dennis, 2004) </a:t>
            </a:r>
            <a:endParaRPr lang="es-ES" sz="32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s-CO" sz="32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652" y="2318197"/>
            <a:ext cx="360904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8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2373" y="2307285"/>
            <a:ext cx="8117835" cy="381017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800" dirty="0">
                <a:solidFill>
                  <a:schemeClr val="tx1"/>
                </a:solidFill>
              </a:rPr>
              <a:t>pero, además, porque la capacidad de autocontrol de los propios impulsos en niños ─con el fin de postergar una gratificación─ ha </a:t>
            </a:r>
            <a:r>
              <a:rPr lang="es-ES" sz="2800" b="1" dirty="0">
                <a:solidFill>
                  <a:schemeClr val="tx1"/>
                </a:solidFill>
              </a:rPr>
              <a:t>resultado ser un poderoso indicativo de un exitoso rendimiento académico ulterior </a:t>
            </a:r>
            <a:r>
              <a:rPr lang="es-ES" sz="2800" dirty="0">
                <a:solidFill>
                  <a:schemeClr val="tx1"/>
                </a:solidFill>
              </a:rPr>
              <a:t>(</a:t>
            </a:r>
            <a:r>
              <a:rPr lang="es-ES" sz="2800" dirty="0" err="1">
                <a:solidFill>
                  <a:schemeClr val="tx1"/>
                </a:solidFill>
              </a:rPr>
              <a:t>Carlton</a:t>
            </a:r>
            <a:r>
              <a:rPr lang="es-ES" sz="2800" dirty="0">
                <a:solidFill>
                  <a:schemeClr val="tx1"/>
                </a:solidFill>
              </a:rPr>
              <a:t> &amp; </a:t>
            </a:r>
            <a:r>
              <a:rPr lang="es-ES" sz="2800" dirty="0" err="1">
                <a:solidFill>
                  <a:schemeClr val="tx1"/>
                </a:solidFill>
              </a:rPr>
              <a:t>Winsler</a:t>
            </a:r>
            <a:r>
              <a:rPr lang="es-ES" sz="2800" dirty="0">
                <a:solidFill>
                  <a:schemeClr val="tx1"/>
                </a:solidFill>
              </a:rPr>
              <a:t>, 1999 </a:t>
            </a:r>
            <a:endParaRPr lang="es-CO" sz="28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1551" y="2307284"/>
            <a:ext cx="3111255" cy="342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2221" y="2474711"/>
            <a:ext cx="11376190" cy="34163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3600" dirty="0">
                <a:solidFill>
                  <a:schemeClr val="tx1"/>
                </a:solidFill>
              </a:rPr>
              <a:t>Esta autorregulación emocional, entendida en su vertiente de </a:t>
            </a:r>
            <a:r>
              <a:rPr lang="es-ES" sz="3600" b="1" dirty="0" smtClean="0">
                <a:solidFill>
                  <a:schemeClr val="tx1"/>
                </a:solidFill>
              </a:rPr>
              <a:t>aptitud para motivarse a uno mismo</a:t>
            </a:r>
            <a:r>
              <a:rPr lang="es-ES" sz="3600" dirty="0" smtClean="0">
                <a:solidFill>
                  <a:schemeClr val="tx1"/>
                </a:solidFill>
              </a:rPr>
              <a:t>, </a:t>
            </a:r>
            <a:r>
              <a:rPr lang="es-ES" sz="3600" dirty="0">
                <a:solidFill>
                  <a:schemeClr val="tx1"/>
                </a:solidFill>
              </a:rPr>
              <a:t>sería una de las dimensiones que abarcaría la denominada </a:t>
            </a:r>
            <a:r>
              <a:rPr lang="es-ES" sz="3600" b="1" dirty="0">
                <a:solidFill>
                  <a:schemeClr val="tx1"/>
                </a:solidFill>
              </a:rPr>
              <a:t>inteligencia emocional </a:t>
            </a:r>
            <a:r>
              <a:rPr lang="es-ES" sz="3600" dirty="0">
                <a:solidFill>
                  <a:schemeClr val="tx1"/>
                </a:solidFill>
              </a:rPr>
              <a:t>(Salovey &amp; Mayer, 1990), </a:t>
            </a:r>
            <a:endParaRPr lang="es-CO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24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20859" y="2333043"/>
            <a:ext cx="8426928" cy="432533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800" dirty="0">
                <a:solidFill>
                  <a:schemeClr val="tx1"/>
                </a:solidFill>
              </a:rPr>
              <a:t>que se define como la capacidad de </a:t>
            </a:r>
            <a:r>
              <a:rPr lang="es-ES" sz="2800" b="1" dirty="0">
                <a:solidFill>
                  <a:schemeClr val="tx1"/>
                </a:solidFill>
              </a:rPr>
              <a:t>identificar, entender y manejar las emociones </a:t>
            </a:r>
            <a:r>
              <a:rPr lang="es-ES" sz="2800" dirty="0">
                <a:solidFill>
                  <a:schemeClr val="tx1"/>
                </a:solidFill>
              </a:rPr>
              <a:t>correctamente en pos de facilitar las relaciones con los demás (empatía), la consecución de metas y objetivos, el manejo del estrés o la superación de obstáculos. </a:t>
            </a:r>
            <a:endParaRPr lang="es-CO" sz="28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025" y="2611795"/>
            <a:ext cx="2705100" cy="296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4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20858" y="2423196"/>
            <a:ext cx="8825659" cy="34163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3200" dirty="0">
                <a:solidFill>
                  <a:schemeClr val="tx1"/>
                </a:solidFill>
              </a:rPr>
              <a:t>Se ha demostrado que el desarrollo de este tipo de inteligencia o competencia </a:t>
            </a:r>
            <a:r>
              <a:rPr lang="es-ES" sz="3200" b="1" dirty="0">
                <a:solidFill>
                  <a:schemeClr val="tx1"/>
                </a:solidFill>
              </a:rPr>
              <a:t>aumenta la capacidad de aprendizaje del cerebro e incide muy positivamente en el rendimiento académico (</a:t>
            </a:r>
            <a:r>
              <a:rPr lang="es-ES" sz="3200" dirty="0">
                <a:solidFill>
                  <a:schemeClr val="tx1"/>
                </a:solidFill>
              </a:rPr>
              <a:t>Goleman, 1996). </a:t>
            </a:r>
            <a:endParaRPr lang="es-CO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64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9951" y="947911"/>
            <a:ext cx="10436032" cy="706964"/>
          </a:xfrm>
        </p:spPr>
        <p:txBody>
          <a:bodyPr/>
          <a:lstStyle/>
          <a:p>
            <a:pPr algn="ctr"/>
            <a:r>
              <a:rPr lang="es-ES" b="1" dirty="0"/>
              <a:t>Propuestas para mejorar la motivación de los estudiantes 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7882" y="2459865"/>
            <a:ext cx="9826580" cy="427578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1. </a:t>
            </a:r>
            <a:r>
              <a:rPr lang="es-ES" i="1" dirty="0">
                <a:solidFill>
                  <a:schemeClr val="tx1"/>
                </a:solidFill>
              </a:rPr>
              <a:t>Aproveche la expectación del primer día de clase. </a:t>
            </a:r>
            <a:endParaRPr lang="es-ES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CO" dirty="0" smtClean="0">
                <a:solidFill>
                  <a:schemeClr val="tx1"/>
                </a:solidFill>
              </a:rPr>
              <a:t>2</a:t>
            </a:r>
            <a:r>
              <a:rPr lang="es-CO" dirty="0">
                <a:solidFill>
                  <a:schemeClr val="tx1"/>
                </a:solidFill>
              </a:rPr>
              <a:t>. </a:t>
            </a:r>
            <a:r>
              <a:rPr lang="es-CO" i="1" dirty="0">
                <a:solidFill>
                  <a:schemeClr val="tx1"/>
                </a:solidFill>
              </a:rPr>
              <a:t>Entusiásmese. </a:t>
            </a:r>
            <a:endParaRPr lang="es-CO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3. </a:t>
            </a:r>
            <a:r>
              <a:rPr lang="es-ES" i="1" dirty="0">
                <a:solidFill>
                  <a:schemeClr val="tx1"/>
                </a:solidFill>
              </a:rPr>
              <a:t>Varíe constantemente su metodología de enseñanza </a:t>
            </a:r>
            <a:endParaRPr lang="es-ES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4. </a:t>
            </a:r>
            <a:r>
              <a:rPr lang="es-ES" i="1" dirty="0">
                <a:solidFill>
                  <a:schemeClr val="tx1"/>
                </a:solidFill>
              </a:rPr>
              <a:t>Estimule la participación activa de los alumnos. </a:t>
            </a:r>
            <a:endParaRPr lang="es-ES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5. </a:t>
            </a:r>
            <a:r>
              <a:rPr lang="es-ES" i="1" dirty="0">
                <a:solidFill>
                  <a:schemeClr val="tx1"/>
                </a:solidFill>
              </a:rPr>
              <a:t>Propicie que el estudiante descubra por sí mismo el conocimiento. </a:t>
            </a:r>
            <a:endParaRPr lang="es-ES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CO" dirty="0">
                <a:solidFill>
                  <a:schemeClr val="tx1"/>
                </a:solidFill>
              </a:rPr>
              <a:t>6. </a:t>
            </a:r>
            <a:r>
              <a:rPr lang="es-CO" i="1" dirty="0">
                <a:solidFill>
                  <a:schemeClr val="tx1"/>
                </a:solidFill>
              </a:rPr>
              <a:t>Utilice el humor. </a:t>
            </a:r>
            <a:endParaRPr lang="es-CO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7. </a:t>
            </a:r>
            <a:r>
              <a:rPr lang="es-ES" i="1" dirty="0">
                <a:solidFill>
                  <a:schemeClr val="tx1"/>
                </a:solidFill>
              </a:rPr>
              <a:t>Realice experimentos o ejemplos prácticos que ilustren la teoría impartida. </a:t>
            </a:r>
            <a:endParaRPr lang="es-ES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8. </a:t>
            </a:r>
            <a:r>
              <a:rPr lang="es-ES" i="1" dirty="0">
                <a:solidFill>
                  <a:schemeClr val="tx1"/>
                </a:solidFill>
              </a:rPr>
              <a:t>Enriquezca sus clases con todo tipo de recursos. </a:t>
            </a:r>
            <a:endParaRPr lang="es-ES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dirty="0">
                <a:solidFill>
                  <a:schemeClr val="tx1"/>
                </a:solidFill>
              </a:rPr>
              <a:t>9. </a:t>
            </a:r>
            <a:r>
              <a:rPr lang="es-ES" i="1" dirty="0">
                <a:solidFill>
                  <a:schemeClr val="tx1"/>
                </a:solidFill>
              </a:rPr>
              <a:t>Utilice siempre el refuerzo positivo. 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271" y="2215166"/>
            <a:ext cx="3203018" cy="274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3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9246" y="2343955"/>
            <a:ext cx="9581368" cy="367584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000" dirty="0">
                <a:solidFill>
                  <a:schemeClr val="tx1"/>
                </a:solidFill>
              </a:rPr>
              <a:t>10. </a:t>
            </a:r>
            <a:r>
              <a:rPr lang="es-ES" sz="2000" i="1" dirty="0">
                <a:solidFill>
                  <a:schemeClr val="tx1"/>
                </a:solidFill>
              </a:rPr>
              <a:t>Desarrolle actividades fuera del aula </a:t>
            </a:r>
            <a:endParaRPr lang="es-ES" sz="2000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sz="2000" dirty="0">
                <a:solidFill>
                  <a:schemeClr val="tx1"/>
                </a:solidFill>
              </a:rPr>
              <a:t>11. </a:t>
            </a:r>
            <a:r>
              <a:rPr lang="es-ES" sz="2000" i="1" dirty="0">
                <a:solidFill>
                  <a:schemeClr val="tx1"/>
                </a:solidFill>
              </a:rPr>
              <a:t>Termine las clases con interrogantes que estimulen la curiosidad. </a:t>
            </a:r>
            <a:endParaRPr lang="es-ES" sz="2000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CO" sz="2000" dirty="0">
                <a:solidFill>
                  <a:schemeClr val="tx1"/>
                </a:solidFill>
              </a:rPr>
              <a:t>12. </a:t>
            </a:r>
            <a:r>
              <a:rPr lang="es-CO" sz="2000" i="1" dirty="0">
                <a:solidFill>
                  <a:schemeClr val="tx1"/>
                </a:solidFill>
              </a:rPr>
              <a:t>Organice charlas o conferencias por parte de personal externo </a:t>
            </a:r>
            <a:endParaRPr lang="es-CO" sz="2000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sz="2000" dirty="0">
                <a:solidFill>
                  <a:schemeClr val="tx1"/>
                </a:solidFill>
              </a:rPr>
              <a:t>13. </a:t>
            </a:r>
            <a:r>
              <a:rPr lang="es-ES" sz="2000" i="1" dirty="0">
                <a:solidFill>
                  <a:schemeClr val="tx1"/>
                </a:solidFill>
              </a:rPr>
              <a:t>Esté siempre dispuesto a evolucionar como profesor. </a:t>
            </a:r>
            <a:endParaRPr lang="es-ES" sz="2000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sz="2000" dirty="0">
                <a:solidFill>
                  <a:schemeClr val="tx1"/>
                </a:solidFill>
              </a:rPr>
              <a:t>14. </a:t>
            </a:r>
            <a:r>
              <a:rPr lang="es-ES" sz="2000" i="1" dirty="0">
                <a:solidFill>
                  <a:schemeClr val="tx1"/>
                </a:solidFill>
              </a:rPr>
              <a:t>Guíe a sus alumnos hacia la búsqueda de su propia motivación intrínseca. </a:t>
            </a:r>
            <a:endParaRPr lang="es-ES" sz="2000" i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CO" sz="2000" dirty="0">
                <a:solidFill>
                  <a:schemeClr val="tx1"/>
                </a:solidFill>
              </a:rPr>
              <a:t>15. </a:t>
            </a:r>
            <a:r>
              <a:rPr lang="es-CO" sz="2000" i="1" dirty="0">
                <a:solidFill>
                  <a:schemeClr val="tx1"/>
                </a:solidFill>
              </a:rPr>
              <a:t>¡Sonría! </a:t>
            </a:r>
            <a:endParaRPr lang="es-CO" sz="2000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071" y="2618167"/>
            <a:ext cx="2829596" cy="282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1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O" sz="6600" b="1" dirty="0" smtClean="0">
                <a:solidFill>
                  <a:schemeClr val="tx1"/>
                </a:solidFill>
              </a:rPr>
              <a:t>Gracias!</a:t>
            </a:r>
            <a:endParaRPr lang="es-CO" sz="6600" b="1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226" y="3747752"/>
            <a:ext cx="4804616" cy="191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3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95</TotalTime>
  <Words>1194</Words>
  <Application>Microsoft Office PowerPoint</Application>
  <PresentationFormat>Panorámica</PresentationFormat>
  <Paragraphs>53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Century Gothic</vt:lpstr>
      <vt:lpstr>Wingdings 3</vt:lpstr>
      <vt:lpstr>Sala de reuniones Ion</vt:lpstr>
      <vt:lpstr>Emociones y aprendizaje</vt:lpstr>
      <vt:lpstr>Introducción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Los estados emocionales negativos en el aprendizaje </vt:lpstr>
      <vt:lpstr>Presentación de PowerPoint</vt:lpstr>
      <vt:lpstr>Presentación de PowerPoint</vt:lpstr>
      <vt:lpstr>Presentación de PowerPoint</vt:lpstr>
      <vt:lpstr>Los estados emocionales positivos en el aprendizaje </vt:lpstr>
      <vt:lpstr>Aprendizaje emocional </vt:lpstr>
      <vt:lpstr>Presentación de PowerPoint</vt:lpstr>
      <vt:lpstr>Autorregulación emocional y aprendizaje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Propuestas para mejorar la motivación de los estudiantes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Emociones y aprendizaje</dc:title>
  <dc:creator>Cuenta Microsoft</dc:creator>
  <cp:lastModifiedBy>Cuenta Microsoft</cp:lastModifiedBy>
  <cp:revision>5</cp:revision>
  <dcterms:created xsi:type="dcterms:W3CDTF">2023-05-18T23:09:22Z</dcterms:created>
  <dcterms:modified xsi:type="dcterms:W3CDTF">2023-05-19T00:44:40Z</dcterms:modified>
</cp:coreProperties>
</file>