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8" r:id="rId5"/>
    <p:sldId id="300" r:id="rId6"/>
    <p:sldId id="265" r:id="rId7"/>
    <p:sldId id="277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292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287" r:id="rId28"/>
    <p:sldId id="319" r:id="rId29"/>
    <p:sldId id="320" r:id="rId30"/>
    <p:sldId id="299" r:id="rId31"/>
  </p:sldIdLst>
  <p:sldSz cx="12192000" cy="6858000"/>
  <p:notesSz cx="6858000" cy="9144000"/>
  <p:embeddedFontLst>
    <p:embeddedFont>
      <p:font typeface="Avenir Next LT Pro" panose="020B0504020202020204" pitchFamily="34" charset="0"/>
      <p:regular r:id="rId34"/>
      <p:bold r:id="rId35"/>
      <p:italic r:id="rId36"/>
      <p:boldItalic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Speak Pro" panose="020B0504020101020102" pitchFamily="34" charset="0"/>
      <p:regular r:id="rId42"/>
      <p:bold r:id="rId43"/>
      <p:italic r:id="rId44"/>
      <p:boldItalic r:id="rId45"/>
    </p:embeddedFont>
  </p:embeddedFontLst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49" autoAdjust="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outlineViewPr>
    <p:cViewPr>
      <p:scale>
        <a:sx n="33" d="100"/>
        <a:sy n="33" d="100"/>
      </p:scale>
      <p:origin x="0" y="-335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884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44FA9168-1AA0-4330-93C8-8A2BC786D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5761D6-F269-4E92-99D5-40AC843D86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43EC2C4-DC98-4C6F-9839-1171F9032859}" type="datetime1">
              <a:rPr lang="es-ES" smtClean="0"/>
              <a:t>22/09/2022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2D8426-202C-4385-BEF1-8D0C15BC74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DCF91F5F-CE2D-4C59-9BE8-D5C9660BC8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82E420-31C0-4FAB-9C47-370244A3A0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53939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EF7EA21-051C-417D-8277-1480AAF3683F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FBDF500-FE05-4D50-AB42-37EDEB80A66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349205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5701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3173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9532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914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1695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66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25A1ED5E-125E-4828-9BC6-A73A2C8B88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318288"/>
            <a:ext cx="8807116" cy="2387600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PRESENTACIÓN</a:t>
            </a:r>
            <a:br>
              <a:rPr lang="es-ES" noProof="0"/>
            </a:br>
            <a:r>
              <a:rPr lang="es-ES" noProof="0"/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3052756"/>
            <a:ext cx="9144000" cy="1397991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</a:t>
            </a:r>
            <a:br>
              <a:rPr lang="es-ES" noProof="0"/>
            </a:br>
            <a:r>
              <a:rPr lang="es-ES" noProof="0"/>
              <a:t>Dolor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B6C3AA-F712-469B-88F9-471FD6E0D58A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0"/>
            <a:ext cx="144000" cy="24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289770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172200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396630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2678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522758"/>
            <a:ext cx="8807116" cy="2387600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PRESENTACIÓN</a:t>
            </a:r>
            <a:br>
              <a:rPr lang="es-ES" noProof="0"/>
            </a:br>
            <a:r>
              <a:rPr lang="es-ES" noProof="0"/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257226"/>
            <a:ext cx="9144000" cy="1397991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</a:t>
            </a:r>
            <a:br>
              <a:rPr lang="es-ES" noProof="0"/>
            </a:br>
            <a:r>
              <a:rPr lang="es-ES" noProof="0"/>
              <a:t>Dolor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675EC3-B29B-402B-A789-7A4B913FF80C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3438000"/>
            <a:ext cx="144000" cy="34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10217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1015979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6874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00582"/>
            <a:ext cx="8807116" cy="915873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949257"/>
            <a:ext cx="9144000" cy="601840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 Dolor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0BD848-58A6-41CF-A43E-751F04850A28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878000"/>
            <a:ext cx="144000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79420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F632EEF-732A-4DE7-BC5A-A86C31DB6F5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C54CE062-7CDB-4AB7-B86E-461B22E7F4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1013969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01244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413986"/>
            <a:ext cx="7107331" cy="1838643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4599498"/>
            <a:ext cx="7107331" cy="966857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</a:t>
            </a:r>
            <a:br>
              <a:rPr lang="es-ES" noProof="0"/>
            </a:br>
            <a:r>
              <a:rPr lang="es-ES" noProof="0"/>
              <a:t>Dolor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D23BFC-B81B-4DB0-9FA7-6B009EDA93B3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2740862"/>
            <a:ext cx="144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444445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6E88EDA-C5A5-4C22-8CE4-5C7FDCF2E85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77074" y="5622756"/>
            <a:ext cx="0" cy="98422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1B98974C-AC7A-4E66-AE1A-DBA5F1A1D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532986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62517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-1"/>
            <a:ext cx="12192000" cy="446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85756"/>
            <a:ext cx="8807116" cy="915873"/>
          </a:xfrm>
        </p:spPr>
        <p:txBody>
          <a:bodyPr rtlCol="0" anchor="b">
            <a:normAutofit/>
          </a:bodyPr>
          <a:lstStyle>
            <a:lvl1pPr algn="l">
              <a:defRPr sz="5500" b="1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6050473"/>
            <a:ext cx="9144000" cy="601840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 Dolor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D9044C-C266-46F6-BBC8-959B79DC58EB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950000"/>
            <a:ext cx="144000" cy="19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882423"/>
            <a:ext cx="93044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820400" y="870003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1005185"/>
            <a:ext cx="1460500" cy="481013"/>
          </a:xfrm>
        </p:spPr>
        <p:txBody>
          <a:bodyPr rtlCol="0"/>
          <a:lstStyle>
            <a:lvl1pPr marL="0" indent="0" algn="l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8615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1" y="458919"/>
            <a:ext cx="9971159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DIAPOSITIVA DE 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1" y="3775165"/>
            <a:ext cx="9971158" cy="2427923"/>
          </a:xfrm>
        </p:spPr>
        <p:txBody>
          <a:bodyPr rtlCol="0">
            <a:normAutofit/>
          </a:bodyPr>
          <a:lstStyle>
            <a:lvl1pPr marL="0" indent="0"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26308C-D72B-44ED-B851-7C27082C4B16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687289" y="0"/>
            <a:ext cx="72000" cy="1271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068863" y="1528464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ítulo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29641" y="1669110"/>
            <a:ext cx="9971158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Subtítulo de diapositiva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810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1" y="458919"/>
            <a:ext cx="9971159" cy="1325563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DIAPOSITIVA DE 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1" y="3133484"/>
            <a:ext cx="10515600" cy="242792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5F183A-E288-4F10-BE34-3254C4B31A04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687289" y="0"/>
            <a:ext cx="72000" cy="1271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068863" y="1528464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ítulo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29641" y="1669110"/>
            <a:ext cx="9971158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Subtítulo de diapositiva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33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1CF94AF4-4F78-4DA5-8571-FD66FFA6313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21" y="546844"/>
            <a:ext cx="8997738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DIAPOSITIVA DE 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520" y="3581731"/>
            <a:ext cx="8997737" cy="223046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0B1C3-B417-4ACE-9167-916EFB81DC17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400" y="6159402"/>
            <a:ext cx="2788169" cy="365125"/>
          </a:xfrm>
        </p:spPr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8" y="244717"/>
            <a:ext cx="72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2" y="161638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ítulo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20" y="1757035"/>
            <a:ext cx="8997737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Subtítulo de diapositiva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0938200" y="1341281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1016" y="1377655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80265F1-E793-484F-ADC9-31450ADF8B0E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99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8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443655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CONTENIDO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409" y="2588054"/>
            <a:ext cx="5228216" cy="3122935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6136C0-528A-4C74-BAEC-082EFAF86D51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684524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288248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ítulo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023127"/>
            <a:ext cx="4143555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Subtítulo de diapositiva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700327"/>
            <a:ext cx="4143555" cy="1536580"/>
          </a:xfrm>
        </p:spPr>
        <p:txBody>
          <a:bodyPr rtlCol="0"/>
          <a:lstStyle>
            <a:lvl1pPr>
              <a:defRPr>
                <a:gradFill flip="none" rotWithShape="1"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pPr rtl="0"/>
            <a:r>
              <a:rPr lang="es-ES" noProof="0"/>
              <a:t>CONTENIDO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4145" y="2138878"/>
            <a:ext cx="4361941" cy="3122935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032E97-E999-4C73-B14D-FD6E9ACC93FE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941196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313915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ítulo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279799"/>
            <a:ext cx="4143555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Subtítulo de diapositiva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05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C2864D1B-05AA-49BC-BA1A-52FAC02DA9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2316701"/>
            <a:ext cx="10515600" cy="1500187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SECCIÓN</a:t>
            </a:r>
            <a:br>
              <a:rPr lang="es-ES" noProof="0"/>
            </a:br>
            <a:r>
              <a:rPr lang="es-ES" noProof="0"/>
              <a:t>DIAPOSITIVA DIVISORIA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4083026"/>
            <a:ext cx="10515600" cy="77032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Subtítulo de la sección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BF86AC-8A79-475E-ABE0-17755B72E446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900A71E-3FCF-4E9F-9CE1-57411851763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687289" y="0"/>
            <a:ext cx="72000" cy="36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068863" y="3940727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654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C2864D1B-05AA-49BC-BA1A-52FAC02DA9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2781919"/>
            <a:ext cx="10515600" cy="1500187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SECCIÓN</a:t>
            </a:r>
            <a:br>
              <a:rPr lang="es-ES" noProof="0"/>
            </a:br>
            <a:r>
              <a:rPr lang="es-ES" noProof="0"/>
              <a:t>DIAPOSITIVA DIVISORIA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4548244"/>
            <a:ext cx="10515600" cy="77032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Subtítulo de la sección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1FC588-50A1-4599-8C29-F8BB1D4DEFD9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8800" y="6159402"/>
            <a:ext cx="2919886" cy="365125"/>
          </a:xfrm>
        </p:spPr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687289" y="3186000"/>
            <a:ext cx="72000" cy="36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068863" y="4405945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956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8820" y="4537309"/>
            <a:ext cx="9384760" cy="915873"/>
          </a:xfrm>
        </p:spPr>
        <p:txBody>
          <a:bodyPr rtlCol="0" anchor="b">
            <a:normAutofit/>
          </a:bodyPr>
          <a:lstStyle>
            <a:lvl1pPr>
              <a:defRPr sz="400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DIAPOSITIVA DE DIVISIÓN DE SECCIÓN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ABAA4CC-3D2B-49F9-B077-001CA4738B89}"/>
              </a:ext>
            </a:extLst>
          </p:cNvPr>
          <p:cNvSpPr/>
          <p:nvPr userDrawn="1"/>
        </p:nvSpPr>
        <p:spPr>
          <a:xfrm>
            <a:off x="0" y="0"/>
            <a:ext cx="12192000" cy="4446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1805A5-C669-4146-AC86-B3E9B274D7CE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8819" y="6159402"/>
            <a:ext cx="2616158" cy="384202"/>
          </a:xfrm>
        </p:spPr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fld id="{95CBEC59-7FF9-4688-98DF-89832A0C902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2523DB2-F162-4E92-B6E1-B5E87D5D8ACF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316CC9B7-E806-4C95-96A5-EEEEBB4E99A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98820" y="5702936"/>
            <a:ext cx="9384760" cy="526936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Subtítulo de la sección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95F7760-B839-4F89-B618-3371C8B08414}"/>
              </a:ext>
            </a:extLst>
          </p:cNvPr>
          <p:cNvCxnSpPr/>
          <p:nvPr userDrawn="1"/>
        </p:nvCxnSpPr>
        <p:spPr>
          <a:xfrm>
            <a:off x="1838883" y="5560637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20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B37245BE-F984-498B-9CBB-C4DDD775060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20" y="2316701"/>
            <a:ext cx="9556063" cy="1500187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SECCIÓN</a:t>
            </a:r>
            <a:br>
              <a:rPr lang="es-ES" noProof="0"/>
            </a:br>
            <a:r>
              <a:rPr lang="es-ES" noProof="0"/>
              <a:t>DIAPOSITIVA DIVISORIA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27520" y="4083026"/>
            <a:ext cx="9556064" cy="77032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Subtítulo de la sección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B08A6-2ED5-484D-9908-50EB0EB5D87D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1285167" y="255684"/>
            <a:ext cx="72000" cy="341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666742" y="3940727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A8760C4-08C1-4929-A6AE-568F6788388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69AE345-7CB6-4F86-99E6-C8B881714A2B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99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40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443655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SECCIÓN</a:t>
            </a:r>
            <a:br>
              <a:rPr lang="es-ES" noProof="0"/>
            </a:br>
            <a:r>
              <a:rPr lang="es-ES" noProof="0"/>
              <a:t>DIAPOSITIVA DIVISORIA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E82708-1200-4994-BC22-E198B8665A47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684524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288248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ítulo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023127"/>
            <a:ext cx="4143555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Subtítulo de diapositiva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990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700327"/>
            <a:ext cx="4143555" cy="1536580"/>
          </a:xfrm>
        </p:spPr>
        <p:txBody>
          <a:bodyPr rtlCol="0"/>
          <a:lstStyle>
            <a:lvl1pPr>
              <a:defRPr>
                <a:gradFill flip="none" rotWithShape="1"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pPr rtl="0"/>
            <a:r>
              <a:rPr lang="es-ES" noProof="0"/>
              <a:t>SECCIÓN</a:t>
            </a:r>
            <a:br>
              <a:rPr lang="es-ES" noProof="0"/>
            </a:br>
            <a:r>
              <a:rPr lang="es-ES" noProof="0"/>
              <a:t>DIAPOSITIVA DIVISORIA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1DFF56-2298-432F-9692-8F697EEF464B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941196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313915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ítulo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279799"/>
            <a:ext cx="4143555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Subtítulo de diapositiva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929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77A75830-97F6-4D74-A47F-8CD50EFD37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DOS CONTENIDOS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27200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BD9244-253B-4F61-9F15-81C783E03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386142"/>
            <a:ext cx="5157787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744" y="2272009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F1CFDA-2DF0-4BA4-908C-541CE65DB6F1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9" y="0"/>
            <a:ext cx="7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50FF488-85D0-4162-BF82-7F9DAA427094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726B73F3-1DAC-413E-B204-D9A6E14725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78574EA-1B80-4D53-A1C5-929097CBD6A1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2DDB37A-C70A-4701-A519-6A882408133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contenido 3">
            <a:extLst>
              <a:ext uri="{FF2B5EF4-FFF2-40B4-BE49-F238E27FC236}">
                <a16:creationId xmlns:a16="http://schemas.microsoft.com/office/drawing/2014/main" id="{ED988384-E3A4-482D-94EF-A8F8894AA50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10145" y="3386142"/>
            <a:ext cx="5157787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10590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0A30FC14-A5B3-4B00-8DE8-B6E28CF32743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DOS CONTENIDOS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27200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5BBD9244-253B-4F61-9F15-81C783E03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386142"/>
            <a:ext cx="5157787" cy="2015247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744" y="2272009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1D9DAC08-B52B-4DCC-9D22-E4E54E711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4744" y="3386142"/>
            <a:ext cx="5183188" cy="2015247"/>
          </a:xfrm>
        </p:spPr>
        <p:txBody>
          <a:bodyPr rtlCol="0">
            <a:normAutofit/>
          </a:bodyPr>
          <a:lstStyle>
            <a:lvl1pPr marL="18000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820E21-F680-4193-8765-FC9361BA553F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9" y="0"/>
            <a:ext cx="72000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50FF488-85D0-4162-BF82-7F9DAA427094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726B73F3-1DAC-413E-B204-D9A6E14725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78574EA-1B80-4D53-A1C5-929097CBD6A1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2DDB37A-C70A-4701-A519-6A882408133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277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CBBFDD45-3FE7-46CA-9142-8DBABF181C24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DOS CONTENIDOS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27200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744" y="2272009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97E468-350A-41FF-89DD-A92CA8FDCE0A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8" y="255684"/>
            <a:ext cx="72000" cy="1573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28791ED-1F60-48B9-B73C-7835714E670D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15">
            <a:extLst>
              <a:ext uri="{FF2B5EF4-FFF2-40B4-BE49-F238E27FC236}">
                <a16:creationId xmlns:a16="http://schemas.microsoft.com/office/drawing/2014/main" id="{F968FAF7-548C-4383-BE8C-5A194EC21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BEDEE03-9903-44CE-8EB8-22B19F5E8DD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FE8DF3E-FD5B-4215-B847-DFFB761C21A4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239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arcador de contenido 3">
            <a:extLst>
              <a:ext uri="{FF2B5EF4-FFF2-40B4-BE49-F238E27FC236}">
                <a16:creationId xmlns:a16="http://schemas.microsoft.com/office/drawing/2014/main" id="{C2B73E5D-AD65-4FEE-89DE-2E2643A34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386142"/>
            <a:ext cx="5157787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contenido 3">
            <a:extLst>
              <a:ext uri="{FF2B5EF4-FFF2-40B4-BE49-F238E27FC236}">
                <a16:creationId xmlns:a16="http://schemas.microsoft.com/office/drawing/2014/main" id="{E10D0906-57D4-410E-823B-3BAD416949E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10145" y="3386142"/>
            <a:ext cx="5157787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29739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8" y="2272009"/>
            <a:ext cx="4759643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DOS CONTENIDOS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E081AA-CB4A-46C9-B320-DE72C5FEFF92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texto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2272009"/>
            <a:ext cx="4783083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contenido 3">
            <a:extLst>
              <a:ext uri="{FF2B5EF4-FFF2-40B4-BE49-F238E27FC236}">
                <a16:creationId xmlns:a16="http://schemas.microsoft.com/office/drawing/2014/main" id="{757A12BA-9C40-44B2-BB42-FE7A1F89A09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27519" y="3386142"/>
            <a:ext cx="4783074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16A390F6-1520-488F-97A9-78F0B211900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911271" y="3386142"/>
            <a:ext cx="4783075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902670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9" y="2272009"/>
            <a:ext cx="4540672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DOS CONTENIDOS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A893E0-4834-40AD-BE5E-EC948875A269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texto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2272009"/>
            <a:ext cx="4783083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arcador de contenido 3">
            <a:extLst>
              <a:ext uri="{FF2B5EF4-FFF2-40B4-BE49-F238E27FC236}">
                <a16:creationId xmlns:a16="http://schemas.microsoft.com/office/drawing/2014/main" id="{80E9747C-D5E4-4606-9D3D-103BF578726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527519" y="3386142"/>
            <a:ext cx="4559068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9" name="Marcador de posición de contenido 3">
            <a:extLst>
              <a:ext uri="{FF2B5EF4-FFF2-40B4-BE49-F238E27FC236}">
                <a16:creationId xmlns:a16="http://schemas.microsoft.com/office/drawing/2014/main" id="{C45F91F2-CC9B-43AA-A5DF-A0BCEB342754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11271" y="3386142"/>
            <a:ext cx="4783069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11792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77FDF157-A493-4A5F-9B08-356A30F203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DIAPOSITIVA DE IMAGEN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F391F5-C1A6-4748-A5AC-7895ACD5B207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891E214-8AE6-4CA6-B994-7A8BDD0B394C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C95F487E-1B8C-4FBA-95B3-043C11DA1E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B912DCD-5EAD-419F-BF95-02B45172EDB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59525"/>
            <a:ext cx="12192000" cy="4517136"/>
          </a:xfrm>
          <a:solidFill>
            <a:schemeClr val="bg1">
              <a:alpha val="5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043271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y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D0DB8CD8-F2C6-48F5-8A73-E5FB643BC475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DIAPOSITIVA DE IMAGEN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22A596-D62C-4D9A-B2C5-ED28D327DEFD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891E214-8AE6-4CA6-B994-7A8BDD0B394C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C95F487E-1B8C-4FBA-95B3-043C11DA1E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B912DCD-5EAD-419F-BF95-02B45172EDB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59525"/>
            <a:ext cx="12192000" cy="3872910"/>
          </a:xfrm>
          <a:solidFill>
            <a:schemeClr val="bg1">
              <a:alpha val="5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25C7F29-6151-4F91-80D1-C96C51C06795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410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n y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50F2065-1E46-45F4-8B82-40AFF3B380E4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DIAPOSITIVA DE IMAGEN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2052F1-E2F3-4890-BB01-52C50637C391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6000" y="1659525"/>
            <a:ext cx="11700000" cy="4517136"/>
          </a:xfrm>
          <a:solidFill>
            <a:schemeClr val="bg1">
              <a:alpha val="5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A58BD2B-1B9B-49E6-8C1A-77F7A60420D7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A17DA84B-7C7B-413F-9A4E-88B7975E1C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53C73EB-9DF5-425B-B9EA-BADEC346708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099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n y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4" name="Marcador de posición de imagen 19">
            <a:extLst>
              <a:ext uri="{FF2B5EF4-FFF2-40B4-BE49-F238E27FC236}">
                <a16:creationId xmlns:a16="http://schemas.microsoft.com/office/drawing/2014/main" id="{90DA0444-D1E1-48F5-9158-243679F7B63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167439"/>
            <a:ext cx="12192000" cy="4009222"/>
          </a:xfrm>
          <a:solidFill>
            <a:schemeClr val="bg1">
              <a:alpha val="5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IMAGEN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25A72E-876E-4DD0-BAEC-1E6593DD3612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1391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n y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4FC6DCA8-CFF5-4F20-A410-C3EA0873DE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9" cy="4251153"/>
          </a:xfrm>
          <a:custGeom>
            <a:avLst/>
            <a:gdLst>
              <a:gd name="connsiteX0" fmla="*/ 0 w 12191999"/>
              <a:gd name="connsiteY0" fmla="*/ 0 h 4251153"/>
              <a:gd name="connsiteX1" fmla="*/ 12191999 w 12191999"/>
              <a:gd name="connsiteY1" fmla="*/ 0 h 4251153"/>
              <a:gd name="connsiteX2" fmla="*/ 12191999 w 12191999"/>
              <a:gd name="connsiteY2" fmla="*/ 795243 h 4251153"/>
              <a:gd name="connsiteX3" fmla="*/ 11190767 w 12191999"/>
              <a:gd name="connsiteY3" fmla="*/ 795243 h 4251153"/>
              <a:gd name="connsiteX4" fmla="*/ 11190767 w 12191999"/>
              <a:gd name="connsiteY4" fmla="*/ 802443 h 4251153"/>
              <a:gd name="connsiteX5" fmla="*/ 12191999 w 12191999"/>
              <a:gd name="connsiteY5" fmla="*/ 802443 h 4251153"/>
              <a:gd name="connsiteX6" fmla="*/ 12191999 w 12191999"/>
              <a:gd name="connsiteY6" fmla="*/ 4251153 h 4251153"/>
              <a:gd name="connsiteX7" fmla="*/ 0 w 12191999"/>
              <a:gd name="connsiteY7" fmla="*/ 4251153 h 425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4251153">
                <a:moveTo>
                  <a:pt x="0" y="0"/>
                </a:moveTo>
                <a:lnTo>
                  <a:pt x="12191999" y="0"/>
                </a:lnTo>
                <a:lnTo>
                  <a:pt x="12191999" y="795243"/>
                </a:lnTo>
                <a:lnTo>
                  <a:pt x="11190767" y="795243"/>
                </a:lnTo>
                <a:lnTo>
                  <a:pt x="11190767" y="802443"/>
                </a:lnTo>
                <a:lnTo>
                  <a:pt x="12191999" y="802443"/>
                </a:lnTo>
                <a:lnTo>
                  <a:pt x="12191999" y="4251153"/>
                </a:lnTo>
                <a:lnTo>
                  <a:pt x="0" y="425115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4227" y="4435638"/>
            <a:ext cx="8807116" cy="1571359"/>
          </a:xfrm>
        </p:spPr>
        <p:txBody>
          <a:bodyPr rtlCol="0"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IMAGEN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AA1234-55A3-466D-B43D-CD84A00E8F1F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4226" y="6159402"/>
            <a:ext cx="2154460" cy="365125"/>
          </a:xfrm>
        </p:spPr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AE6B4C8-5DC5-48CB-A4AB-540F064C26C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BA6E06C-D6DA-4EDA-9A87-02C42E3144CB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D9DE605B-C51B-41B7-9FCB-86CE13FFB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2311598-88E6-4CCA-AFD4-E5D87D3AAF1D}"/>
              </a:ext>
            </a:extLst>
          </p:cNvPr>
          <p:cNvCxnSpPr>
            <a:cxnSpLocks/>
          </p:cNvCxnSpPr>
          <p:nvPr userDrawn="1"/>
        </p:nvCxnSpPr>
        <p:spPr>
          <a:xfrm>
            <a:off x="11184000" y="805368"/>
            <a:ext cx="1008000" cy="0"/>
          </a:xfrm>
          <a:prstGeom prst="line">
            <a:avLst/>
          </a:prstGeom>
          <a:ln w="349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6897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29B2A5FC-034D-4F4C-833F-A3DDC66E3E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DIAPOSITIVA CON GRÁFICO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B58320-7BD4-42A4-940F-71D9A2216F86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1697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contenido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431112"/>
            <a:ext cx="5157787" cy="277325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84" y="1402584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posición de contenido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84" y="2516716"/>
            <a:ext cx="5183188" cy="3687653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BE7B492-C944-422B-9779-A95207B000CF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7A18CA1-13F1-4B77-BA9C-71FAF3AEE4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66915A3-52A7-4C8C-B8EC-41071CB1A90B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48B84D4-EC6A-481E-87B5-0AA6E59A5C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409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DA48C424-A3E8-45D9-A344-780A64F65F99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DIAPOSITIVA CON GRÁFICO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1608C5-943E-47C4-A9DF-0D20C10E3D74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1697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posición de contenido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431112"/>
            <a:ext cx="5157787" cy="2017154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84" y="1402584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posición de contenido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84" y="2516716"/>
            <a:ext cx="5183188" cy="2931545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BE7B492-C944-422B-9779-A95207B000CF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7A18CA1-13F1-4B77-BA9C-71FAF3AEE4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66915A3-52A7-4C8C-B8EC-41071CB1A90B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48B84D4-EC6A-481E-87B5-0AA6E59A5C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561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10540321-6794-45E5-A403-F840A499D670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A226BC7-E49E-4871-8B90-93766E659C8E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texto 15">
            <a:extLst>
              <a:ext uri="{FF2B5EF4-FFF2-40B4-BE49-F238E27FC236}">
                <a16:creationId xmlns:a16="http://schemas.microsoft.com/office/drawing/2014/main" id="{7FD1F1BF-3901-435E-A225-44921D7097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3A349A95-A047-4A05-83FB-F32C38181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DIAPOSITIVA CON GRÁFICO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D9067-D2E2-47C9-9D70-DDEB246025F4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8" y="255842"/>
            <a:ext cx="72000" cy="1033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800" y="231697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posición de contenido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800" y="3431112"/>
            <a:ext cx="5157787" cy="277325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84" y="1402584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posición de contenido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84" y="2516716"/>
            <a:ext cx="5183188" cy="3687653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DF95BF2-B52F-4059-BC20-4B61F5F92FC3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99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9852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8" y="2272009"/>
            <a:ext cx="4759643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GRÁFICO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C183D3-13EF-42A0-B957-E8C36E4D526B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posición de contenido 3">
            <a:extLst>
              <a:ext uri="{FF2B5EF4-FFF2-40B4-BE49-F238E27FC236}">
                <a16:creationId xmlns:a16="http://schemas.microsoft.com/office/drawing/2014/main" id="{3B530EAF-CF53-49F1-B6C8-C2B60A5F6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5328" y="3386142"/>
            <a:ext cx="4759643" cy="277325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1414759"/>
            <a:ext cx="4783083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posición de contenido 5">
            <a:extLst>
              <a:ext uri="{FF2B5EF4-FFF2-40B4-BE49-F238E27FC236}">
                <a16:creationId xmlns:a16="http://schemas.microsoft.com/office/drawing/2014/main" id="{17E62B55-2C81-4D0C-82F0-D765EFB74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1272" y="2528891"/>
            <a:ext cx="4783083" cy="3630507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236971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0670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00CD2376-834B-4EE0-BA14-A9AEA2135615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5329" y="2272009"/>
            <a:ext cx="4540672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GRÁFICO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190557-0C2C-40CB-8542-C8B00810E365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posición de contenido 3">
            <a:extLst>
              <a:ext uri="{FF2B5EF4-FFF2-40B4-BE49-F238E27FC236}">
                <a16:creationId xmlns:a16="http://schemas.microsoft.com/office/drawing/2014/main" id="{3B530EAF-CF53-49F1-B6C8-C2B60A5F6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5329" y="3386142"/>
            <a:ext cx="4540672" cy="277325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1272" y="1414759"/>
            <a:ext cx="4783083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posición de contenido 5">
            <a:extLst>
              <a:ext uri="{FF2B5EF4-FFF2-40B4-BE49-F238E27FC236}">
                <a16:creationId xmlns:a16="http://schemas.microsoft.com/office/drawing/2014/main" id="{17E62B55-2C81-4D0C-82F0-D765EFB74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1272" y="2528891"/>
            <a:ext cx="4783083" cy="3630507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236971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3516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4FC33DF7-D0A2-49E4-BF1D-6DC097E62D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52069"/>
            <a:ext cx="3932237" cy="2390931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IMAGEN</a:t>
            </a:r>
            <a:br>
              <a:rPr lang="es-ES" noProof="0"/>
            </a:br>
            <a:r>
              <a:rPr lang="es-ES" noProof="0"/>
              <a:t>CON</a:t>
            </a:r>
            <a:br>
              <a:rPr lang="es-ES" noProof="0"/>
            </a:br>
            <a:r>
              <a:rPr lang="es-ES" noProof="0"/>
              <a:t>LEYENDA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1566" y="0"/>
            <a:ext cx="5231567" cy="6857999"/>
          </a:xfrm>
          <a:solidFill>
            <a:schemeClr val="bg1">
              <a:alpha val="35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800" y="3283710"/>
            <a:ext cx="3932237" cy="24399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D7EBBC-ACAC-43E3-AAC9-6FD1EC442AE0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2000" cy="28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43ED311-FC15-4C06-8B1C-5C57F3F9A78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895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ley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0ED1F5F9-2E42-493E-906D-AA9F7D5F0880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47703"/>
            <a:ext cx="6291150" cy="1328497"/>
          </a:xfrm>
        </p:spPr>
        <p:txBody>
          <a:bodyPr rtlCol="0" anchor="b">
            <a:noAutofit/>
          </a:bodyPr>
          <a:lstStyle>
            <a:lvl1pPr>
              <a:defRPr sz="400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DIAPOSTIVA DE</a:t>
            </a:r>
            <a:br>
              <a:rPr lang="es-ES" noProof="0"/>
            </a:br>
            <a:r>
              <a:rPr lang="es-ES" noProof="0"/>
              <a:t>IMAGEN CON LEYENDA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950934"/>
            <a:ext cx="12192000" cy="2581498"/>
          </a:xfrm>
          <a:solidFill>
            <a:schemeClr val="bg1">
              <a:alpha val="35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0" y="2216910"/>
            <a:ext cx="6291150" cy="654726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55DD25-8EB1-484C-BA01-B6D484D36929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1723" cy="181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2102969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8707FDA-D4BE-43FA-91CD-CBA55EB8CA17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538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n con ley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801289E2-E0FB-4100-99AE-FC48AB519EE0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52069"/>
            <a:ext cx="3932237" cy="2390931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IMAGEN</a:t>
            </a:r>
            <a:br>
              <a:rPr lang="es-ES" noProof="0"/>
            </a:br>
            <a:r>
              <a:rPr lang="es-ES" noProof="0"/>
              <a:t>CON</a:t>
            </a:r>
            <a:br>
              <a:rPr lang="es-ES" noProof="0"/>
            </a:br>
            <a:r>
              <a:rPr lang="es-ES" noProof="0"/>
              <a:t>LEYENDA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1566" y="255600"/>
            <a:ext cx="5231567" cy="6346800"/>
          </a:xfrm>
          <a:solidFill>
            <a:schemeClr val="bg1">
              <a:alpha val="35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800" y="3283710"/>
            <a:ext cx="3932237" cy="24399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ABF3E0-EB72-44D4-BAF1-F289196B58F8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2000" cy="28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FBF50E9D-E2D8-41FB-816D-829494C06AD8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0C17ED7B-D5EA-4FB8-8E1B-F04BFE982E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A992C28-7C5F-479C-A649-564EFD0EEAB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D1F0C21-A9B5-47E2-93F8-6226D37312FC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9908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4376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n con ley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4FC33DF7-D0A2-49E4-BF1D-6DC097E62D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1" y="652069"/>
            <a:ext cx="3490800" cy="2390931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IMAGEN</a:t>
            </a:r>
            <a:br>
              <a:rPr lang="es-ES" noProof="0"/>
            </a:br>
            <a:r>
              <a:rPr lang="es-ES" noProof="0"/>
              <a:t>CON</a:t>
            </a:r>
            <a:br>
              <a:rPr lang="es-ES" noProof="0"/>
            </a:br>
            <a:r>
              <a:rPr lang="es-ES" noProof="0"/>
              <a:t>LEYENDA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1566" y="0"/>
            <a:ext cx="5231567" cy="6857999"/>
          </a:xfrm>
          <a:solidFill>
            <a:schemeClr val="bg1">
              <a:alpha val="35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9351" y="3283710"/>
            <a:ext cx="3490800" cy="24399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676F2B-5A63-451F-8F15-A1FC95B64046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1277838" y="837332"/>
            <a:ext cx="72843" cy="2042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65941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43ED311-FC15-4C06-8B1C-5C57F3F9A78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0207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n con ley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4FC6DCA8-CFF5-4F20-A410-C3EA0873DE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9" cy="4251153"/>
          </a:xfrm>
          <a:custGeom>
            <a:avLst/>
            <a:gdLst>
              <a:gd name="connsiteX0" fmla="*/ 0 w 12191999"/>
              <a:gd name="connsiteY0" fmla="*/ 0 h 4251153"/>
              <a:gd name="connsiteX1" fmla="*/ 12191999 w 12191999"/>
              <a:gd name="connsiteY1" fmla="*/ 0 h 4251153"/>
              <a:gd name="connsiteX2" fmla="*/ 12191999 w 12191999"/>
              <a:gd name="connsiteY2" fmla="*/ 795243 h 4251153"/>
              <a:gd name="connsiteX3" fmla="*/ 11190767 w 12191999"/>
              <a:gd name="connsiteY3" fmla="*/ 795243 h 4251153"/>
              <a:gd name="connsiteX4" fmla="*/ 11190767 w 12191999"/>
              <a:gd name="connsiteY4" fmla="*/ 802443 h 4251153"/>
              <a:gd name="connsiteX5" fmla="*/ 12191999 w 12191999"/>
              <a:gd name="connsiteY5" fmla="*/ 802443 h 4251153"/>
              <a:gd name="connsiteX6" fmla="*/ 12191999 w 12191999"/>
              <a:gd name="connsiteY6" fmla="*/ 4251153 h 4251153"/>
              <a:gd name="connsiteX7" fmla="*/ 0 w 12191999"/>
              <a:gd name="connsiteY7" fmla="*/ 4251153 h 425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4251153">
                <a:moveTo>
                  <a:pt x="0" y="0"/>
                </a:moveTo>
                <a:lnTo>
                  <a:pt x="12191999" y="0"/>
                </a:lnTo>
                <a:lnTo>
                  <a:pt x="12191999" y="795243"/>
                </a:lnTo>
                <a:lnTo>
                  <a:pt x="11190767" y="795243"/>
                </a:lnTo>
                <a:lnTo>
                  <a:pt x="11190767" y="802443"/>
                </a:lnTo>
                <a:lnTo>
                  <a:pt x="12191999" y="802443"/>
                </a:lnTo>
                <a:lnTo>
                  <a:pt x="12191999" y="4251153"/>
                </a:lnTo>
                <a:lnTo>
                  <a:pt x="0" y="425115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20892" y="5027253"/>
            <a:ext cx="5373461" cy="1132143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 Dolor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6A7686-9AC4-4F00-9096-A661393BEBDC}"/>
              </a:ext>
            </a:extLst>
          </p:cNvPr>
          <p:cNvCxnSpPr/>
          <p:nvPr userDrawn="1"/>
        </p:nvCxnSpPr>
        <p:spPr>
          <a:xfrm>
            <a:off x="1838883" y="607270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4226" y="4626870"/>
            <a:ext cx="4626665" cy="1389106"/>
          </a:xfrm>
        </p:spPr>
        <p:txBody>
          <a:bodyPr rtlCol="0"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IMAGEN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0AB6BC-6D6C-484C-ADEC-627382BB4C77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4226" y="6159402"/>
            <a:ext cx="2154460" cy="365125"/>
          </a:xfrm>
        </p:spPr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AE6B4C8-5DC5-48CB-A4AB-540F064C26C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BA6E06C-D6DA-4EDA-9A87-02C42E3144CB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088D115-EF5A-444B-AD3E-D2EE18401B4A}"/>
              </a:ext>
            </a:extLst>
          </p:cNvPr>
          <p:cNvCxnSpPr>
            <a:cxnSpLocks/>
          </p:cNvCxnSpPr>
          <p:nvPr userDrawn="1"/>
        </p:nvCxnSpPr>
        <p:spPr>
          <a:xfrm>
            <a:off x="11184000" y="805368"/>
            <a:ext cx="1008000" cy="0"/>
          </a:xfrm>
          <a:prstGeom prst="line">
            <a:avLst/>
          </a:prstGeom>
          <a:ln w="349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D9DE605B-C51B-41B7-9FCB-86CE13FFB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4624940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ángulo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DIAPOSITIVA DE INFORMACIÓN GENERAL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1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D55CBC-2531-45C2-BFC2-A5F86906DC42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0"/>
            <a:ext cx="72000" cy="11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2</a:t>
            </a:r>
          </a:p>
        </p:txBody>
      </p:sp>
      <p:sp>
        <p:nvSpPr>
          <p:cNvPr id="36" name="Marcador de texto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3</a:t>
            </a:r>
          </a:p>
        </p:txBody>
      </p:sp>
      <p:sp>
        <p:nvSpPr>
          <p:cNvPr id="37" name="Marcador de texto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4</a:t>
            </a:r>
          </a:p>
        </p:txBody>
      </p:sp>
      <p:sp>
        <p:nvSpPr>
          <p:cNvPr id="38" name="Marcador de texto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5</a:t>
            </a:r>
          </a:p>
        </p:txBody>
      </p:sp>
      <p:sp>
        <p:nvSpPr>
          <p:cNvPr id="39" name="Marcador de texto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6</a:t>
            </a:r>
          </a:p>
        </p:txBody>
      </p:sp>
      <p:sp>
        <p:nvSpPr>
          <p:cNvPr id="40" name="Marcador de texto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28801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1" name="Marcador de posición de texto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467663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2" name="Marcador de posición de texto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006525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3" name="Marcador de texto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928801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4" name="Marcador de posición de texto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467663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5" name="Marcador de posición de texto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006525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7" name="Marcador de posición de imagen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7066" y="1757980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12376" y="1757980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9" name="Marcador de posición de imagen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47686" y="1757980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0" name="Marcador de posición de imagen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77066" y="3890091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1" name="Marcador de posición de imagen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12376" y="3890091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047686" y="3890091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2366014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rmación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ángulo 45">
            <a:extLst>
              <a:ext uri="{FF2B5EF4-FFF2-40B4-BE49-F238E27FC236}">
                <a16:creationId xmlns:a16="http://schemas.microsoft.com/office/drawing/2014/main" id="{7427B840-CC27-4923-A00E-7899AF7A4460}"/>
              </a:ext>
            </a:extLst>
          </p:cNvPr>
          <p:cNvSpPr/>
          <p:nvPr userDrawn="1"/>
        </p:nvSpPr>
        <p:spPr>
          <a:xfrm>
            <a:off x="0" y="5764039"/>
            <a:ext cx="12192000" cy="109396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DIAPOSITIVA DE INFORMACIÓN GENERAL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45270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1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30A72A-C242-4D01-B441-9B433A12A1F5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0"/>
            <a:ext cx="72000" cy="11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2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45270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2</a:t>
            </a:r>
          </a:p>
        </p:txBody>
      </p:sp>
      <p:sp>
        <p:nvSpPr>
          <p:cNvPr id="36" name="Marcador de texto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45270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3</a:t>
            </a:r>
          </a:p>
        </p:txBody>
      </p:sp>
      <p:sp>
        <p:nvSpPr>
          <p:cNvPr id="37" name="Marcador de texto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56391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4</a:t>
            </a:r>
          </a:p>
        </p:txBody>
      </p:sp>
      <p:sp>
        <p:nvSpPr>
          <p:cNvPr id="38" name="Marcador de texto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56391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5</a:t>
            </a:r>
          </a:p>
        </p:txBody>
      </p:sp>
      <p:sp>
        <p:nvSpPr>
          <p:cNvPr id="39" name="Marcador de texto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56391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6</a:t>
            </a:r>
          </a:p>
        </p:txBody>
      </p:sp>
      <p:sp>
        <p:nvSpPr>
          <p:cNvPr id="40" name="Marcador de texto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28801" y="287627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1" name="Marcador de posición de texto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467663" y="287627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2" name="Marcador de posición de texto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006525" y="287627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3" name="Marcador de texto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928801" y="498747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4" name="Marcador de posición de texto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467663" y="498747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5" name="Marcador de posición de texto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006525" y="498747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7" name="Marcador de posición de imagen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4123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7654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9" name="Marcador de posición de imagen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1185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0" name="Marcador de posición de imagen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4123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1" name="Marcador de posición de imagen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7654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1185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260961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rmación gener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ángulo 45">
            <a:extLst>
              <a:ext uri="{FF2B5EF4-FFF2-40B4-BE49-F238E27FC236}">
                <a16:creationId xmlns:a16="http://schemas.microsoft.com/office/drawing/2014/main" id="{70994831-EE46-4DEA-9077-4FEBBCD60EB3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DIAPOSITIVA DE INFORMACIÓN GENERAL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1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CEC10E-94B4-4723-9AC4-ED7C1647FDD0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244444"/>
            <a:ext cx="72000" cy="907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2</a:t>
            </a:r>
          </a:p>
        </p:txBody>
      </p:sp>
      <p:sp>
        <p:nvSpPr>
          <p:cNvPr id="36" name="Marcador de texto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3</a:t>
            </a:r>
          </a:p>
        </p:txBody>
      </p:sp>
      <p:sp>
        <p:nvSpPr>
          <p:cNvPr id="37" name="Marcador de texto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4</a:t>
            </a:r>
          </a:p>
        </p:txBody>
      </p:sp>
      <p:sp>
        <p:nvSpPr>
          <p:cNvPr id="38" name="Marcador de texto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5</a:t>
            </a:r>
          </a:p>
        </p:txBody>
      </p:sp>
      <p:sp>
        <p:nvSpPr>
          <p:cNvPr id="39" name="Marcador de texto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6</a:t>
            </a:r>
          </a:p>
        </p:txBody>
      </p:sp>
      <p:sp>
        <p:nvSpPr>
          <p:cNvPr id="40" name="Marcador de texto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28801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1" name="Marcador de posición de texto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467663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2" name="Marcador de posición de texto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006525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3" name="Marcador de texto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928801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4" name="Marcador de posición de texto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467663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5" name="Marcador de texto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006525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7" name="Marcador de posición de imagen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4123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7654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9" name="Marcador de posición de imagen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1185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0" name="Marcador de posición de imagen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4123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1" name="Marcador de posición de imagen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7654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1185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6EC8F712-6C02-43F3-8A0A-5DCA975E7C3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18B62D71-4318-4C96-828A-D19FFBFA7BDA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5">
            <a:extLst>
              <a:ext uri="{FF2B5EF4-FFF2-40B4-BE49-F238E27FC236}">
                <a16:creationId xmlns:a16="http://schemas.microsoft.com/office/drawing/2014/main" id="{12E8DD1E-B3CA-4756-A792-B476AFA9A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603F760-AD2F-4611-99B6-58C4666AEBA1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99043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182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formación gener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ángulo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0" y="645199"/>
            <a:ext cx="4737482" cy="1338841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INFORMACIÓN GENERAL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86001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1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516C64-ACA4-44F8-B272-9757EB818AE6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5">
            <a:extLst>
              <a:ext uri="{FF2B5EF4-FFF2-40B4-BE49-F238E27FC236}">
                <a16:creationId xmlns:a16="http://schemas.microsoft.com/office/drawing/2014/main" id="{AC031692-3E92-4C7E-A067-5F49BD126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84400" y="838800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924863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2</a:t>
            </a:r>
          </a:p>
        </p:txBody>
      </p:sp>
      <p:sp>
        <p:nvSpPr>
          <p:cNvPr id="36" name="Marcador de texto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63725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3</a:t>
            </a:r>
          </a:p>
        </p:txBody>
      </p:sp>
      <p:sp>
        <p:nvSpPr>
          <p:cNvPr id="37" name="Marcador de texto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386001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4</a:t>
            </a:r>
          </a:p>
        </p:txBody>
      </p:sp>
      <p:sp>
        <p:nvSpPr>
          <p:cNvPr id="38" name="Marcador de texto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924863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5</a:t>
            </a:r>
          </a:p>
        </p:txBody>
      </p:sp>
      <p:sp>
        <p:nvSpPr>
          <p:cNvPr id="39" name="Marcador de texto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463725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6</a:t>
            </a:r>
          </a:p>
        </p:txBody>
      </p:sp>
      <p:sp>
        <p:nvSpPr>
          <p:cNvPr id="40" name="Marcador de texto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386001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1" name="Marcador de posición de texto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924863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2" name="Marcador de posición de texto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463725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3" name="Marcador de texto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1386001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4" name="Marcador de posición de texto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924863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5" name="Marcador de posición de texto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463725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7" name="Marcador de posición de imagen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9843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374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9" name="Marcador de posición de imagen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56905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0" name="Marcador de posición de imagen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9843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1" name="Marcador de posición de imagen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3374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6905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C2768A5-0309-41B3-94FB-AA3A2FCB638E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735452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formación gener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ángulo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4724400" y="0"/>
            <a:ext cx="74676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0" y="645199"/>
            <a:ext cx="4737482" cy="1338841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INFORMACIÓN GENERAL</a:t>
            </a:r>
            <a:br>
              <a:rPr lang="es-ES" noProof="0"/>
            </a:br>
            <a:r>
              <a:rPr lang="es-ES" noProof="0"/>
              <a:t>DIAPOSITIVA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86001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1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C3C2C7-290E-42AD-BD43-597B288F986B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2268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924863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2</a:t>
            </a:r>
          </a:p>
        </p:txBody>
      </p:sp>
      <p:sp>
        <p:nvSpPr>
          <p:cNvPr id="36" name="Marcador de texto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63725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3</a:t>
            </a:r>
          </a:p>
        </p:txBody>
      </p:sp>
      <p:sp>
        <p:nvSpPr>
          <p:cNvPr id="37" name="Marcador de texto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386001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4</a:t>
            </a:r>
          </a:p>
        </p:txBody>
      </p:sp>
      <p:sp>
        <p:nvSpPr>
          <p:cNvPr id="38" name="Marcador de texto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924863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5</a:t>
            </a:r>
          </a:p>
        </p:txBody>
      </p:sp>
      <p:sp>
        <p:nvSpPr>
          <p:cNvPr id="39" name="Marcador de texto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463725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Título del elemento 6</a:t>
            </a:r>
          </a:p>
        </p:txBody>
      </p:sp>
      <p:sp>
        <p:nvSpPr>
          <p:cNvPr id="40" name="Marcador de texto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386001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1" name="Marcador de posición de texto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4924863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2" name="Marcador de posición de texto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8463725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3" name="Marcador de texto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1386001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4" name="Marcador de posición de texto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4924863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5" name="Marcador de posición de texto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8463725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47" name="Marcador de posición de imagen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98434" y="221518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374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9" name="Marcador de posición de imagen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56905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0" name="Marcador de posición de imagen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98434" y="434729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1" name="Marcador de posición de imagen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3374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6905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C2768A5-0309-41B3-94FB-AA3A2FCB638E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20621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agradecimi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385FB182-4CCC-45D7-A2A4-A593CA00EB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8E2AFE-9147-47F3-ADFE-AD251E989D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4400" y="1144587"/>
            <a:ext cx="9395400" cy="1483413"/>
          </a:xfrm>
        </p:spPr>
        <p:txBody>
          <a:bodyPr rtlCol="0">
            <a:noAutofit/>
          </a:bodyPr>
          <a:lstStyle>
            <a:lvl1pPr>
              <a:defRPr sz="5500"/>
            </a:lvl1pPr>
          </a:lstStyle>
          <a:p>
            <a:pPr rtl="0"/>
            <a:r>
              <a:rPr lang="es-ES" noProof="0"/>
              <a:t>MUCHAS</a:t>
            </a:r>
            <a:br>
              <a:rPr lang="es-ES" noProof="0"/>
            </a:br>
            <a:r>
              <a:rPr lang="es-ES" noProof="0"/>
              <a:t>GRACIAS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B46BDE-7853-435A-80A6-D25940D1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DF7C1F-796E-45A0-A3CE-A1B6D61A2297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C83E82-A916-403C-8BE8-252132A9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7F2326-238E-4FE6-8842-680DE4A0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B9D0891-2A9E-4F35-82BE-7966AECBB0F1}"/>
              </a:ext>
            </a:extLst>
          </p:cNvPr>
          <p:cNvSpPr/>
          <p:nvPr userDrawn="1"/>
        </p:nvSpPr>
        <p:spPr>
          <a:xfrm>
            <a:off x="1379621" y="0"/>
            <a:ext cx="144000" cy="24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E52F6420-3AFC-4D7F-A45D-56EA5EFC0D1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812758" y="3038688"/>
            <a:ext cx="9144000" cy="1397991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</a:t>
            </a:r>
            <a:br>
              <a:rPr lang="es-ES" noProof="0"/>
            </a:br>
            <a:r>
              <a:rPr lang="es-ES" noProof="0"/>
              <a:t>Dolor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BC78E93-F6DF-44C7-A9BB-D035C397BFD5}"/>
              </a:ext>
            </a:extLst>
          </p:cNvPr>
          <p:cNvCxnSpPr/>
          <p:nvPr userDrawn="1"/>
        </p:nvCxnSpPr>
        <p:spPr>
          <a:xfrm>
            <a:off x="1957137" y="288364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87BFFD5-4519-4811-BDD2-3B0318780ACC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172200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A4E36001-6B54-4F6D-9532-965904F3C3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5377580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058583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agradecimi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-1" y="0"/>
            <a:ext cx="12191989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522758"/>
            <a:ext cx="8807116" cy="2387600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MUCHAS</a:t>
            </a:r>
            <a:br>
              <a:rPr lang="es-ES" noProof="0"/>
            </a:br>
            <a:r>
              <a:rPr lang="es-ES" noProof="0"/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257226"/>
            <a:ext cx="9144000" cy="1397991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</a:t>
            </a:r>
            <a:br>
              <a:rPr lang="es-ES" noProof="0"/>
            </a:br>
            <a:r>
              <a:rPr lang="es-ES" noProof="0"/>
              <a:t>Dolor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5C332F-75E8-447A-ACC6-1C8218FF481D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3438000"/>
            <a:ext cx="144000" cy="34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10217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1006893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53495056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agradecimi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00332"/>
            <a:ext cx="8807116" cy="915873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¡GRACIAS!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963075"/>
            <a:ext cx="9144000" cy="601840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 Dolor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0D6986-5745-470C-B0DA-6574B35EB694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878000"/>
            <a:ext cx="144000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808027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F632EEF-732A-4DE7-BC5A-A86C31DB6F5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C54CE062-7CDB-4AB7-B86E-461B22E7F4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1006893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0836357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agradecimi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1D61DF5-2BE6-40B6-97DF-A161EF9520AA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413986"/>
            <a:ext cx="7107331" cy="1838643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MUCHAS</a:t>
            </a:r>
            <a:br>
              <a:rPr lang="es-ES" noProof="0"/>
            </a:br>
            <a:r>
              <a:rPr lang="es-ES" noProof="0"/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4599498"/>
            <a:ext cx="7107331" cy="966857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</a:t>
            </a:r>
            <a:br>
              <a:rPr lang="es-ES" noProof="0"/>
            </a:br>
            <a:r>
              <a:rPr lang="es-ES" noProof="0"/>
              <a:t>Dolor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F27615-44E6-4A66-B813-CC2A5564A1E2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2740862"/>
            <a:ext cx="144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444445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6E88EDA-C5A5-4C22-8CE4-5C7FDCF2E85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77074" y="5622756"/>
            <a:ext cx="0" cy="98422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1B98974C-AC7A-4E66-AE1A-DBA5F1A1D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513936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027339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agradecimi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0"/>
            <a:ext cx="12192000" cy="4446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64500"/>
            <a:ext cx="8807116" cy="915873"/>
          </a:xfrm>
        </p:spPr>
        <p:txBody>
          <a:bodyPr rtlCol="0" anchor="b">
            <a:normAutofit/>
          </a:bodyPr>
          <a:lstStyle>
            <a:lvl1pPr algn="l">
              <a:defRPr sz="5500" b="1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es-ES" noProof="0"/>
              <a:t>¡GRACIAS!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6043285"/>
            <a:ext cx="9144000" cy="601840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Lorem Ipsum Dolor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F7F1E-D36A-4FE2-9612-A75FAA4F7D37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fld id="{95CBEC59-7FF9-4688-98DF-89832A0C902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950000"/>
            <a:ext cx="144000" cy="19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820400" y="870003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1005185"/>
            <a:ext cx="1460500" cy="481013"/>
          </a:xfrm>
        </p:spPr>
        <p:txBody>
          <a:bodyPr rtlCol="0"/>
          <a:lstStyle>
            <a:lvl1pPr marL="0" indent="0" algn="l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s-ES" noProof="0"/>
              <a:t>20XX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475710E-5533-4BB2-A66B-352BB2B1F9CB}"/>
              </a:ext>
            </a:extLst>
          </p:cNvPr>
          <p:cNvCxnSpPr/>
          <p:nvPr userDrawn="1"/>
        </p:nvCxnSpPr>
        <p:spPr>
          <a:xfrm>
            <a:off x="1957137" y="5823067"/>
            <a:ext cx="93044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18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1E1EAD-812A-4236-9F79-679D72C2B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4873" y="6187538"/>
            <a:ext cx="3256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A38A25-0817-41BC-96A5-5012FE15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1FA28A22-3D06-43EE-BD32-97F90FEA1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DAC635-0473-40DB-A82D-46D5F635B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187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2"/>
                </a:solidFill>
              </a:defRPr>
            </a:lvl1pPr>
          </a:lstStyle>
          <a:p>
            <a:pPr rtl="0"/>
            <a:fld id="{3CEB3F9C-CC28-4BCA-8DB0-AC6E5A8EF94F}" type="datetime1">
              <a:rPr lang="es-ES" noProof="0" smtClean="0"/>
              <a:t>22/09/2022</a:t>
            </a:fld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BD12B9-96FA-4883-88FA-2071321A4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9751" y="6187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tx2"/>
                </a:solidFill>
              </a:defRPr>
            </a:lvl1pPr>
          </a:lstStyle>
          <a:p>
            <a:pPr rtl="0"/>
            <a:fld id="{95CBEC59-7FF9-4688-98DF-89832A0C902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3597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50" r:id="rId6"/>
    <p:sldLayoutId id="2147483663" r:id="rId7"/>
    <p:sldLayoutId id="2147483664" r:id="rId8"/>
    <p:sldLayoutId id="2147483665" r:id="rId9"/>
    <p:sldLayoutId id="2147483666" r:id="rId10"/>
    <p:sldLayoutId id="2147483651" r:id="rId11"/>
    <p:sldLayoutId id="2147483670" r:id="rId12"/>
    <p:sldLayoutId id="2147483667" r:id="rId13"/>
    <p:sldLayoutId id="2147483668" r:id="rId14"/>
    <p:sldLayoutId id="2147483671" r:id="rId15"/>
    <p:sldLayoutId id="2147483669" r:id="rId16"/>
    <p:sldLayoutId id="2147483653" r:id="rId17"/>
    <p:sldLayoutId id="2147483672" r:id="rId18"/>
    <p:sldLayoutId id="2147483673" r:id="rId19"/>
    <p:sldLayoutId id="2147483674" r:id="rId20"/>
    <p:sldLayoutId id="2147483676" r:id="rId21"/>
    <p:sldLayoutId id="2147483652" r:id="rId22"/>
    <p:sldLayoutId id="2147483677" r:id="rId23"/>
    <p:sldLayoutId id="2147483678" r:id="rId24"/>
    <p:sldLayoutId id="2147483679" r:id="rId25"/>
    <p:sldLayoutId id="2147483681" r:id="rId26"/>
    <p:sldLayoutId id="2147483654" r:id="rId27"/>
    <p:sldLayoutId id="2147483682" r:id="rId28"/>
    <p:sldLayoutId id="2147483683" r:id="rId29"/>
    <p:sldLayoutId id="2147483684" r:id="rId30"/>
    <p:sldLayoutId id="2147483685" r:id="rId31"/>
    <p:sldLayoutId id="2147483657" r:id="rId32"/>
    <p:sldLayoutId id="2147483686" r:id="rId33"/>
    <p:sldLayoutId id="2147483687" r:id="rId34"/>
    <p:sldLayoutId id="2147483688" r:id="rId35"/>
    <p:sldLayoutId id="2147483689" r:id="rId36"/>
    <p:sldLayoutId id="2147483656" r:id="rId37"/>
    <p:sldLayoutId id="2147483690" r:id="rId38"/>
    <p:sldLayoutId id="2147483691" r:id="rId39"/>
    <p:sldLayoutId id="2147483692" r:id="rId40"/>
    <p:sldLayoutId id="2147483697" r:id="rId41"/>
    <p:sldLayoutId id="2147483658" r:id="rId42"/>
    <p:sldLayoutId id="2147483693" r:id="rId43"/>
    <p:sldLayoutId id="2147483694" r:id="rId44"/>
    <p:sldLayoutId id="2147483695" r:id="rId45"/>
    <p:sldLayoutId id="2147483696" r:id="rId4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FA173-4917-43E5-B91C-3914C1A8D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757" y="4400550"/>
            <a:ext cx="9643619" cy="1215905"/>
          </a:xfrm>
        </p:spPr>
        <p:txBody>
          <a:bodyPr rtlCol="0">
            <a:noAutofit/>
          </a:bodyPr>
          <a:lstStyle/>
          <a:p>
            <a:pPr rtl="0"/>
            <a:r>
              <a:rPr lang="es-ES" sz="4000" dirty="0"/>
              <a:t>FUNDAMENTOS TEÓRICOS DE LA EVALUACIÓN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99D82B-F86A-4C04-9207-B25F53939F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Dr. Gustavo Pherez G.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484CCC-9AB9-41BA-BF31-C9CA5A1218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50017" y="1013969"/>
            <a:ext cx="1626531" cy="60184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2022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6DF354-B2FA-4915-AF5C-6600D5A1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n-US" noProof="0" smtClean="0"/>
              <a:t>1</a:t>
            </a:fld>
            <a:endParaRPr lang="en-US" noProof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C15DC5-6898-412E-B833-F211667B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ADAB70B-94F2-4B42-AC33-F442A74138DF}" type="datetime1">
              <a:rPr lang="es-ES" noProof="0" smtClean="0"/>
              <a:t>22/09/2022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1306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4B6F2-F771-44D7-B424-5795E2B0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COMPETENCIAS QUE SE PRETENDE DESARROLLAR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6C9AFA-3527-4663-8D75-2CA3EE42B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33222" indent="-514350">
              <a:buFont typeface="+mj-lt"/>
              <a:buAutoNum type="arabicPeriod"/>
            </a:pPr>
            <a:r>
              <a:rPr lang="es-ES_tradnl" sz="3600" b="1" dirty="0"/>
              <a:t>Valora la importancia y la tendencia de la evaluación en el ámbito educativo.</a:t>
            </a:r>
            <a:endParaRPr lang="es-ES" sz="3600" b="1" dirty="0"/>
          </a:p>
          <a:p>
            <a:pPr marL="633222" indent="-514350">
              <a:buFont typeface="+mj-lt"/>
              <a:buAutoNum type="arabicPeriod"/>
            </a:pPr>
            <a:r>
              <a:rPr lang="es-CO" sz="3600" b="1" dirty="0"/>
              <a:t>Comprende el impacto de la evaluación en el mejoramiento de los procesos educativos.</a:t>
            </a:r>
            <a:endParaRPr lang="es-ES" sz="3600" b="1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9C88B8-7D50-469D-9F1B-8490D84D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B5D5EF-7F2C-46C8-8DE5-40750E7F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2</a:t>
            </a:fld>
            <a:endParaRPr lang="es-ES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220B9C7-2D6E-45FE-A4EE-F3F539D5CF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6711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C75E2-C7E9-4CDE-A3E7-DB7E770B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CO" dirty="0"/>
              <a:t>PREGUNTA PROBLEMA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F2D16A-183F-4A38-8872-766FA01EA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4145" y="1166226"/>
            <a:ext cx="4361941" cy="4854441"/>
          </a:xfrm>
        </p:spPr>
        <p:txBody>
          <a:bodyPr rtlCol="0">
            <a:normAutofit lnSpcReduction="10000"/>
          </a:bodyPr>
          <a:lstStyle/>
          <a:p>
            <a:r>
              <a:rPr lang="es-ES_tradnl" sz="3200" b="1" dirty="0"/>
              <a:t>¿Crees que es posible desarrollar un proceso evaluativo sin tener claro su concepto y propósito?</a:t>
            </a:r>
          </a:p>
          <a:p>
            <a:r>
              <a:rPr lang="es-ES_tradnl" sz="3200" b="1" dirty="0"/>
              <a:t>Tendríamos que creer que es posible hacer un buen pan, sin tener claro qué es un pan y para que sirve.</a:t>
            </a:r>
            <a:endParaRPr lang="es-ES" sz="3200" b="1" dirty="0"/>
          </a:p>
          <a:p>
            <a:pPr rtl="0"/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6417046-E8D4-4851-862C-0BF84D8D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FC0AEA-646D-49DC-8618-CEFD7013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smtClean="0"/>
              <a:t>3</a:t>
            </a:fld>
            <a:endParaRPr lang="es-ES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09278663-6DFB-48C5-B58E-9F7560421BA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rtlCol="0"/>
          <a:lstStyle/>
          <a:p>
            <a:pPr rtl="0"/>
            <a:r>
              <a:rPr lang="es-ES" dirty="0"/>
              <a:t>Reflexiona y responda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4252A41-D1CF-4A54-AC0D-995C22071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s-E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137292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5950A-F236-4AE1-B402-E9CC3F82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TEMAS A DESARROLLAR: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BACD58-C3EC-4488-A3DB-D29386D2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FF36DD-94F6-49D4-8CCC-8C8BD062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smtClean="0"/>
              <a:t>4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849212-ABCC-423B-A5BB-8F087B169D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s-ES" dirty="0"/>
              <a:t>2021</a:t>
            </a:r>
          </a:p>
        </p:txBody>
      </p:sp>
      <p:pic>
        <p:nvPicPr>
          <p:cNvPr id="16" name="Marcador de posición de imagen 15" descr="Grupo de personas que debaten algo">
            <a:extLst>
              <a:ext uri="{FF2B5EF4-FFF2-40B4-BE49-F238E27FC236}">
                <a16:creationId xmlns:a16="http://schemas.microsoft.com/office/drawing/2014/main" id="{2C4DE4C1-E6F3-48EC-A26B-57BBBF59355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2433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0003-7E81-495E-BC4F-F34B3A34BD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IMPORTANCIA DE LA EVALUACIÓN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A0D10-3DEF-4958-980F-7EEAFBA16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758" y="4599498"/>
            <a:ext cx="7107331" cy="1182177"/>
          </a:xfrm>
        </p:spPr>
        <p:txBody>
          <a:bodyPr>
            <a:normAutofit fontScale="92500" lnSpcReduction="20000"/>
          </a:bodyPr>
          <a:lstStyle/>
          <a:p>
            <a:r>
              <a:rPr lang="es-CO" sz="3200" dirty="0"/>
              <a:t>E</a:t>
            </a:r>
            <a:r>
              <a:rPr lang="es-ES" sz="3200" dirty="0"/>
              <a:t>s impensable un proceso de enseñanza y aprendizaje sin considerar a la evaluación como parte del mismo.</a:t>
            </a:r>
            <a:endParaRPr lang="es-CO" sz="32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FA8D38-F7F4-4B0B-816A-49D4A9FA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230430-071C-415E-B518-A2A53527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5</a:t>
            </a:fld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D4C3DAA-010B-4CE5-9EE9-2245700B0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2022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9845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4B6F2-F771-44D7-B424-5795E2B0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</a:t>
            </a:r>
            <a:r>
              <a:rPr lang="es-CO" dirty="0"/>
              <a:t>MPORTANCIA DE LA EVALUACIÓN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6C9AFA-3527-4663-8D75-2CA3EE42B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1" y="2981325"/>
            <a:ext cx="9971158" cy="3221763"/>
          </a:xfrm>
        </p:spPr>
        <p:txBody>
          <a:bodyPr>
            <a:normAutofit fontScale="77500" lnSpcReduction="20000"/>
          </a:bodyPr>
          <a:lstStyle/>
          <a:p>
            <a:r>
              <a:rPr lang="es-ES" sz="4100" b="1" dirty="0"/>
              <a:t>La evaluación “permite revisar conceptos, unificar criterios, acordar correcciones de prácticas deficientes y reforzar las exitosas, tomar decisiones, priorizar acciones, redireccionar procesos, ofrecer información a los docentes sobre los avances y dificultades de sus estudiantes y servir de guía a los estudiantes y a sus familias sobre el desarrollo de su aprendizaje” </a:t>
            </a:r>
          </a:p>
          <a:p>
            <a:pPr algn="ctr"/>
            <a:r>
              <a:rPr lang="es-ES" sz="4100" b="1" dirty="0"/>
              <a:t>(Mockus, 2001, p. 1). </a:t>
            </a:r>
          </a:p>
          <a:p>
            <a:pPr marL="633222" indent="-514350">
              <a:buFont typeface="+mj-lt"/>
              <a:buAutoNum type="arabicPeriod"/>
            </a:pPr>
            <a:endParaRPr lang="es-ES" sz="3600" b="1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9C88B8-7D50-469D-9F1B-8490D84D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B5D5EF-7F2C-46C8-8DE5-40750E7F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6</a:t>
            </a:fld>
            <a:endParaRPr lang="es-ES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220B9C7-2D6E-45FE-A4EE-F3F539D5CF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870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0003-7E81-495E-BC4F-F34B3A34BD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sz="6000" dirty="0"/>
              <a:t>APROXIMACIÓN CONCEPTUAL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A0D10-3DEF-4958-980F-7EEAFBA16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758" y="4599498"/>
            <a:ext cx="7107331" cy="1182177"/>
          </a:xfrm>
        </p:spPr>
        <p:txBody>
          <a:bodyPr>
            <a:normAutofit/>
          </a:bodyPr>
          <a:lstStyle/>
          <a:p>
            <a:r>
              <a:rPr lang="es-ES" sz="3200" dirty="0"/>
              <a:t>E</a:t>
            </a:r>
            <a:r>
              <a:rPr lang="es-CO" sz="3200" dirty="0"/>
              <a:t>s un término polisémico.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FA8D38-F7F4-4B0B-816A-49D4A9FA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230430-071C-415E-B518-A2A53527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7</a:t>
            </a:fld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D4C3DAA-010B-4CE5-9EE9-2245700B0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2022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8455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BAB4F-E3AB-422D-BA40-69632761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885D72-6AAA-4B35-A7F6-62BF72311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409" y="1257300"/>
            <a:ext cx="5228216" cy="4453690"/>
          </a:xfrm>
        </p:spPr>
        <p:txBody>
          <a:bodyPr>
            <a:noAutofit/>
          </a:bodyPr>
          <a:lstStyle/>
          <a:p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El Diccionario de la Real Academia Española (2021), define evaluar como: “Señalar el valor de algo… Estimar, apreciar, calcular el valor de algo… Estimar los conocimientos, aptitudes y rendimiento de los alumnos”. </a:t>
            </a:r>
            <a:endParaRPr kumimoji="0" lang="es-ES" sz="32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FF628B-DE5C-43D9-AA36-4CC2250FB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024C7B-1825-40CD-B88F-88C4B545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8</a:t>
            </a:fld>
            <a:endParaRPr lang="es-ES" noProof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8F92794E-00DB-4C2F-B9F4-2C36FBFE60D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Evaluar es valorar</a:t>
            </a:r>
            <a:endParaRPr lang="es-CO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1D719D0E-9C0D-4130-A2A4-9927706161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5211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DFA0C2-44D2-4952-9E9B-3AE5A9CFD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La evaluación como valoración, retoma su </a:t>
            </a:r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importancia y utilidad</a:t>
            </a:r>
            <a:r>
              <a:rPr lang="es-ES" sz="2400" dirty="0"/>
              <a:t>, cuando ésta </a:t>
            </a:r>
            <a:r>
              <a:rPr lang="es-ES" sz="2400" u="sng" dirty="0"/>
              <a:t>satisface necesidades reales</a:t>
            </a:r>
            <a:r>
              <a:rPr lang="es-ES" sz="2400" dirty="0"/>
              <a:t> en los individuos y les </a:t>
            </a:r>
            <a:r>
              <a:rPr lang="es-ES" sz="2400" u="sng" dirty="0"/>
              <a:t>proporciona bienestar o deleite</a:t>
            </a:r>
            <a:r>
              <a:rPr lang="es-ES" sz="2400" dirty="0"/>
              <a:t> (Valenzuela, 2009). </a:t>
            </a:r>
            <a:endParaRPr lang="es-CO" sz="24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506D62-9674-42F4-9654-564852A3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A18205-2368-4BA3-B380-49984E61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9</a:t>
            </a:fld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19D0E04-7069-4DBD-822A-D9CD10A997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026" name="Picture 2" descr="Retrato de un personal de negocios casual mirando a la computadora portátil en el lugar de trabajo.">
            <a:extLst>
              <a:ext uri="{FF2B5EF4-FFF2-40B4-BE49-F238E27FC236}">
                <a16:creationId xmlns:a16="http://schemas.microsoft.com/office/drawing/2014/main" id="{DF2B13EF-4742-4254-8054-4D08C04B5619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48" b="2384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00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86562-992E-489C-B0ED-6940FB82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EDUCACIÓN TRADICIONAL</a:t>
            </a:r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81F851B-796F-4004-8B7C-B973F8C0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358ABC-E756-475B-8AC0-979370BD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10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176B69-0E17-4EE8-8143-F2F83D1F31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  <p:sp>
        <p:nvSpPr>
          <p:cNvPr id="7" name="1 Rectángulo">
            <a:extLst>
              <a:ext uri="{FF2B5EF4-FFF2-40B4-BE49-F238E27FC236}">
                <a16:creationId xmlns:a16="http://schemas.microsoft.com/office/drawing/2014/main" id="{89CE9984-5ADF-4A70-BB19-A1224471B9E2}"/>
              </a:ext>
            </a:extLst>
          </p:cNvPr>
          <p:cNvSpPr/>
          <p:nvPr/>
        </p:nvSpPr>
        <p:spPr>
          <a:xfrm>
            <a:off x="251519" y="1700808"/>
            <a:ext cx="1134143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200" dirty="0"/>
              <a:t>.</a:t>
            </a:r>
          </a:p>
          <a:p>
            <a:endParaRPr lang="es-ES" sz="3200" dirty="0"/>
          </a:p>
        </p:txBody>
      </p:sp>
      <p:sp>
        <p:nvSpPr>
          <p:cNvPr id="9" name="3 Flecha derecha">
            <a:extLst>
              <a:ext uri="{FF2B5EF4-FFF2-40B4-BE49-F238E27FC236}">
                <a16:creationId xmlns:a16="http://schemas.microsoft.com/office/drawing/2014/main" id="{A0BADE42-7836-4DEC-99D6-49331286DDAB}"/>
              </a:ext>
            </a:extLst>
          </p:cNvPr>
          <p:cNvSpPr/>
          <p:nvPr/>
        </p:nvSpPr>
        <p:spPr>
          <a:xfrm>
            <a:off x="3410769" y="5301208"/>
            <a:ext cx="1152128" cy="628648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4 Flecha derecha">
            <a:extLst>
              <a:ext uri="{FF2B5EF4-FFF2-40B4-BE49-F238E27FC236}">
                <a16:creationId xmlns:a16="http://schemas.microsoft.com/office/drawing/2014/main" id="{80777F03-4534-44C6-A598-6AB0529566EA}"/>
              </a:ext>
            </a:extLst>
          </p:cNvPr>
          <p:cNvSpPr/>
          <p:nvPr/>
        </p:nvSpPr>
        <p:spPr>
          <a:xfrm>
            <a:off x="4859313" y="5301208"/>
            <a:ext cx="1152128" cy="628648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5 Flecha derecha">
            <a:extLst>
              <a:ext uri="{FF2B5EF4-FFF2-40B4-BE49-F238E27FC236}">
                <a16:creationId xmlns:a16="http://schemas.microsoft.com/office/drawing/2014/main" id="{4277055A-5205-4B86-A83E-51E51B682D12}"/>
              </a:ext>
            </a:extLst>
          </p:cNvPr>
          <p:cNvSpPr/>
          <p:nvPr/>
        </p:nvSpPr>
        <p:spPr>
          <a:xfrm>
            <a:off x="6155457" y="5301208"/>
            <a:ext cx="1152128" cy="628648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6 Flecha derecha">
            <a:extLst>
              <a:ext uri="{FF2B5EF4-FFF2-40B4-BE49-F238E27FC236}">
                <a16:creationId xmlns:a16="http://schemas.microsoft.com/office/drawing/2014/main" id="{D02F36A0-8D2D-4729-BFF0-74A5CA54E6DE}"/>
              </a:ext>
            </a:extLst>
          </p:cNvPr>
          <p:cNvSpPr/>
          <p:nvPr/>
        </p:nvSpPr>
        <p:spPr>
          <a:xfrm>
            <a:off x="7493893" y="5301208"/>
            <a:ext cx="1152128" cy="628648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7 Rectángulo redondeado">
            <a:extLst>
              <a:ext uri="{FF2B5EF4-FFF2-40B4-BE49-F238E27FC236}">
                <a16:creationId xmlns:a16="http://schemas.microsoft.com/office/drawing/2014/main" id="{2FC755AF-B677-4E59-9256-C21E8CACC114}"/>
              </a:ext>
            </a:extLst>
          </p:cNvPr>
          <p:cNvSpPr/>
          <p:nvPr/>
        </p:nvSpPr>
        <p:spPr>
          <a:xfrm>
            <a:off x="8801844" y="5229200"/>
            <a:ext cx="2088232" cy="914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ln w="31550" cmpd="sng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</a:rPr>
              <a:t>EVALUACIÓN</a:t>
            </a:r>
            <a:endParaRPr lang="es-ES" dirty="0">
              <a:ln w="31550" cmpd="sng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14" name="8 CuadroTexto">
            <a:extLst>
              <a:ext uri="{FF2B5EF4-FFF2-40B4-BE49-F238E27FC236}">
                <a16:creationId xmlns:a16="http://schemas.microsoft.com/office/drawing/2014/main" id="{D89B6BC9-21E1-4BD4-9829-08132F31782E}"/>
              </a:ext>
            </a:extLst>
          </p:cNvPr>
          <p:cNvSpPr txBox="1"/>
          <p:nvPr/>
        </p:nvSpPr>
        <p:spPr>
          <a:xfrm>
            <a:off x="1364804" y="5459313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rgbClr val="FFC000"/>
                </a:solidFill>
              </a:rPr>
              <a:t>OBJETIVOS</a:t>
            </a:r>
            <a:endParaRPr lang="es-ES" sz="2400" b="1" dirty="0">
              <a:solidFill>
                <a:srgbClr val="FFC000"/>
              </a:solidFill>
            </a:endParaRP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33520735-0C70-4E4F-9DF5-2B746EC0C4BE}"/>
              </a:ext>
            </a:extLst>
          </p:cNvPr>
          <p:cNvSpPr txBox="1"/>
          <p:nvPr/>
        </p:nvSpPr>
        <p:spPr>
          <a:xfrm>
            <a:off x="8850610" y="4715852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rgbClr val="FFC000"/>
                </a:solidFill>
              </a:rPr>
              <a:t>RESULTADOS</a:t>
            </a:r>
            <a:endParaRPr lang="es-ES" sz="2400" b="1" dirty="0">
              <a:solidFill>
                <a:srgbClr val="FFC000"/>
              </a:solidFill>
            </a:endParaRPr>
          </a:p>
        </p:txBody>
      </p:sp>
      <p:sp>
        <p:nvSpPr>
          <p:cNvPr id="16" name="10 CuadroTexto">
            <a:extLst>
              <a:ext uri="{FF2B5EF4-FFF2-40B4-BE49-F238E27FC236}">
                <a16:creationId xmlns:a16="http://schemas.microsoft.com/office/drawing/2014/main" id="{A207C513-7C35-45FA-BECE-E0501A6A112A}"/>
              </a:ext>
            </a:extLst>
          </p:cNvPr>
          <p:cNvSpPr txBox="1"/>
          <p:nvPr/>
        </p:nvSpPr>
        <p:spPr>
          <a:xfrm>
            <a:off x="3267868" y="4464918"/>
            <a:ext cx="4637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rgbClr val="FFC000"/>
                </a:solidFill>
              </a:rPr>
              <a:t>PROCESO DIDÁCTICO</a:t>
            </a:r>
            <a:endParaRPr lang="es-ES" sz="2400" b="1" dirty="0">
              <a:solidFill>
                <a:srgbClr val="FFC00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617FA57-DF2B-4136-A207-41F094E0A15D}"/>
              </a:ext>
            </a:extLst>
          </p:cNvPr>
          <p:cNvSpPr txBox="1"/>
          <p:nvPr/>
        </p:nvSpPr>
        <p:spPr>
          <a:xfrm>
            <a:off x="928800" y="2014061"/>
            <a:ext cx="97487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</a:rPr>
              <a:t>Perea (2004) dice que desde la perspectiva del sistema tradicional de enseñanza, la evaluación viene a constituirse en un elemento, de la </a:t>
            </a:r>
            <a:r>
              <a:rPr lang="es-ES" sz="2800" b="1" u="sng" dirty="0">
                <a:solidFill>
                  <a:schemeClr val="bg1"/>
                </a:solidFill>
              </a:rPr>
              <a:t>última etapa del proceso didáctico</a:t>
            </a:r>
            <a:r>
              <a:rPr lang="es-ES" sz="2800" b="1" dirty="0">
                <a:solidFill>
                  <a:schemeClr val="bg1"/>
                </a:solidFill>
              </a:rPr>
              <a:t>, en la que se trata de determinar la naturaleza de los </a:t>
            </a:r>
            <a:r>
              <a:rPr lang="es-ES" sz="2800" b="1" u="sng" dirty="0">
                <a:solidFill>
                  <a:schemeClr val="bg1"/>
                </a:solidFill>
              </a:rPr>
              <a:t>resultados</a:t>
            </a:r>
            <a:r>
              <a:rPr lang="es-ES" sz="2800" b="1" dirty="0">
                <a:solidFill>
                  <a:schemeClr val="bg1"/>
                </a:solidFill>
              </a:rPr>
              <a:t>, comparados con los </a:t>
            </a:r>
            <a:r>
              <a:rPr lang="es-ES" sz="2800" b="1" u="sng" dirty="0">
                <a:solidFill>
                  <a:schemeClr val="bg1"/>
                </a:solidFill>
              </a:rPr>
              <a:t>objetivos</a:t>
            </a:r>
            <a:r>
              <a:rPr lang="es-ES" sz="2800" b="1" dirty="0">
                <a:solidFill>
                  <a:schemeClr val="bg1"/>
                </a:solidFill>
              </a:rPr>
              <a:t> que se habían fijado.</a:t>
            </a:r>
            <a:endParaRPr lang="es-CO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22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15190-E26E-4E52-B02D-2C931B0F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826F79-7FD1-4CF2-9821-A8EBF5C5E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sz="32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“Es el proceso permanente y objetivo para valorar el nivel de desempeño de los estudiantes”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sz="32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(Decreto 1290, Artículo 1) </a:t>
            </a:r>
            <a:endParaRPr kumimoji="0" lang="es-ES" sz="32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97126C-0C04-4470-A764-BE865C4A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F6022A-6D0D-44CF-9415-9720AF37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11</a:t>
            </a:fld>
            <a:endParaRPr lang="es-ES" noProof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93E96C11-605A-4020-B2F1-58A83F94582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¿Qué es para el MEN?</a:t>
            </a:r>
            <a:endParaRPr lang="es-CO" sz="3200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6EB16EE-2664-4478-A702-64731DBA68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02988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04D473-E408-4B61-8D0C-414B7B99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2477D1-EA77-4ADA-951D-059F5DF0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12</a:t>
            </a:fld>
            <a:endParaRPr lang="es-ES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DC5EC4C-74E1-42F1-86DD-3D5D46E631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  <p:pic>
        <p:nvPicPr>
          <p:cNvPr id="8" name="Picture 2" descr="http://2.bp.blogspot.com/-DPH1utBE44k/TgZLpfS8W2I/AAAAAAAADc8/z8pOkDUnL7I/s1600/evaluacion.gif">
            <a:extLst>
              <a:ext uri="{FF2B5EF4-FFF2-40B4-BE49-F238E27FC236}">
                <a16:creationId xmlns:a16="http://schemas.microsoft.com/office/drawing/2014/main" id="{D3A239B0-E311-4877-A2B3-0319776ACF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399" y="419100"/>
            <a:ext cx="7562851" cy="51419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61417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0003-7E81-495E-BC4F-F34B3A34B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758" y="2124076"/>
            <a:ext cx="7107331" cy="2128554"/>
          </a:xfrm>
        </p:spPr>
        <p:txBody>
          <a:bodyPr>
            <a:noAutofit/>
          </a:bodyPr>
          <a:lstStyle/>
          <a:p>
            <a:r>
              <a:rPr lang="es-ES" sz="4800" dirty="0"/>
              <a:t>PRINCIPIOS DE LA EVALUACIÓN</a:t>
            </a:r>
            <a:endParaRPr lang="es-CO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A0D10-3DEF-4958-980F-7EEAFBA16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758" y="4599498"/>
            <a:ext cx="7107331" cy="1182177"/>
          </a:xfrm>
        </p:spPr>
        <p:txBody>
          <a:bodyPr>
            <a:normAutofit/>
          </a:bodyPr>
          <a:lstStyle/>
          <a:p>
            <a:r>
              <a:rPr lang="es-CO" sz="3200" b="1" dirty="0"/>
              <a:t>Los principios o</a:t>
            </a:r>
            <a:r>
              <a:rPr lang="es-CO" sz="3200" dirty="0"/>
              <a:t>rientan</a:t>
            </a:r>
            <a:r>
              <a:rPr lang="es-ES" sz="3200" dirty="0"/>
              <a:t> la práctica evaluativa.</a:t>
            </a:r>
            <a:endParaRPr lang="es-ES" sz="3200" b="1" dirty="0"/>
          </a:p>
          <a:p>
            <a:endParaRPr lang="es-CO" sz="32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FA8D38-F7F4-4B0B-816A-49D4A9FA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230430-071C-415E-B518-A2A53527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13</a:t>
            </a:fld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D4C3DAA-010B-4CE5-9EE9-2245700B0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2022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6519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0" y="184638"/>
            <a:ext cx="7186500" cy="1119506"/>
          </a:xfrm>
        </p:spPr>
        <p:txBody>
          <a:bodyPr rtlCol="0"/>
          <a:lstStyle/>
          <a:p>
            <a:pPr rtl="0"/>
            <a:r>
              <a:rPr lang="es-ES" sz="3600" dirty="0"/>
              <a:t>PRINCIPIOS DE LA EVALUACIÓN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109BBFAA-ECE3-46DC-A227-38CCA1EED110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 rtlCol="0"/>
          <a:lstStyle/>
          <a:p>
            <a:pPr rtl="0"/>
            <a:r>
              <a:rPr lang="es-ES" dirty="0"/>
              <a:t>Principio 1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0104A1-25DB-4A49-B257-40CF6B30A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ES" dirty="0"/>
              <a:t>Fundamentos teóricos de la Evaluación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smtClean="0"/>
              <a:pPr rtl="0"/>
              <a:t>14</a:t>
            </a:fld>
            <a:endParaRPr lang="es-ES"/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5BD9075D-1F42-4726-8EC6-EE8B416392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/>
              <a:t>2021</a:t>
            </a:r>
          </a:p>
        </p:txBody>
      </p:sp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0AC0E371-764C-41CA-9680-267350C7EE1C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 rtlCol="0"/>
          <a:lstStyle/>
          <a:p>
            <a:pPr rtl="0"/>
            <a:r>
              <a:rPr lang="es-ES" dirty="0"/>
              <a:t>Principio 2</a:t>
            </a:r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95712C8D-157C-4EF1-B565-889F5684F1B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 rtlCol="0"/>
          <a:lstStyle/>
          <a:p>
            <a:pPr rtl="0"/>
            <a:r>
              <a:rPr lang="es-ES" dirty="0"/>
              <a:t>Principio 3</a:t>
            </a:r>
          </a:p>
        </p:txBody>
      </p:sp>
      <p:sp>
        <p:nvSpPr>
          <p:cNvPr id="32" name="Marcador de texto 31">
            <a:extLst>
              <a:ext uri="{FF2B5EF4-FFF2-40B4-BE49-F238E27FC236}">
                <a16:creationId xmlns:a16="http://schemas.microsoft.com/office/drawing/2014/main" id="{188B3941-E817-44DE-8D5A-DCA0DAB61823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 rtlCol="0"/>
          <a:lstStyle/>
          <a:p>
            <a:pPr rtl="0"/>
            <a:r>
              <a:rPr lang="es-ES" dirty="0"/>
              <a:t>Principio 4</a:t>
            </a:r>
          </a:p>
        </p:txBody>
      </p:sp>
      <p:sp>
        <p:nvSpPr>
          <p:cNvPr id="33" name="Marcador de texto 32">
            <a:extLst>
              <a:ext uri="{FF2B5EF4-FFF2-40B4-BE49-F238E27FC236}">
                <a16:creationId xmlns:a16="http://schemas.microsoft.com/office/drawing/2014/main" id="{20613223-43E0-4B37-AFB8-C0C5F47750A5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 rtlCol="0"/>
          <a:lstStyle/>
          <a:p>
            <a:pPr rtl="0"/>
            <a:r>
              <a:rPr lang="es-ES" dirty="0"/>
              <a:t>Principio 5</a:t>
            </a:r>
          </a:p>
        </p:txBody>
      </p:sp>
      <p:sp>
        <p:nvSpPr>
          <p:cNvPr id="34" name="Marcador de texto 33">
            <a:extLst>
              <a:ext uri="{FF2B5EF4-FFF2-40B4-BE49-F238E27FC236}">
                <a16:creationId xmlns:a16="http://schemas.microsoft.com/office/drawing/2014/main" id="{3C4E060E-0CFB-411A-B226-CDA349703288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 rtlCol="0"/>
          <a:lstStyle/>
          <a:p>
            <a:pPr rtl="0"/>
            <a:r>
              <a:rPr lang="es-ES" dirty="0"/>
              <a:t>Principio 6</a:t>
            </a:r>
          </a:p>
        </p:txBody>
      </p:sp>
      <p:sp>
        <p:nvSpPr>
          <p:cNvPr id="35" name="Marcador de texto 34">
            <a:extLst>
              <a:ext uri="{FF2B5EF4-FFF2-40B4-BE49-F238E27FC236}">
                <a16:creationId xmlns:a16="http://schemas.microsoft.com/office/drawing/2014/main" id="{736BA5EA-18C4-4263-BDB0-C57CB168D0AF}"/>
              </a:ext>
            </a:extLst>
          </p:cNvPr>
          <p:cNvSpPr>
            <a:spLocks noGrp="1"/>
          </p:cNvSpPr>
          <p:nvPr>
            <p:ph type="body" sz="half" idx="2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1600" dirty="0"/>
              <a:t>Forma parte del proceso didáctico</a:t>
            </a:r>
            <a:endParaRPr lang="es-ES" dirty="0"/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69F05205-BC24-4284-BB47-960282D011ED}"/>
              </a:ext>
            </a:extLst>
          </p:cNvPr>
          <p:cNvSpPr>
            <a:spLocks noGrp="1"/>
          </p:cNvSpPr>
          <p:nvPr>
            <p:ph type="body" sz="half" idx="22"/>
          </p:nvPr>
        </p:nvSpPr>
        <p:spPr/>
        <p:txBody>
          <a:bodyPr rtlCol="0">
            <a:normAutofit/>
          </a:bodyPr>
          <a:lstStyle/>
          <a:p>
            <a:r>
              <a:rPr lang="es-ES" sz="1600" dirty="0"/>
              <a:t>Es un medio y nunca un fin.</a:t>
            </a:r>
          </a:p>
        </p:txBody>
      </p:sp>
      <p:sp>
        <p:nvSpPr>
          <p:cNvPr id="37" name="Marcador de texto 36">
            <a:extLst>
              <a:ext uri="{FF2B5EF4-FFF2-40B4-BE49-F238E27FC236}">
                <a16:creationId xmlns:a16="http://schemas.microsoft.com/office/drawing/2014/main" id="{D78092F6-F4AA-40B6-B5DE-CEA37AB1A9D2}"/>
              </a:ext>
            </a:extLst>
          </p:cNvPr>
          <p:cNvSpPr>
            <a:spLocks noGrp="1"/>
          </p:cNvSpPr>
          <p:nvPr>
            <p:ph type="body" sz="half" idx="23"/>
          </p:nvPr>
        </p:nvSpPr>
        <p:spPr/>
        <p:txBody>
          <a:bodyPr rtlCol="0">
            <a:normAutofit/>
          </a:bodyPr>
          <a:lstStyle/>
          <a:p>
            <a:r>
              <a:rPr lang="es-ES" sz="1600" dirty="0"/>
              <a:t>Proceso continuo de valoración.</a:t>
            </a:r>
          </a:p>
        </p:txBody>
      </p:sp>
      <p:sp>
        <p:nvSpPr>
          <p:cNvPr id="38" name="Marcador de texto 37">
            <a:extLst>
              <a:ext uri="{FF2B5EF4-FFF2-40B4-BE49-F238E27FC236}">
                <a16:creationId xmlns:a16="http://schemas.microsoft.com/office/drawing/2014/main" id="{4EC928A2-6A4A-452E-8823-81F26EA40C9C}"/>
              </a:ext>
            </a:extLst>
          </p:cNvPr>
          <p:cNvSpPr>
            <a:spLocks noGrp="1"/>
          </p:cNvSpPr>
          <p:nvPr>
            <p:ph type="body" sz="half" idx="24"/>
          </p:nvPr>
        </p:nvSpPr>
        <p:spPr/>
        <p:txBody>
          <a:bodyPr rtlCol="0">
            <a:normAutofit fontScale="92500"/>
          </a:bodyPr>
          <a:lstStyle/>
          <a:p>
            <a:r>
              <a:rPr lang="es-ES" sz="1600" dirty="0"/>
              <a:t>Debe fundamentarse en unos criterios. </a:t>
            </a:r>
          </a:p>
        </p:txBody>
      </p:sp>
      <p:sp>
        <p:nvSpPr>
          <p:cNvPr id="39" name="Marcador de texto 38">
            <a:extLst>
              <a:ext uri="{FF2B5EF4-FFF2-40B4-BE49-F238E27FC236}">
                <a16:creationId xmlns:a16="http://schemas.microsoft.com/office/drawing/2014/main" id="{0388AEE0-2630-4EEB-80E0-53D74792BE97}"/>
              </a:ext>
            </a:extLst>
          </p:cNvPr>
          <p:cNvSpPr>
            <a:spLocks noGrp="1"/>
          </p:cNvSpPr>
          <p:nvPr>
            <p:ph type="body" sz="half" idx="25"/>
          </p:nvPr>
        </p:nvSpPr>
        <p:spPr/>
        <p:txBody>
          <a:bodyPr rtlCol="0">
            <a:normAutofit fontScale="92500" lnSpcReduction="20000"/>
          </a:bodyPr>
          <a:lstStyle/>
          <a:p>
            <a:pPr rtl="0"/>
            <a:r>
              <a:rPr lang="es-ES" dirty="0"/>
              <a:t>Adaptarse al centro educativo y al estudiante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F5F658D4-342A-4944-98F5-EC1761CC401B}"/>
              </a:ext>
            </a:extLst>
          </p:cNvPr>
          <p:cNvSpPr>
            <a:spLocks noGrp="1"/>
          </p:cNvSpPr>
          <p:nvPr>
            <p:ph type="body" sz="half" idx="26"/>
          </p:nvPr>
        </p:nvSpPr>
        <p:spPr/>
        <p:txBody>
          <a:bodyPr rtlCol="0">
            <a:normAutofit fontScale="92500" lnSpcReduction="20000"/>
          </a:bodyPr>
          <a:lstStyle/>
          <a:p>
            <a:pPr rtl="0"/>
            <a:r>
              <a:rPr lang="es-ES" dirty="0"/>
              <a:t>Debe ser total, evalúa todo lo que condiciona el hecho educativo </a:t>
            </a:r>
          </a:p>
        </p:txBody>
      </p:sp>
      <p:pic>
        <p:nvPicPr>
          <p:cNvPr id="51" name="Marcador de posición de imagen 50" descr="Trabajo escrito">
            <a:extLst>
              <a:ext uri="{FF2B5EF4-FFF2-40B4-BE49-F238E27FC236}">
                <a16:creationId xmlns:a16="http://schemas.microsoft.com/office/drawing/2014/main" id="{FFC09231-9C4D-4246-A535-C3690719498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28940" y="1757980"/>
            <a:ext cx="862926" cy="864000"/>
          </a:xfrm>
        </p:spPr>
      </p:pic>
      <p:pic>
        <p:nvPicPr>
          <p:cNvPr id="59" name="Marcador de posición de imagen 58" descr="Cronómetro">
            <a:extLst>
              <a:ext uri="{FF2B5EF4-FFF2-40B4-BE49-F238E27FC236}">
                <a16:creationId xmlns:a16="http://schemas.microsoft.com/office/drawing/2014/main" id="{254CDD44-0160-47AE-934F-2D936D20C7FF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/>
      </p:pic>
      <p:pic>
        <p:nvPicPr>
          <p:cNvPr id="61" name="Marcador de posición de imagen 60" descr="Objetivo">
            <a:extLst>
              <a:ext uri="{FF2B5EF4-FFF2-40B4-BE49-F238E27FC236}">
                <a16:creationId xmlns:a16="http://schemas.microsoft.com/office/drawing/2014/main" id="{ED39021A-AD0E-4A23-A73D-402E0578804C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/>
      </p:pic>
      <p:pic>
        <p:nvPicPr>
          <p:cNvPr id="71" name="Marcador de posición de imagen 70" descr="Lista de comprobación RTL">
            <a:extLst>
              <a:ext uri="{FF2B5EF4-FFF2-40B4-BE49-F238E27FC236}">
                <a16:creationId xmlns:a16="http://schemas.microsoft.com/office/drawing/2014/main" id="{76E10F36-72C7-48D2-92C9-EB0F25D8477E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4432166" y="1757980"/>
            <a:ext cx="867600" cy="868680"/>
          </a:xfrm>
        </p:spPr>
      </p:pic>
      <p:pic>
        <p:nvPicPr>
          <p:cNvPr id="73" name="Marcador de posición de imagen 72" descr="Lista">
            <a:extLst>
              <a:ext uri="{FF2B5EF4-FFF2-40B4-BE49-F238E27FC236}">
                <a16:creationId xmlns:a16="http://schemas.microsoft.com/office/drawing/2014/main" id="{840D31A1-AED1-47FF-A23F-DF37F6745DEF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7967476" y="1757980"/>
            <a:ext cx="867600" cy="868680"/>
          </a:xfrm>
        </p:spPr>
      </p:pic>
      <p:pic>
        <p:nvPicPr>
          <p:cNvPr id="77" name="Marcador de posición de imagen 76" descr="Diana">
            <a:extLst>
              <a:ext uri="{FF2B5EF4-FFF2-40B4-BE49-F238E27FC236}">
                <a16:creationId xmlns:a16="http://schemas.microsoft.com/office/drawing/2014/main" id="{97C0FBD8-CC2C-4B3C-BEA4-C0AF2C3DED1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43801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0003-7E81-495E-BC4F-F34B3A34B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758" y="2124076"/>
            <a:ext cx="7107331" cy="2128554"/>
          </a:xfrm>
        </p:spPr>
        <p:txBody>
          <a:bodyPr>
            <a:noAutofit/>
          </a:bodyPr>
          <a:lstStyle/>
          <a:p>
            <a:r>
              <a:rPr lang="es-ES" sz="4800" dirty="0"/>
              <a:t>ANTECEDENTES HISTÓRICOS DE LA EVALUACIÓN</a:t>
            </a:r>
            <a:endParaRPr lang="es-CO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A0D10-3DEF-4958-980F-7EEAFBA16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758" y="4599498"/>
            <a:ext cx="7107331" cy="1182177"/>
          </a:xfrm>
        </p:spPr>
        <p:txBody>
          <a:bodyPr>
            <a:normAutofit/>
          </a:bodyPr>
          <a:lstStyle/>
          <a:p>
            <a:r>
              <a:rPr lang="es-CO" sz="3200" b="1" dirty="0"/>
              <a:t>“El pueblo que no conoce su historia está condenado a repetir sus errores”. </a:t>
            </a:r>
            <a:endParaRPr lang="es-ES" sz="3200" b="1" dirty="0"/>
          </a:p>
          <a:p>
            <a:endParaRPr lang="es-CO" sz="32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FA8D38-F7F4-4B0B-816A-49D4A9FA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230430-071C-415E-B518-A2A53527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15</a:t>
            </a:fld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D4C3DAA-010B-4CE5-9EE9-2245700B0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2022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90539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40352-B4DC-43F6-9160-323E3609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SOCIODRAMA: EVOLUCIÓN HISTÓRICA DE LA EVALUACIÓN</a:t>
            </a:r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E7207C-382E-44B7-AC25-13B31B9D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D0B995-7CC7-4711-96A1-AF37F86E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16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AFE262-7689-4542-9ABD-AD1E37D59A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971EBB9-DE88-4742-A1B1-D0FC06BF1EBB}"/>
              </a:ext>
            </a:extLst>
          </p:cNvPr>
          <p:cNvSpPr txBox="1"/>
          <p:nvPr/>
        </p:nvSpPr>
        <p:spPr>
          <a:xfrm>
            <a:off x="1123950" y="1859340"/>
            <a:ext cx="9829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8872" indent="0">
              <a:buNone/>
            </a:pPr>
            <a:r>
              <a:rPr lang="es-ES" sz="2800" b="1" dirty="0">
                <a:solidFill>
                  <a:schemeClr val="bg1"/>
                </a:solidFill>
              </a:rPr>
              <a:t>1. Escenificar creativa y críticamente las evoluciones históricas de la evaluación.</a:t>
            </a:r>
          </a:p>
          <a:p>
            <a:pPr marL="118872" indent="0">
              <a:buNone/>
            </a:pPr>
            <a:r>
              <a:rPr lang="es-ES" sz="2800" b="1" dirty="0">
                <a:solidFill>
                  <a:schemeClr val="bg1"/>
                </a:solidFill>
              </a:rPr>
              <a:t>2. Escoja el momento o los momentos de la evolución histórica de la evaluación (Libro texto: páginas 9-16 y Unidad 1: pp. 4-6).</a:t>
            </a:r>
          </a:p>
          <a:p>
            <a:pPr marL="118872" indent="0">
              <a:buNone/>
            </a:pPr>
            <a:r>
              <a:rPr lang="es-ES" sz="2800" b="1" dirty="0">
                <a:solidFill>
                  <a:schemeClr val="bg1"/>
                </a:solidFill>
              </a:rPr>
              <a:t>3.  Escenifique grupalmente de modo creativo, original y crítico  el hecho histórico de la evaluación.</a:t>
            </a:r>
          </a:p>
          <a:p>
            <a:pPr marL="118872" indent="0">
              <a:buNone/>
            </a:pPr>
            <a:r>
              <a:rPr lang="es-ES" sz="2800" b="1" dirty="0">
                <a:solidFill>
                  <a:schemeClr val="bg1"/>
                </a:solidFill>
              </a:rPr>
              <a:t>4. El drama debe presentar una comprensión clara del momento histórico de la evaluación. </a:t>
            </a:r>
          </a:p>
          <a:p>
            <a:pPr marL="118872" indent="0">
              <a:buNone/>
            </a:pPr>
            <a:r>
              <a:rPr lang="es-ES" sz="2800" b="1" dirty="0">
                <a:solidFill>
                  <a:schemeClr val="bg1"/>
                </a:solidFill>
              </a:rPr>
              <a:t>5. Dejen un mensaje o una valoración del momento histórico.</a:t>
            </a:r>
            <a:endParaRPr lang="es-CO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88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0003-7E81-495E-BC4F-F34B3A34B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758" y="2124076"/>
            <a:ext cx="7107331" cy="2128554"/>
          </a:xfrm>
        </p:spPr>
        <p:txBody>
          <a:bodyPr>
            <a:noAutofit/>
          </a:bodyPr>
          <a:lstStyle/>
          <a:p>
            <a:r>
              <a:rPr lang="es-CO" sz="4800" dirty="0"/>
              <a:t>ESTRUCTURAS DE LA EVALUACIÓN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A0D10-3DEF-4958-980F-7EEAFBA16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758" y="4599498"/>
            <a:ext cx="7107331" cy="1182177"/>
          </a:xfrm>
        </p:spPr>
        <p:txBody>
          <a:bodyPr>
            <a:normAutofit/>
          </a:bodyPr>
          <a:lstStyle/>
          <a:p>
            <a:r>
              <a:rPr lang="es-ES" sz="3200" dirty="0"/>
              <a:t>La evaluación como proceso sistemático, tiene una estructura  básica.</a:t>
            </a:r>
            <a:endParaRPr lang="es-CO" sz="3200" b="1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FA8D38-F7F4-4B0B-816A-49D4A9FA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230430-071C-415E-B518-A2A53527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17</a:t>
            </a:fld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D4C3DAA-010B-4CE5-9EE9-2245700B0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2022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25772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E7207C-382E-44B7-AC25-13B31B9D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4873" y="6000750"/>
            <a:ext cx="3256673" cy="551913"/>
          </a:xfrm>
        </p:spPr>
        <p:txBody>
          <a:bodyPr/>
          <a:lstStyle/>
          <a:p>
            <a:r>
              <a:rPr lang="es-ES" sz="2000" dirty="0"/>
              <a:t>Fundamentos teóricos de la Evaluación</a:t>
            </a:r>
            <a:endParaRPr lang="es-ES" sz="2000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D0B995-7CC7-4711-96A1-AF37F86E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sz="2000" noProof="0" smtClean="0"/>
              <a:t>18</a:t>
            </a:fld>
            <a:endParaRPr lang="es-ES" sz="2000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AFE262-7689-4542-9ABD-AD1E37D59A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29925" y="904875"/>
            <a:ext cx="864430" cy="524297"/>
          </a:xfrm>
        </p:spPr>
        <p:txBody>
          <a:bodyPr>
            <a:noAutofit/>
          </a:bodyPr>
          <a:lstStyle/>
          <a:p>
            <a:r>
              <a:rPr lang="es-ES" sz="2000" dirty="0"/>
              <a:t>2021</a:t>
            </a:r>
            <a:endParaRPr lang="es-CO" sz="2000" dirty="0"/>
          </a:p>
        </p:txBody>
      </p:sp>
      <p:sp>
        <p:nvSpPr>
          <p:cNvPr id="9" name="4 Elipse">
            <a:extLst>
              <a:ext uri="{FF2B5EF4-FFF2-40B4-BE49-F238E27FC236}">
                <a16:creationId xmlns:a16="http://schemas.microsoft.com/office/drawing/2014/main" id="{F95E72C1-46DE-4E55-A40B-6D9B47689A44}"/>
              </a:ext>
            </a:extLst>
          </p:cNvPr>
          <p:cNvSpPr/>
          <p:nvPr/>
        </p:nvSpPr>
        <p:spPr>
          <a:xfrm>
            <a:off x="4555256" y="514772"/>
            <a:ext cx="2531343" cy="9144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EVALUACIÓN</a:t>
            </a:r>
            <a:endParaRPr lang="es-E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5 Flecha abajo">
            <a:extLst>
              <a:ext uri="{FF2B5EF4-FFF2-40B4-BE49-F238E27FC236}">
                <a16:creationId xmlns:a16="http://schemas.microsoft.com/office/drawing/2014/main" id="{0693EDE5-89BC-4FE2-BF20-554455B60DA8}"/>
              </a:ext>
            </a:extLst>
          </p:cNvPr>
          <p:cNvSpPr/>
          <p:nvPr/>
        </p:nvSpPr>
        <p:spPr>
          <a:xfrm>
            <a:off x="5635377" y="1450876"/>
            <a:ext cx="216024" cy="288032"/>
          </a:xfrm>
          <a:prstGeom prst="downArrow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/>
          </a:p>
        </p:txBody>
      </p:sp>
      <p:sp>
        <p:nvSpPr>
          <p:cNvPr id="11" name="6 Elipse">
            <a:extLst>
              <a:ext uri="{FF2B5EF4-FFF2-40B4-BE49-F238E27FC236}">
                <a16:creationId xmlns:a16="http://schemas.microsoft.com/office/drawing/2014/main" id="{C9E7AEFC-E9D7-4BD0-B9D8-7EB934823548}"/>
              </a:ext>
            </a:extLst>
          </p:cNvPr>
          <p:cNvSpPr/>
          <p:nvPr/>
        </p:nvSpPr>
        <p:spPr>
          <a:xfrm>
            <a:off x="4555257" y="1810916"/>
            <a:ext cx="2376264" cy="9144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 SISTEMÁTICO</a:t>
            </a:r>
            <a:endParaRPr lang="es-E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7 Elipse">
            <a:extLst>
              <a:ext uri="{FF2B5EF4-FFF2-40B4-BE49-F238E27FC236}">
                <a16:creationId xmlns:a16="http://schemas.microsoft.com/office/drawing/2014/main" id="{C95E9B57-E22B-43B8-A4FA-5CECB8B4F73E}"/>
              </a:ext>
            </a:extLst>
          </p:cNvPr>
          <p:cNvSpPr/>
          <p:nvPr/>
        </p:nvSpPr>
        <p:spPr>
          <a:xfrm>
            <a:off x="3043089" y="3107060"/>
            <a:ext cx="914400" cy="64807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tx1"/>
                </a:solidFill>
              </a:rPr>
              <a:t>1° fase</a:t>
            </a:r>
            <a:endParaRPr lang="es-ES" sz="2000" b="1" dirty="0">
              <a:solidFill>
                <a:schemeClr val="tx1"/>
              </a:solidFill>
            </a:endParaRPr>
          </a:p>
        </p:txBody>
      </p:sp>
      <p:sp>
        <p:nvSpPr>
          <p:cNvPr id="13" name="8 Elipse">
            <a:extLst>
              <a:ext uri="{FF2B5EF4-FFF2-40B4-BE49-F238E27FC236}">
                <a16:creationId xmlns:a16="http://schemas.microsoft.com/office/drawing/2014/main" id="{EEA5E368-334F-47CB-9DF7-93BF79E4B26E}"/>
              </a:ext>
            </a:extLst>
          </p:cNvPr>
          <p:cNvSpPr/>
          <p:nvPr/>
        </p:nvSpPr>
        <p:spPr>
          <a:xfrm>
            <a:off x="5347345" y="3035052"/>
            <a:ext cx="914400" cy="64807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2° fase</a:t>
            </a:r>
            <a:endParaRPr lang="es-E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9 Elipse">
            <a:extLst>
              <a:ext uri="{FF2B5EF4-FFF2-40B4-BE49-F238E27FC236}">
                <a16:creationId xmlns:a16="http://schemas.microsoft.com/office/drawing/2014/main" id="{E3EFF7E0-4B46-41B4-BD0E-201CD9D55E53}"/>
              </a:ext>
            </a:extLst>
          </p:cNvPr>
          <p:cNvSpPr/>
          <p:nvPr/>
        </p:nvSpPr>
        <p:spPr>
          <a:xfrm>
            <a:off x="7817321" y="3107060"/>
            <a:ext cx="914400" cy="64807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3° fase</a:t>
            </a:r>
            <a:endParaRPr lang="es-E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11 Conector recto de flecha">
            <a:extLst>
              <a:ext uri="{FF2B5EF4-FFF2-40B4-BE49-F238E27FC236}">
                <a16:creationId xmlns:a16="http://schemas.microsoft.com/office/drawing/2014/main" id="{A8CC833E-E979-4E72-A3E7-03D4F1DAA834}"/>
              </a:ext>
            </a:extLst>
          </p:cNvPr>
          <p:cNvCxnSpPr/>
          <p:nvPr/>
        </p:nvCxnSpPr>
        <p:spPr>
          <a:xfrm flipH="1">
            <a:off x="3500289" y="2725316"/>
            <a:ext cx="2243100" cy="38174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6" name="13 Conector recto de flecha">
            <a:extLst>
              <a:ext uri="{FF2B5EF4-FFF2-40B4-BE49-F238E27FC236}">
                <a16:creationId xmlns:a16="http://schemas.microsoft.com/office/drawing/2014/main" id="{AD6662A0-4021-4B6F-923C-BFB5340E0E04}"/>
              </a:ext>
            </a:extLst>
          </p:cNvPr>
          <p:cNvCxnSpPr/>
          <p:nvPr/>
        </p:nvCxnSpPr>
        <p:spPr>
          <a:xfrm>
            <a:off x="5779393" y="2708920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7" name="15 Conector recto de flecha">
            <a:extLst>
              <a:ext uri="{FF2B5EF4-FFF2-40B4-BE49-F238E27FC236}">
                <a16:creationId xmlns:a16="http://schemas.microsoft.com/office/drawing/2014/main" id="{5BD8C209-2499-42EA-BED5-78580812F6A0}"/>
              </a:ext>
            </a:extLst>
          </p:cNvPr>
          <p:cNvCxnSpPr/>
          <p:nvPr/>
        </p:nvCxnSpPr>
        <p:spPr>
          <a:xfrm>
            <a:off x="5743389" y="2725316"/>
            <a:ext cx="2459124" cy="381744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8" name="19 Conector recto de flecha">
            <a:extLst>
              <a:ext uri="{FF2B5EF4-FFF2-40B4-BE49-F238E27FC236}">
                <a16:creationId xmlns:a16="http://schemas.microsoft.com/office/drawing/2014/main" id="{502A4C0A-A73D-4D8D-8220-D795EF12E012}"/>
              </a:ext>
            </a:extLst>
          </p:cNvPr>
          <p:cNvCxnSpPr/>
          <p:nvPr/>
        </p:nvCxnSpPr>
        <p:spPr>
          <a:xfrm>
            <a:off x="3475137" y="3774182"/>
            <a:ext cx="0" cy="28803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9" name="20 Conector recto de flecha">
            <a:extLst>
              <a:ext uri="{FF2B5EF4-FFF2-40B4-BE49-F238E27FC236}">
                <a16:creationId xmlns:a16="http://schemas.microsoft.com/office/drawing/2014/main" id="{414ECB0C-CDC1-40B0-B265-1C010B6F4A08}"/>
              </a:ext>
            </a:extLst>
          </p:cNvPr>
          <p:cNvCxnSpPr/>
          <p:nvPr/>
        </p:nvCxnSpPr>
        <p:spPr>
          <a:xfrm>
            <a:off x="5851401" y="370217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20" name="21 Conector recto de flecha">
            <a:extLst>
              <a:ext uri="{FF2B5EF4-FFF2-40B4-BE49-F238E27FC236}">
                <a16:creationId xmlns:a16="http://schemas.microsoft.com/office/drawing/2014/main" id="{8CF08120-C60C-40F3-8C89-4450934E01B3}"/>
              </a:ext>
            </a:extLst>
          </p:cNvPr>
          <p:cNvCxnSpPr/>
          <p:nvPr/>
        </p:nvCxnSpPr>
        <p:spPr>
          <a:xfrm>
            <a:off x="8299673" y="3736082"/>
            <a:ext cx="0" cy="28803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21" name="22 CuadroTexto">
            <a:extLst>
              <a:ext uri="{FF2B5EF4-FFF2-40B4-BE49-F238E27FC236}">
                <a16:creationId xmlns:a16="http://schemas.microsoft.com/office/drawing/2014/main" id="{5CDD8661-BAF6-493D-A24B-28A7739FE509}"/>
              </a:ext>
            </a:extLst>
          </p:cNvPr>
          <p:cNvSpPr txBox="1"/>
          <p:nvPr/>
        </p:nvSpPr>
        <p:spPr>
          <a:xfrm>
            <a:off x="2636082" y="4115172"/>
            <a:ext cx="1732269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s-CO" sz="2000" b="1" dirty="0"/>
              <a:t>OBTENER</a:t>
            </a:r>
          </a:p>
          <a:p>
            <a:pPr algn="ctr"/>
            <a:r>
              <a:rPr lang="es-CO" sz="2000" b="1" dirty="0"/>
              <a:t>INFORMACIÓN</a:t>
            </a:r>
            <a:endParaRPr lang="es-ES" sz="2000" b="1" dirty="0"/>
          </a:p>
        </p:txBody>
      </p:sp>
      <p:sp>
        <p:nvSpPr>
          <p:cNvPr id="22" name="23 CuadroTexto">
            <a:extLst>
              <a:ext uri="{FF2B5EF4-FFF2-40B4-BE49-F238E27FC236}">
                <a16:creationId xmlns:a16="http://schemas.microsoft.com/office/drawing/2014/main" id="{AFE3F9B3-ED79-4E41-9A5E-D97AFF313BE4}"/>
              </a:ext>
            </a:extLst>
          </p:cNvPr>
          <p:cNvSpPr txBox="1"/>
          <p:nvPr/>
        </p:nvSpPr>
        <p:spPr>
          <a:xfrm>
            <a:off x="5059313" y="4116913"/>
            <a:ext cx="1728192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FORMULAR </a:t>
            </a:r>
          </a:p>
          <a:p>
            <a:pPr algn="ctr"/>
            <a:r>
              <a:rPr lang="es-CO" sz="2000" b="1" dirty="0"/>
              <a:t>JUICIOS</a:t>
            </a:r>
          </a:p>
        </p:txBody>
      </p:sp>
      <p:sp>
        <p:nvSpPr>
          <p:cNvPr id="23" name="24 CuadroTexto">
            <a:extLst>
              <a:ext uri="{FF2B5EF4-FFF2-40B4-BE49-F238E27FC236}">
                <a16:creationId xmlns:a16="http://schemas.microsoft.com/office/drawing/2014/main" id="{200E5218-51AF-478A-A57E-A2F9C0FC9AD3}"/>
              </a:ext>
            </a:extLst>
          </p:cNvPr>
          <p:cNvSpPr txBox="1"/>
          <p:nvPr/>
        </p:nvSpPr>
        <p:spPr>
          <a:xfrm>
            <a:off x="7570545" y="4115172"/>
            <a:ext cx="1665232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TOMAR</a:t>
            </a:r>
          </a:p>
          <a:p>
            <a:pPr algn="ctr"/>
            <a:r>
              <a:rPr lang="es-CO" sz="2000" b="1" dirty="0"/>
              <a:t>DECISIONES</a:t>
            </a:r>
            <a:endParaRPr lang="es-ES" sz="2000" b="1" dirty="0"/>
          </a:p>
        </p:txBody>
      </p:sp>
      <p:sp>
        <p:nvSpPr>
          <p:cNvPr id="24" name="25 Flecha curvada hacia arriba">
            <a:extLst>
              <a:ext uri="{FF2B5EF4-FFF2-40B4-BE49-F238E27FC236}">
                <a16:creationId xmlns:a16="http://schemas.microsoft.com/office/drawing/2014/main" id="{62C43EE3-9158-4C8C-92E1-737102163FFE}"/>
              </a:ext>
            </a:extLst>
          </p:cNvPr>
          <p:cNvSpPr/>
          <p:nvPr/>
        </p:nvSpPr>
        <p:spPr>
          <a:xfrm>
            <a:off x="3475137" y="4835252"/>
            <a:ext cx="2520280" cy="360040"/>
          </a:xfrm>
          <a:prstGeom prst="curvedUpArrow">
            <a:avLst>
              <a:gd name="adj1" fmla="val 25000"/>
              <a:gd name="adj2" fmla="val 74548"/>
              <a:gd name="adj3" fmla="val 25000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>
              <a:solidFill>
                <a:schemeClr val="tx1"/>
              </a:solidFill>
            </a:endParaRPr>
          </a:p>
        </p:txBody>
      </p:sp>
      <p:sp>
        <p:nvSpPr>
          <p:cNvPr id="25" name="26 Flecha curvada hacia arriba">
            <a:extLst>
              <a:ext uri="{FF2B5EF4-FFF2-40B4-BE49-F238E27FC236}">
                <a16:creationId xmlns:a16="http://schemas.microsoft.com/office/drawing/2014/main" id="{AE319811-F1FC-4E9B-9764-F4C6D14FF0E2}"/>
              </a:ext>
            </a:extLst>
          </p:cNvPr>
          <p:cNvSpPr/>
          <p:nvPr/>
        </p:nvSpPr>
        <p:spPr>
          <a:xfrm>
            <a:off x="6067425" y="4835252"/>
            <a:ext cx="2520280" cy="360040"/>
          </a:xfrm>
          <a:prstGeom prst="curvedUpArrow">
            <a:avLst>
              <a:gd name="adj1" fmla="val 25000"/>
              <a:gd name="adj2" fmla="val 74548"/>
              <a:gd name="adj3" fmla="val 25000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>
              <a:solidFill>
                <a:schemeClr val="tx1"/>
              </a:solidFill>
            </a:endParaRPr>
          </a:p>
        </p:txBody>
      </p:sp>
      <p:cxnSp>
        <p:nvCxnSpPr>
          <p:cNvPr id="26" name="28 Conector recto de flecha">
            <a:extLst>
              <a:ext uri="{FF2B5EF4-FFF2-40B4-BE49-F238E27FC236}">
                <a16:creationId xmlns:a16="http://schemas.microsoft.com/office/drawing/2014/main" id="{AC596FA3-6EBD-4879-8375-9E1F682047D1}"/>
              </a:ext>
            </a:extLst>
          </p:cNvPr>
          <p:cNvCxnSpPr>
            <a:cxnSpLocks/>
          </p:cNvCxnSpPr>
          <p:nvPr/>
        </p:nvCxnSpPr>
        <p:spPr>
          <a:xfrm flipV="1">
            <a:off x="3979193" y="3626316"/>
            <a:ext cx="1502063" cy="526956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27" name="30 Conector recto de flecha">
            <a:extLst>
              <a:ext uri="{FF2B5EF4-FFF2-40B4-BE49-F238E27FC236}">
                <a16:creationId xmlns:a16="http://schemas.microsoft.com/office/drawing/2014/main" id="{0B35BE98-1F9D-429C-A72B-20F60720E459}"/>
              </a:ext>
            </a:extLst>
          </p:cNvPr>
          <p:cNvCxnSpPr>
            <a:cxnSpLocks/>
          </p:cNvCxnSpPr>
          <p:nvPr/>
        </p:nvCxnSpPr>
        <p:spPr>
          <a:xfrm flipV="1">
            <a:off x="6283449" y="3698324"/>
            <a:ext cx="1667783" cy="45494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99745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0003-7E81-495E-BC4F-F34B3A34B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758" y="2124076"/>
            <a:ext cx="8112292" cy="2128554"/>
          </a:xfrm>
        </p:spPr>
        <p:txBody>
          <a:bodyPr>
            <a:noAutofit/>
          </a:bodyPr>
          <a:lstStyle/>
          <a:p>
            <a:r>
              <a:rPr lang="es-ES" sz="4400" dirty="0"/>
              <a:t>DIFERENCIA DE MEDICIÓN, CALIFICACIÓN Y EVALUACIÓN</a:t>
            </a:r>
            <a:endParaRPr lang="es-CO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A0D10-3DEF-4958-980F-7EEAFBA16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758" y="4599498"/>
            <a:ext cx="7107331" cy="1182177"/>
          </a:xfrm>
        </p:spPr>
        <p:txBody>
          <a:bodyPr>
            <a:normAutofit/>
          </a:bodyPr>
          <a:lstStyle/>
          <a:p>
            <a:r>
              <a:rPr lang="es-CO" sz="3200" dirty="0"/>
              <a:t>Comparten el mismo campo semántico pero no es lo mismo</a:t>
            </a:r>
            <a:r>
              <a:rPr lang="es-CO" sz="3200" b="1" dirty="0"/>
              <a:t>. </a:t>
            </a:r>
            <a:endParaRPr lang="es-ES" sz="3200" b="1" dirty="0"/>
          </a:p>
          <a:p>
            <a:endParaRPr lang="es-CO" sz="32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FA8D38-F7F4-4B0B-816A-49D4A9FA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230430-071C-415E-B518-A2A53527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19</a:t>
            </a:fld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D4C3DAA-010B-4CE5-9EE9-2245700B0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2022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76491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04D473-E408-4B61-8D0C-414B7B99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2477D1-EA77-4ADA-951D-059F5DF0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20</a:t>
            </a:fld>
            <a:endParaRPr lang="es-ES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DC5EC4C-74E1-42F1-86DD-3D5D46E631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9D4588-B324-4995-9910-0651D3B8251B}"/>
              </a:ext>
            </a:extLst>
          </p:cNvPr>
          <p:cNvSpPr txBox="1"/>
          <p:nvPr/>
        </p:nvSpPr>
        <p:spPr>
          <a:xfrm>
            <a:off x="1028700" y="611565"/>
            <a:ext cx="1014837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“En términos precisos”, debe entenderse que evaluar con intención formativa no es igual a medir ni a calificar, ni siquiera corregir. Es paradójico que la evaluación tiene que ver con actividades de calificar, medir, corregir, clasificar, certificar y examinar, pero no se debería confundir con ellas. </a:t>
            </a:r>
            <a:r>
              <a:rPr lang="es-E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Comparten un campo semántico, pero se diferencian por los recursos que utilizan y los usos y fines a los que sirven</a:t>
            </a:r>
            <a:r>
              <a: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s-ES" sz="2800" b="1" dirty="0"/>
              <a:t> Son actividades que desempeñan un papel funcional e instrumental. De estas actividades artificiales no se aprende. Respecto a ellas, la evaluación las trasciende. Justo donde ellas no alcanzan, empieza la evaluación educativa (Álvarez, 2001).</a:t>
            </a:r>
          </a:p>
        </p:txBody>
      </p:sp>
    </p:spTree>
    <p:extLst>
      <p:ext uri="{BB962C8B-B14F-4D97-AF65-F5344CB8AC3E}">
        <p14:creationId xmlns:p14="http://schemas.microsoft.com/office/powerpoint/2010/main" val="2722950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0003-7E81-495E-BC4F-F34B3A34B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758" y="2124076"/>
            <a:ext cx="8112292" cy="2128554"/>
          </a:xfrm>
        </p:spPr>
        <p:txBody>
          <a:bodyPr>
            <a:noAutofit/>
          </a:bodyPr>
          <a:lstStyle/>
          <a:p>
            <a:r>
              <a:rPr lang="es-CO" sz="4400" dirty="0"/>
              <a:t>CARACTERÍSTICAS DE LA </a:t>
            </a:r>
            <a:r>
              <a:rPr lang="es-ES" sz="4400" dirty="0"/>
              <a:t>EVALUACIÓN</a:t>
            </a:r>
            <a:endParaRPr lang="es-CO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A0D10-3DEF-4958-980F-7EEAFBA16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758" y="4599498"/>
            <a:ext cx="7107331" cy="1182177"/>
          </a:xfrm>
        </p:spPr>
        <p:txBody>
          <a:bodyPr>
            <a:normAutofit/>
          </a:bodyPr>
          <a:lstStyle/>
          <a:p>
            <a:r>
              <a:rPr lang="es-CO" sz="3200" b="1" dirty="0"/>
              <a:t>Estas son particularidades de la evaluación que la distinguen. </a:t>
            </a:r>
            <a:endParaRPr lang="es-ES" sz="3200" b="1" dirty="0"/>
          </a:p>
          <a:p>
            <a:endParaRPr lang="es-CO" sz="32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FA8D38-F7F4-4B0B-816A-49D4A9FA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230430-071C-415E-B518-A2A53527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21</a:t>
            </a:fld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D4C3DAA-010B-4CE5-9EE9-2245700B0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2022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7369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04D473-E408-4B61-8D0C-414B7B99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2477D1-EA77-4ADA-951D-059F5DF0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22</a:t>
            </a:fld>
            <a:endParaRPr lang="es-ES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DC5EC4C-74E1-42F1-86DD-3D5D46E631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2EFD87-17BF-4B6B-93FF-1E11A6F53ED4}"/>
              </a:ext>
            </a:extLst>
          </p:cNvPr>
          <p:cNvSpPr txBox="1"/>
          <p:nvPr/>
        </p:nvSpPr>
        <p:spPr>
          <a:xfrm>
            <a:off x="2019300" y="359539"/>
            <a:ext cx="863917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La evaluación en los procesos de aprendizaje de los alumnos como los procesos de enseñanza del profesor, deber caracterizarse por ser:</a:t>
            </a:r>
          </a:p>
          <a:p>
            <a:pPr marL="633222" indent="-514350">
              <a:buClrTx/>
              <a:buFont typeface="+mj-lt"/>
              <a:buAutoNum type="arabicPeriod"/>
            </a:pPr>
            <a:r>
              <a:rPr lang="es-CO" sz="3200" b="1" dirty="0"/>
              <a:t>Integral.</a:t>
            </a:r>
          </a:p>
          <a:p>
            <a:pPr marL="633222" indent="-514350">
              <a:buClrTx/>
              <a:buFont typeface="+mj-lt"/>
              <a:buAutoNum type="arabicPeriod"/>
            </a:pPr>
            <a:r>
              <a:rPr lang="es-CO" sz="3200" b="1" dirty="0"/>
              <a:t>Integrada. </a:t>
            </a:r>
          </a:p>
          <a:p>
            <a:pPr marL="633222" indent="-514350">
              <a:buClrTx/>
              <a:buFont typeface="+mj-lt"/>
              <a:buAutoNum type="arabicPeriod"/>
            </a:pPr>
            <a:r>
              <a:rPr lang="es-CO" sz="3200" b="1" dirty="0"/>
              <a:t>Integradora.</a:t>
            </a:r>
          </a:p>
          <a:p>
            <a:pPr marL="633222" indent="-514350">
              <a:buClrTx/>
              <a:buFont typeface="+mj-lt"/>
              <a:buAutoNum type="arabicPeriod"/>
            </a:pPr>
            <a:r>
              <a:rPr lang="es-CO" sz="3200" b="1" dirty="0"/>
              <a:t>Continua.</a:t>
            </a:r>
          </a:p>
          <a:p>
            <a:pPr marL="633222" indent="-514350">
              <a:buClrTx/>
              <a:buFont typeface="+mj-lt"/>
              <a:buAutoNum type="arabicPeriod"/>
            </a:pPr>
            <a:r>
              <a:rPr lang="es-CO" sz="3200" b="1" dirty="0"/>
              <a:t>Criterial.</a:t>
            </a:r>
          </a:p>
          <a:p>
            <a:pPr marL="633222" indent="-514350">
              <a:buClrTx/>
              <a:buFont typeface="+mj-lt"/>
              <a:buAutoNum type="arabicPeriod"/>
            </a:pPr>
            <a:r>
              <a:rPr lang="es-CO" sz="3200" b="1" dirty="0"/>
              <a:t>Negociada o participativa.</a:t>
            </a:r>
          </a:p>
          <a:p>
            <a:pPr marL="633222" indent="-514350">
              <a:buClrTx/>
              <a:buFont typeface="+mj-lt"/>
              <a:buAutoNum type="arabicPeriod"/>
            </a:pPr>
            <a:r>
              <a:rPr lang="es-CO" sz="3200" b="1" dirty="0"/>
              <a:t>Formativa.</a:t>
            </a:r>
          </a:p>
        </p:txBody>
      </p:sp>
    </p:spTree>
    <p:extLst>
      <p:ext uri="{BB962C8B-B14F-4D97-AF65-F5344CB8AC3E}">
        <p14:creationId xmlns:p14="http://schemas.microsoft.com/office/powerpoint/2010/main" val="2151282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0003-7E81-495E-BC4F-F34B3A34B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758" y="2124076"/>
            <a:ext cx="8112292" cy="2128554"/>
          </a:xfrm>
        </p:spPr>
        <p:txBody>
          <a:bodyPr>
            <a:noAutofit/>
          </a:bodyPr>
          <a:lstStyle/>
          <a:p>
            <a:r>
              <a:rPr lang="es-CO" sz="4400" dirty="0"/>
              <a:t>TIPOS DE EVALUACIÓN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A0D10-3DEF-4958-980F-7EEAFBA16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758" y="4599498"/>
            <a:ext cx="7107331" cy="1182177"/>
          </a:xfrm>
        </p:spPr>
        <p:txBody>
          <a:bodyPr>
            <a:normAutofit/>
          </a:bodyPr>
          <a:lstStyle/>
          <a:p>
            <a:r>
              <a:rPr lang="es-ES_tradnl" sz="3200" dirty="0"/>
              <a:t>De acuerdo con Casanova (citado Castillo y Cabrerizo, 2010).</a:t>
            </a:r>
            <a:endParaRPr lang="es-ES" sz="3200" b="1" dirty="0"/>
          </a:p>
          <a:p>
            <a:endParaRPr lang="es-CO" sz="32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FA8D38-F7F4-4B0B-816A-49D4A9FA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230430-071C-415E-B518-A2A53527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23</a:t>
            </a:fld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D4C3DAA-010B-4CE5-9EE9-2245700B0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2022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62032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CAEA0E-0AD2-4431-A4BB-BA6FE0FB9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FA8F80-4A21-4C24-8E8C-2EF0B85E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es-ES" smtClean="0"/>
              <a:t>24</a:t>
            </a:fld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18E7856-1972-4633-98B1-7926DA31A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s-ES" dirty="0"/>
              <a:t>2021</a:t>
            </a:r>
          </a:p>
        </p:txBody>
      </p:sp>
      <p:pic>
        <p:nvPicPr>
          <p:cNvPr id="13" name="Marcador de posición de imagen 12" descr="Grupo de personas que debaten algo">
            <a:extLst>
              <a:ext uri="{FF2B5EF4-FFF2-40B4-BE49-F238E27FC236}">
                <a16:creationId xmlns:a16="http://schemas.microsoft.com/office/drawing/2014/main" id="{594ACC6B-B2AA-4E37-97D4-0F8CC4C8462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72684DE-09A0-4F50-BE78-37CFEAAD2BDA}"/>
              </a:ext>
            </a:extLst>
          </p:cNvPr>
          <p:cNvSpPr txBox="1"/>
          <p:nvPr/>
        </p:nvSpPr>
        <p:spPr>
          <a:xfrm>
            <a:off x="1104900" y="1227862"/>
            <a:ext cx="39814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3222" lvl="0" indent="-514350">
              <a:buFont typeface="+mj-lt"/>
              <a:buAutoNum type="arabicPeriod"/>
            </a:pPr>
            <a:r>
              <a:rPr lang="es-ES_tradnl" sz="2800" b="1" dirty="0">
                <a:solidFill>
                  <a:schemeClr val="bg1"/>
                </a:solidFill>
              </a:rPr>
              <a:t>Según el momento de aplicación</a:t>
            </a:r>
            <a:r>
              <a:rPr lang="es-ES_tradnl" sz="2800" dirty="0">
                <a:solidFill>
                  <a:schemeClr val="bg1"/>
                </a:solidFill>
              </a:rPr>
              <a:t>.</a:t>
            </a:r>
            <a:endParaRPr lang="es-ES" sz="2800" dirty="0">
              <a:solidFill>
                <a:schemeClr val="bg1"/>
              </a:solidFill>
            </a:endParaRPr>
          </a:p>
          <a:p>
            <a:pPr marL="633222" lvl="0" indent="-514350">
              <a:buFont typeface="+mj-lt"/>
              <a:buAutoNum type="arabicPeriod"/>
            </a:pPr>
            <a:r>
              <a:rPr lang="es-ES_tradnl" sz="2800" b="1" dirty="0">
                <a:solidFill>
                  <a:schemeClr val="bg1"/>
                </a:solidFill>
              </a:rPr>
              <a:t>Según su finalidad</a:t>
            </a:r>
            <a:r>
              <a:rPr lang="es-ES_tradnl" sz="2800" dirty="0">
                <a:solidFill>
                  <a:schemeClr val="bg1"/>
                </a:solidFill>
              </a:rPr>
              <a:t>.</a:t>
            </a:r>
            <a:endParaRPr lang="es-ES" sz="2800" dirty="0">
              <a:solidFill>
                <a:schemeClr val="bg1"/>
              </a:solidFill>
            </a:endParaRPr>
          </a:p>
          <a:p>
            <a:pPr marL="633222" lvl="0" indent="-514350">
              <a:buFont typeface="+mj-lt"/>
              <a:buAutoNum type="arabicPeriod"/>
            </a:pPr>
            <a:r>
              <a:rPr lang="es-ES_tradnl" sz="2800" b="1" dirty="0">
                <a:solidFill>
                  <a:schemeClr val="bg1"/>
                </a:solidFill>
              </a:rPr>
              <a:t>Según su extensión</a:t>
            </a:r>
            <a:r>
              <a:rPr lang="es-ES_tradnl" sz="2800" dirty="0">
                <a:solidFill>
                  <a:schemeClr val="bg1"/>
                </a:solidFill>
              </a:rPr>
              <a:t>.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D00BF4F-C680-4DA0-B4A9-F12B9D81A896}"/>
              </a:ext>
            </a:extLst>
          </p:cNvPr>
          <p:cNvSpPr txBox="1"/>
          <p:nvPr/>
        </p:nvSpPr>
        <p:spPr>
          <a:xfrm>
            <a:off x="1100138" y="3415010"/>
            <a:ext cx="39004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3222" lvl="0" indent="-514350">
              <a:buFont typeface="+mj-lt"/>
              <a:buAutoNum type="arabicPeriod" startAt="4"/>
            </a:pPr>
            <a:r>
              <a:rPr lang="es-ES_tradnl" sz="2800" b="1" dirty="0">
                <a:solidFill>
                  <a:schemeClr val="bg1"/>
                </a:solidFill>
              </a:rPr>
              <a:t>Según el origen de los agentes evaluadores</a:t>
            </a:r>
            <a:r>
              <a:rPr lang="es-ES_tradnl" sz="2800" dirty="0">
                <a:solidFill>
                  <a:schemeClr val="bg1"/>
                </a:solidFill>
              </a:rPr>
              <a:t>.</a:t>
            </a:r>
            <a:endParaRPr lang="es-ES" sz="2800" dirty="0">
              <a:solidFill>
                <a:schemeClr val="bg1"/>
              </a:solidFill>
            </a:endParaRPr>
          </a:p>
          <a:p>
            <a:pPr marL="633222" lvl="0" indent="-514350">
              <a:buFont typeface="+mj-lt"/>
              <a:buAutoNum type="arabicPeriod" startAt="4"/>
            </a:pPr>
            <a:r>
              <a:rPr lang="es-ES_tradnl" sz="2800" b="1" dirty="0">
                <a:solidFill>
                  <a:schemeClr val="bg1"/>
                </a:solidFill>
              </a:rPr>
              <a:t>Según sus agentes</a:t>
            </a:r>
            <a:r>
              <a:rPr lang="es-ES_tradnl" sz="2800" dirty="0">
                <a:solidFill>
                  <a:schemeClr val="bg1"/>
                </a:solidFill>
              </a:rPr>
              <a:t>.</a:t>
            </a:r>
            <a:endParaRPr lang="es-ES" sz="2800" dirty="0">
              <a:solidFill>
                <a:schemeClr val="bg1"/>
              </a:solidFill>
            </a:endParaRPr>
          </a:p>
          <a:p>
            <a:pPr marL="633222" lvl="0" indent="-514350">
              <a:buFont typeface="+mj-lt"/>
              <a:buAutoNum type="arabicPeriod" startAt="4"/>
            </a:pPr>
            <a:r>
              <a:rPr lang="es-ES_tradnl" sz="2800" b="1" dirty="0">
                <a:solidFill>
                  <a:schemeClr val="bg1"/>
                </a:solidFill>
              </a:rPr>
              <a:t>Según su normotipo</a:t>
            </a:r>
            <a:r>
              <a:rPr lang="es-ES_tradnl" sz="2800" dirty="0">
                <a:solidFill>
                  <a:schemeClr val="bg1"/>
                </a:solidFill>
              </a:rPr>
              <a:t>. </a:t>
            </a:r>
            <a:endParaRPr lang="es-E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773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1EFE3-1371-4582-BD3E-856FE101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PARCIAL</a:t>
            </a:r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0F34A6-90E9-488F-A4D1-50C9A20A8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32D517-8400-4831-A5FD-4A459109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25</a:t>
            </a:fld>
            <a:endParaRPr lang="es-ES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C2AC273-67BA-41F0-A0CF-FA90E25BC20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527519" y="3279799"/>
            <a:ext cx="4143555" cy="882626"/>
          </a:xfrm>
        </p:spPr>
        <p:txBody>
          <a:bodyPr>
            <a:noAutofit/>
          </a:bodyPr>
          <a:lstStyle/>
          <a:p>
            <a:r>
              <a:rPr lang="es-419" sz="2800" dirty="0"/>
              <a:t>Taller de comprensión (grupal)</a:t>
            </a:r>
            <a:endParaRPr lang="es-CO" sz="2800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E59FFC5A-D601-4AF3-B0F7-850685FC22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12454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120DE-D8F0-4000-8AF8-CB0DA274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EXPLICACIÓN DEL PARCIAL</a:t>
            </a:r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955F33-8F93-4B18-AEDA-4B5A015B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teóricos de la Evaluación</a:t>
            </a:r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0D5980-F50A-4777-A131-5864E28A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s-ES" noProof="0" smtClean="0"/>
              <a:t>26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3BAECFB-1E4F-498E-AB99-D2474A35D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2021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012185-1F12-4EC8-9B8D-360603A116F4}"/>
              </a:ext>
            </a:extLst>
          </p:cNvPr>
          <p:cNvSpPr txBox="1"/>
          <p:nvPr/>
        </p:nvSpPr>
        <p:spPr>
          <a:xfrm>
            <a:off x="1009650" y="2413338"/>
            <a:ext cx="104347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Para realizar esta actividad es necesario revisar de forma general los ejes temáticos de las </a:t>
            </a:r>
            <a:r>
              <a:rPr lang="es-ES" sz="2800" b="1" dirty="0"/>
              <a:t>unidades 1 y 2</a:t>
            </a:r>
            <a:r>
              <a:rPr lang="es-ES" sz="28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Desarrollaremos un </a:t>
            </a:r>
            <a:r>
              <a:rPr lang="es-ES" sz="2800" b="1" dirty="0"/>
              <a:t>Taller de comprensión </a:t>
            </a:r>
            <a:r>
              <a:rPr lang="es-ES" sz="2800" dirty="0"/>
              <a:t>donde responderemos preguntas abiertas, literales, exploratorias y problematizadoras para fortalecer las competencias básicas y pedagógicas desde la temática de estudio la Evaluación Educativa.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30009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5BCE0-C492-45D1-B14B-D698228DC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/>
              <a:t>¡GRACIAS!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B0ECBC-01F6-45D4-9F4C-FD7E8B5B96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¡Éxitos y bendiciones!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7A5BD8C-215E-470E-9A15-CEABC3C16B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42783" y="1006893"/>
            <a:ext cx="1533765" cy="60184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2021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5F9AFE-8B50-4B6D-B980-C1F177311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5CBEC59-7FF9-4688-98DF-89832A0C9025}" type="slidenum">
              <a:rPr lang="en-US" noProof="0" smtClean="0"/>
              <a:t>27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30158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LT">
      <a:dk1>
        <a:sysClr val="windowText" lastClr="000000"/>
      </a:dk1>
      <a:lt1>
        <a:sysClr val="window" lastClr="FFFFFF"/>
      </a:lt1>
      <a:dk2>
        <a:srgbClr val="FFCD6B"/>
      </a:dk2>
      <a:lt2>
        <a:srgbClr val="BE005A"/>
      </a:lt2>
      <a:accent1>
        <a:srgbClr val="3B2CAC"/>
      </a:accent1>
      <a:accent2>
        <a:srgbClr val="0062FF"/>
      </a:accent2>
      <a:accent3>
        <a:srgbClr val="007A00"/>
      </a:accent3>
      <a:accent4>
        <a:srgbClr val="DE6600"/>
      </a:accent4>
      <a:accent5>
        <a:srgbClr val="AC0037"/>
      </a:accent5>
      <a:accent6>
        <a:srgbClr val="FFFF00"/>
      </a:accent6>
      <a:hlink>
        <a:srgbClr val="FFFFFF"/>
      </a:hlink>
      <a:folHlink>
        <a:srgbClr val="FFFFFF"/>
      </a:folHlink>
    </a:clrScheme>
    <a:fontScheme name="Custom 2">
      <a:majorFont>
        <a:latin typeface="Avenir Next LT Pro"/>
        <a:ea typeface=""/>
        <a:cs typeface=""/>
      </a:majorFont>
      <a:minorFont>
        <a:latin typeface="Speak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bg2">
                <a:alpha val="85000"/>
              </a:schemeClr>
            </a:gs>
            <a:gs pos="100000">
              <a:schemeClr val="accent1">
                <a:alpha val="85000"/>
              </a:schemeClr>
            </a:gs>
          </a:gsLst>
          <a:lin ang="0" scaled="1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42571010_TF22920738.potx" id="{56116BBC-8527-47FF-80CD-6FAD4571CB65}" vid="{73F5FF7D-D355-46E8-80EA-7F016E6C3A8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7F9CC6-F7CA-41EA-81DA-97EFF19429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42AFFF-C96F-4C05-9045-3240A5329EC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04F5DC0-7B0F-411B-A0C5-A1B1D5EB33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moderna y elegante en negrita</Template>
  <TotalTime>161</TotalTime>
  <Words>1082</Words>
  <Application>Microsoft Office PowerPoint</Application>
  <PresentationFormat>Panorámica</PresentationFormat>
  <Paragraphs>181</Paragraphs>
  <Slides>27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Speak Pro</vt:lpstr>
      <vt:lpstr>Avenir Next LT Pro</vt:lpstr>
      <vt:lpstr>Tema de Office</vt:lpstr>
      <vt:lpstr>FUNDAMENTOS TEÓRICOS DE LA EVALUACIÓN</vt:lpstr>
      <vt:lpstr>COMPETENCIAS QUE SE PRETENDE DESARROLLAR</vt:lpstr>
      <vt:lpstr>PREGUNTA PROBLEMA</vt:lpstr>
      <vt:lpstr>TEMAS A DESARROLLAR:</vt:lpstr>
      <vt:lpstr>IMPORTANCIA DE LA EVALUACIÓN</vt:lpstr>
      <vt:lpstr>IMPORTANCIA DE LA EVALUACIÓN</vt:lpstr>
      <vt:lpstr>APROXIMACIÓN CONCEPTUAL</vt:lpstr>
      <vt:lpstr>CONCEPTO</vt:lpstr>
      <vt:lpstr>La evaluación como valoración, retoma su importancia y utilidad, cuando ésta satisface necesidades reales en los individuos y les proporciona bienestar o deleite (Valenzuela, 2009). </vt:lpstr>
      <vt:lpstr>EDUCACIÓN TRADICIONAL</vt:lpstr>
      <vt:lpstr>EVALUACIÓN</vt:lpstr>
      <vt:lpstr>Presentación de PowerPoint</vt:lpstr>
      <vt:lpstr>PRINCIPIOS DE LA EVALUACIÓN</vt:lpstr>
      <vt:lpstr>PRINCIPIOS DE LA EVALUACIÓN</vt:lpstr>
      <vt:lpstr>ANTECEDENTES HISTÓRICOS DE LA EVALUACIÓN</vt:lpstr>
      <vt:lpstr>SOCIODRAMA: EVOLUCIÓN HISTÓRICA DE LA EVALUACIÓN</vt:lpstr>
      <vt:lpstr>ESTRUCTURAS DE LA EVALUACIÓN</vt:lpstr>
      <vt:lpstr>Presentación de PowerPoint</vt:lpstr>
      <vt:lpstr>DIFERENCIA DE MEDICIÓN, CALIFICACIÓN Y EVALUACIÓN</vt:lpstr>
      <vt:lpstr>Presentación de PowerPoint</vt:lpstr>
      <vt:lpstr>CARACTERÍSTICAS DE LA EVALUACIÓN</vt:lpstr>
      <vt:lpstr>Presentación de PowerPoint</vt:lpstr>
      <vt:lpstr>TIPOS DE EVALUACIÓN</vt:lpstr>
      <vt:lpstr>Presentación de PowerPoint</vt:lpstr>
      <vt:lpstr>PARCIAL</vt:lpstr>
      <vt:lpstr>EXPLICACIÓN DEL PARCIAL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TEÓRICOS DE LA EVALUACIÓN</dc:title>
  <dc:creator>GUSTAVO ADOLFO PHEREZ GOMEZ</dc:creator>
  <cp:lastModifiedBy>GUSTAVO ADOLFO PHEREZ GOMEZ</cp:lastModifiedBy>
  <cp:revision>25</cp:revision>
  <dcterms:created xsi:type="dcterms:W3CDTF">2021-09-22T15:48:20Z</dcterms:created>
  <dcterms:modified xsi:type="dcterms:W3CDTF">2022-09-22T11:51:31Z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