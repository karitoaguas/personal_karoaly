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1F9"/>
    <a:srgbClr val="7B1AB6"/>
    <a:srgbClr val="FF0000"/>
    <a:srgbClr val="F6223B"/>
    <a:srgbClr val="E90924"/>
    <a:srgbClr val="FF66CC"/>
    <a:srgbClr val="FA5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9BFE8-A08A-491C-B3B0-82A38AA99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58EB85-217A-487C-9765-4388A1C1E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248C51-8DB4-4CE0-B256-D92CEF60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52F05F-EC19-4FB7-9ED3-D5BEC355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F72DA-7DEF-4CA9-A5E7-9159AC0E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23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C2ABA-751D-496B-8E31-FB2CE036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91121-8A8B-493B-8AB6-CAB49262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3FCEFC-B16D-49A5-BAED-0B412465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FB2F74-E34B-4D47-9DB2-EB04836F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F2E6F7-3A65-4606-9564-45076332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525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DAC5C-D9A4-4070-8157-2752F2D4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82450A-A9A8-4E1E-A1E4-AA1614A83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76802D-ECF0-41C7-AF54-DFC963EA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54FE73-2529-4294-99DC-51DC7BCD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89FC0A-A22D-451D-93B1-E200CE07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751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C9581-27B4-4506-BB91-95BA04A5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6443DF-439C-4CBC-8B96-D967A489B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1AE7E6-146C-4A3D-8BD7-0EF0D795C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E76744-4FA5-4480-B39C-1726A001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940F24-A407-4C41-AD0C-3ACE95A8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3CFF3F-E49F-4677-AF3C-77CC738B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217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A8AA6-CB3E-4CDB-B7A9-2A8D985D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2D9A-E7D5-4A59-B3EE-4813FDE77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9FCD05-8989-41B9-97C5-6817A108F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85A7A8-AEF6-4AE4-BFB3-8F70930FA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EC02E3-4D18-4BE1-BF1C-65359DE86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111E65-0B2C-4144-A6FE-FC2DB65E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E84A67-A12D-42CA-A3F3-02A37146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007837-E540-4F97-85BF-47FB5DC3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61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A82DE-D251-4131-A502-D4D26A7A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D595D5-D86B-4796-B58D-0D115AA5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08B311-9D51-496F-871A-40CFB68E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6B3E99-6A04-45B3-9B14-A5A75920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154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F418AA3-A117-42F1-ADFB-8B4AE67C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FDC763-297E-4237-B546-7D0A5FFD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67590-1E3C-44D5-922B-29C55DF0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073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537CE-0F4B-4400-B855-0988CC2D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9EFB7-1F95-426F-B023-2229DDB7A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59AADC-3AE7-46E7-9753-C591E7E8E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1650D0-4D3D-4C85-96D8-A8DE1DC2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4BD057-604A-41EA-9324-809A33A2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BB7B19-CA48-46E1-8FEF-2FAEE78D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723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E6C4-9723-4174-A2B8-B1542312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10D68D-5C24-4390-9B1D-2521C932A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0F05F7-CFEE-4FCF-9B59-93F84107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312BB6-8AF3-4332-9759-013912A3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796991-BFE1-4FEE-8F2B-FC4BC4E6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42D685-BA11-4840-B872-02E0CEC5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13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234A5-796B-4A56-9052-6AB7193F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66A588-47E0-4ED5-9558-D6BB8EE36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B74D01-89DC-4F55-A31E-27A68578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F23F24-FDC9-42E7-A934-DE0B111A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E962E-3A8A-4EB6-BBAA-7999A162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715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D64517-B8DB-4586-A55F-63E3430FC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CB63A2-2FBD-4947-925B-E1BEE479E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CDEE1-82A7-4D85-9273-3F70435A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EDF59-2FF5-4D5E-900B-67B3D01B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F4F5CF-9583-4251-AB0F-DBBEED3D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014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90B8DF3-3E11-4944-A059-CEF27465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CA84F5-C504-4E78-90E6-9208E3930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46F033-F5BC-42C2-962D-609782275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11955-4F5B-48FE-8D00-F4FFE71643D7}" type="datetimeFigureOut">
              <a:rPr lang="es-CO" smtClean="0"/>
              <a:t>17/05/2022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569AFC-C900-4CB6-A9D8-E461324B9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4DAF77-4C5E-4ACE-B652-5B33EC253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4F969-F747-4F3B-BDFF-D983F039FF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222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0.svg"/><Relationship Id="rId5" Type="http://schemas.openxmlformats.org/officeDocument/2006/relationships/image" Target="../media/image12.sv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2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1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minandopormadrid.blogspot.com/2017/04/las-mejores-tortillas-de-patata-de.html" TargetMode="External"/><Relationship Id="rId11" Type="http://schemas.openxmlformats.org/officeDocument/2006/relationships/image" Target="../media/image29.png"/><Relationship Id="rId5" Type="http://schemas.openxmlformats.org/officeDocument/2006/relationships/image" Target="../media/image24.jp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12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22.png"/><Relationship Id="rId10" Type="http://schemas.openxmlformats.org/officeDocument/2006/relationships/image" Target="../media/image46.png"/><Relationship Id="rId4" Type="http://schemas.openxmlformats.org/officeDocument/2006/relationships/image" Target="../media/image21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C6F6A87-0D65-4095-B759-847B706CB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2" r="1" b="12612"/>
          <a:stretch/>
        </p:blipFill>
        <p:spPr>
          <a:xfrm>
            <a:off x="2049431" y="643467"/>
            <a:ext cx="8093137" cy="5571065"/>
          </a:xfrm>
          <a:prstGeom prst="rect">
            <a:avLst/>
          </a:prstGeom>
          <a:ln>
            <a:noFill/>
          </a:ln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85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CA093CA-16DA-4FE8-A358-9C7B18EF5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813" y="254020"/>
            <a:ext cx="1229244" cy="1024399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6DBB2D6-CE5E-47DE-996F-FBC29F121655}"/>
              </a:ext>
            </a:extLst>
          </p:cNvPr>
          <p:cNvSpPr/>
          <p:nvPr/>
        </p:nvSpPr>
        <p:spPr>
          <a:xfrm>
            <a:off x="5422393" y="451239"/>
            <a:ext cx="2143760" cy="44704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Arial Narrow" panose="020B0606020202030204" pitchFamily="34" charset="0"/>
              </a:rPr>
              <a:t>PLATO SALUDABLE</a:t>
            </a:r>
            <a:endParaRPr lang="es-CO" b="1" dirty="0">
              <a:latin typeface="Arial Narrow" panose="020B0606020202030204" pitchFamily="34" charset="0"/>
            </a:endParaRPr>
          </a:p>
        </p:txBody>
      </p:sp>
      <p:pic>
        <p:nvPicPr>
          <p:cNvPr id="20" name="Imagen 19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1D790639-BDD8-4440-9AF6-96265A47E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494" y="1181133"/>
            <a:ext cx="5279136" cy="52791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B44BC45-D5CB-4678-90B2-D9E3FC67CBD8}"/>
              </a:ext>
            </a:extLst>
          </p:cNvPr>
          <p:cNvCxnSpPr/>
          <p:nvPr/>
        </p:nvCxnSpPr>
        <p:spPr>
          <a:xfrm>
            <a:off x="3845170" y="3639312"/>
            <a:ext cx="5129784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B4898380-9171-40A3-B713-323D9B50434D}"/>
              </a:ext>
            </a:extLst>
          </p:cNvPr>
          <p:cNvCxnSpPr>
            <a:cxnSpLocks/>
          </p:cNvCxnSpPr>
          <p:nvPr/>
        </p:nvCxnSpPr>
        <p:spPr>
          <a:xfrm>
            <a:off x="6494273" y="3639312"/>
            <a:ext cx="0" cy="26243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Bocadillo nube: nube 27">
            <a:extLst>
              <a:ext uri="{FF2B5EF4-FFF2-40B4-BE49-F238E27FC236}">
                <a16:creationId xmlns:a16="http://schemas.microsoft.com/office/drawing/2014/main" id="{2E610F93-9FB4-4E8A-A63A-8EB67067BF8C}"/>
              </a:ext>
            </a:extLst>
          </p:cNvPr>
          <p:cNvSpPr/>
          <p:nvPr/>
        </p:nvSpPr>
        <p:spPr>
          <a:xfrm>
            <a:off x="828038" y="766220"/>
            <a:ext cx="2542032" cy="1527045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/>
              <a:t>PLATO ½</a:t>
            </a:r>
          </a:p>
          <a:p>
            <a:pPr algn="ctr"/>
            <a:r>
              <a:rPr lang="es-MX" sz="1200" b="1" dirty="0">
                <a:solidFill>
                  <a:srgbClr val="00B050"/>
                </a:solidFill>
              </a:rPr>
              <a:t>FRUTAS Y VERDURAS</a:t>
            </a:r>
          </a:p>
          <a:p>
            <a:pPr algn="ctr"/>
            <a:r>
              <a:rPr lang="es-MX" sz="1200" dirty="0">
                <a:solidFill>
                  <a:schemeClr val="tx1"/>
                </a:solidFill>
              </a:rPr>
              <a:t>Consume por lo menos 5 porciones al día de frutas y verduras de todos los colores</a:t>
            </a:r>
            <a:endParaRPr lang="es-CO" sz="1200" dirty="0">
              <a:solidFill>
                <a:schemeClr val="tx1"/>
              </a:solidFill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4151159-1189-41C3-BE2F-AC4B92F56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261" y="1577400"/>
            <a:ext cx="515110" cy="669382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D376912-0F19-425B-8954-561778DC8CD7}"/>
              </a:ext>
            </a:extLst>
          </p:cNvPr>
          <p:cNvSpPr txBox="1"/>
          <p:nvPr/>
        </p:nvSpPr>
        <p:spPr>
          <a:xfrm>
            <a:off x="2188311" y="2215900"/>
            <a:ext cx="21349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b="1" dirty="0">
                <a:solidFill>
                  <a:srgbClr val="00B050"/>
                </a:solidFill>
              </a:rPr>
              <a:t>ACEITE DE OLIVA</a:t>
            </a:r>
          </a:p>
          <a:p>
            <a:r>
              <a:rPr lang="es-MX" sz="1050" dirty="0"/>
              <a:t>Para cocinar y aderezar ensaladas</a:t>
            </a:r>
            <a:endParaRPr lang="es-CO" sz="1050" dirty="0"/>
          </a:p>
        </p:txBody>
      </p:sp>
      <p:sp>
        <p:nvSpPr>
          <p:cNvPr id="31" name="Bocadillo nube: nube 30">
            <a:extLst>
              <a:ext uri="{FF2B5EF4-FFF2-40B4-BE49-F238E27FC236}">
                <a16:creationId xmlns:a16="http://schemas.microsoft.com/office/drawing/2014/main" id="{6AE6C32F-4879-480D-9E74-E0BA58E70C87}"/>
              </a:ext>
            </a:extLst>
          </p:cNvPr>
          <p:cNvSpPr/>
          <p:nvPr/>
        </p:nvSpPr>
        <p:spPr>
          <a:xfrm>
            <a:off x="566928" y="3666165"/>
            <a:ext cx="2852928" cy="2149585"/>
          </a:xfrm>
          <a:prstGeom prst="cloudCallou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/>
              <a:t>PLATO ¼</a:t>
            </a:r>
          </a:p>
          <a:p>
            <a:pPr algn="ctr"/>
            <a:r>
              <a:rPr lang="es-MX" sz="1200" b="1" dirty="0">
                <a:solidFill>
                  <a:srgbClr val="FF0000"/>
                </a:solidFill>
              </a:rPr>
              <a:t>PROTEÍNA SALUDABLE</a:t>
            </a:r>
          </a:p>
          <a:p>
            <a:pPr algn="ctr"/>
            <a:r>
              <a:rPr lang="es-MX" sz="1200" dirty="0"/>
              <a:t>Incluya pescados frescos, pollo, huevos, y leguminosas(frijol, lenteja, garbanzo, arvejas..)limite las carnes rojas, carnes frías o procesadas</a:t>
            </a:r>
            <a:endParaRPr lang="es-CO" sz="12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B12CFB1-FCEA-4A05-888B-00696C655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860" y="5590645"/>
            <a:ext cx="450210" cy="450210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0D386F0E-2FB8-48B3-9F45-C563E2165660}"/>
              </a:ext>
            </a:extLst>
          </p:cNvPr>
          <p:cNvSpPr txBox="1"/>
          <p:nvPr/>
        </p:nvSpPr>
        <p:spPr>
          <a:xfrm>
            <a:off x="2778990" y="6046710"/>
            <a:ext cx="1632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Más </a:t>
            </a:r>
            <a:r>
              <a:rPr lang="es-MX" sz="1200" b="1" dirty="0">
                <a:solidFill>
                  <a:srgbClr val="FF0000"/>
                </a:solidFill>
              </a:rPr>
              <a:t>ACTIVIDAD FISICA</a:t>
            </a:r>
            <a:endParaRPr lang="es-CO" sz="1200" b="1" dirty="0">
              <a:solidFill>
                <a:srgbClr val="FF0000"/>
              </a:solidFill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997CDFDB-E1A5-4F17-9659-6F8B6F93F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287" y="1368276"/>
            <a:ext cx="515110" cy="545395"/>
          </a:xfrm>
          <a:prstGeom prst="rect">
            <a:avLst/>
          </a:prstGeom>
        </p:spPr>
      </p:pic>
      <p:pic>
        <p:nvPicPr>
          <p:cNvPr id="1026" name="Picture 2" descr="➕ Emoji Signo Más en Facebook 3.0">
            <a:extLst>
              <a:ext uri="{FF2B5EF4-FFF2-40B4-BE49-F238E27FC236}">
                <a16:creationId xmlns:a16="http://schemas.microsoft.com/office/drawing/2014/main" id="{DE61F771-033C-4C00-940C-1EF2D913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641" y="1768793"/>
            <a:ext cx="207087" cy="20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A25A5067-19E3-4A52-8281-2DBEB06AA74B}"/>
              </a:ext>
            </a:extLst>
          </p:cNvPr>
          <p:cNvSpPr txBox="1"/>
          <p:nvPr/>
        </p:nvSpPr>
        <p:spPr>
          <a:xfrm>
            <a:off x="8492139" y="1768793"/>
            <a:ext cx="2334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accent1">
                    <a:lumMod val="75000"/>
                  </a:schemeClr>
                </a:solidFill>
              </a:rPr>
              <a:t>AGUA</a:t>
            </a:r>
          </a:p>
          <a:p>
            <a:pPr algn="ctr"/>
            <a:r>
              <a:rPr lang="es-MX" sz="1200" dirty="0"/>
              <a:t>Mantente hidratado durante el día</a:t>
            </a:r>
          </a:p>
          <a:p>
            <a:pPr algn="ctr"/>
            <a:r>
              <a:rPr lang="es-MX" sz="1200" dirty="0"/>
              <a:t>Evita las bebidas azucaradas</a:t>
            </a:r>
            <a:endParaRPr lang="es-CO" sz="1200" dirty="0"/>
          </a:p>
        </p:txBody>
      </p:sp>
      <p:sp>
        <p:nvSpPr>
          <p:cNvPr id="36" name="Bocadillo nube: nube 35">
            <a:extLst>
              <a:ext uri="{FF2B5EF4-FFF2-40B4-BE49-F238E27FC236}">
                <a16:creationId xmlns:a16="http://schemas.microsoft.com/office/drawing/2014/main" id="{A8DD533A-100B-427D-B8AD-BFC6091CA1A7}"/>
              </a:ext>
            </a:extLst>
          </p:cNvPr>
          <p:cNvSpPr/>
          <p:nvPr/>
        </p:nvSpPr>
        <p:spPr>
          <a:xfrm>
            <a:off x="9303129" y="3820701"/>
            <a:ext cx="2820719" cy="2112264"/>
          </a:xfrm>
          <a:prstGeom prst="cloud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200" dirty="0"/>
              <a:t>PLATO ½</a:t>
            </a:r>
          </a:p>
          <a:p>
            <a:pPr algn="ctr"/>
            <a:r>
              <a:rPr lang="es-MX" sz="1200" dirty="0">
                <a:solidFill>
                  <a:schemeClr val="accent4">
                    <a:lumMod val="75000"/>
                  </a:schemeClr>
                </a:solidFill>
              </a:rPr>
              <a:t>CEREALES INTEGRALES</a:t>
            </a:r>
          </a:p>
          <a:p>
            <a:pPr algn="ctr"/>
            <a:r>
              <a:rPr lang="es-MX" sz="1200" dirty="0"/>
              <a:t>Prefiera cereales integrales (arepa, pan, pastas o arroz integral). Consuma tubérculos, raíces y plátanos de manera moderada</a:t>
            </a:r>
            <a:endParaRPr lang="es-CO" sz="1200" dirty="0"/>
          </a:p>
        </p:txBody>
      </p:sp>
      <p:pic>
        <p:nvPicPr>
          <p:cNvPr id="1028" name="Picture 4" descr="Icono Sal, salero, pimentero, alimentos Gratis de 100 Colored Food &amp;amp; Drink  Icons">
            <a:extLst>
              <a:ext uri="{FF2B5EF4-FFF2-40B4-BE49-F238E27FC236}">
                <a16:creationId xmlns:a16="http://schemas.microsoft.com/office/drawing/2014/main" id="{B0153E40-7EC3-4422-A162-3DD66212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552" y="5546799"/>
            <a:ext cx="494056" cy="49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31A301A2-7EF7-4BBF-B8B7-9223A9E3A688}"/>
              </a:ext>
            </a:extLst>
          </p:cNvPr>
          <p:cNvSpPr txBox="1"/>
          <p:nvPr/>
        </p:nvSpPr>
        <p:spPr>
          <a:xfrm>
            <a:off x="8703320" y="5763856"/>
            <a:ext cx="880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Menos </a:t>
            </a:r>
            <a:r>
              <a:rPr lang="es-MX" sz="1200" b="1" dirty="0"/>
              <a:t>SAL</a:t>
            </a:r>
            <a:endParaRPr lang="es-CO" sz="1200" b="1" dirty="0"/>
          </a:p>
        </p:txBody>
      </p:sp>
    </p:spTree>
    <p:extLst>
      <p:ext uri="{BB962C8B-B14F-4D97-AF65-F5344CB8AC3E}">
        <p14:creationId xmlns:p14="http://schemas.microsoft.com/office/powerpoint/2010/main" val="306048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735582F-C1C1-4274-B3FD-492BC82DF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94" y="192202"/>
            <a:ext cx="1528704" cy="127395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09BEE2C-8C86-4958-8897-DAF1AF89DCE8}"/>
              </a:ext>
            </a:extLst>
          </p:cNvPr>
          <p:cNvSpPr txBox="1"/>
          <p:nvPr/>
        </p:nvSpPr>
        <p:spPr>
          <a:xfrm>
            <a:off x="2997771" y="1054848"/>
            <a:ext cx="4589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>
                <a:latin typeface="Berlin Sans FB" panose="020E0602020502020306" pitchFamily="34" charset="0"/>
                <a:cs typeface="Aharoni" panose="02010803020104030203" pitchFamily="2" charset="-79"/>
              </a:rPr>
              <a:t>PLAN DE ALIMENTACIÓN</a:t>
            </a:r>
            <a:endParaRPr lang="es-CO" sz="2800" b="1" dirty="0">
              <a:latin typeface="Berlin Sans FB" panose="020E0602020502020306" pitchFamily="34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1C7F8F-C7A9-4852-BEDF-6D3A7D35C71E}"/>
              </a:ext>
            </a:extLst>
          </p:cNvPr>
          <p:cNvSpPr txBox="1"/>
          <p:nvPr/>
        </p:nvSpPr>
        <p:spPr>
          <a:xfrm>
            <a:off x="7145079" y="644514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NOMBRE:____________________________</a:t>
            </a:r>
            <a:endParaRPr lang="es-CO" dirty="0">
              <a:solidFill>
                <a:srgbClr val="7030A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BFDAD2-757E-4589-9689-FDF7ECAA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164" y="1122690"/>
            <a:ext cx="387535" cy="3875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D06BE7-7682-4AC4-A8F6-F75CDEF5409F}"/>
              </a:ext>
            </a:extLst>
          </p:cNvPr>
          <p:cNvSpPr txBox="1"/>
          <p:nvPr/>
        </p:nvSpPr>
        <p:spPr>
          <a:xfrm>
            <a:off x="3848987" y="1619070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  <a:latin typeface="Berlin Sans FB" panose="020E0602020502020306" pitchFamily="34" charset="0"/>
              </a:rPr>
              <a:t>DESAYUNO</a:t>
            </a:r>
            <a:r>
              <a:rPr lang="es-MX" dirty="0">
                <a:latin typeface="Berlin Sans FB" panose="020E0602020502020306" pitchFamily="34" charset="0"/>
              </a:rPr>
              <a:t> – </a:t>
            </a:r>
            <a:r>
              <a:rPr lang="es-MX" dirty="0">
                <a:solidFill>
                  <a:srgbClr val="00B050"/>
                </a:solidFill>
                <a:latin typeface="Berlin Sans FB" panose="020E0602020502020306" pitchFamily="34" charset="0"/>
              </a:rPr>
              <a:t>REFRIGERIO </a:t>
            </a:r>
            <a:endParaRPr lang="es-CO" dirty="0">
              <a:solidFill>
                <a:srgbClr val="00B050"/>
              </a:solidFill>
              <a:latin typeface="Berlin Sans FB" panose="020E0602020502020306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8E7AAB8-CF86-4BEE-A44A-DF8A5A177EBC}"/>
              </a:ext>
            </a:extLst>
          </p:cNvPr>
          <p:cNvCxnSpPr>
            <a:cxnSpLocks/>
          </p:cNvCxnSpPr>
          <p:nvPr/>
        </p:nvCxnSpPr>
        <p:spPr>
          <a:xfrm flipH="1">
            <a:off x="1376916" y="2179674"/>
            <a:ext cx="26582" cy="38064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rra de pan contorno">
            <a:extLst>
              <a:ext uri="{FF2B5EF4-FFF2-40B4-BE49-F238E27FC236}">
                <a16:creationId xmlns:a16="http://schemas.microsoft.com/office/drawing/2014/main" id="{B52F8F06-6E75-43CF-986E-809DCF6C3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764" y="2224858"/>
            <a:ext cx="622004" cy="62200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B6A2800-F884-4364-AAE5-27011D342AE2}"/>
              </a:ext>
            </a:extLst>
          </p:cNvPr>
          <p:cNvSpPr/>
          <p:nvPr/>
        </p:nvSpPr>
        <p:spPr>
          <a:xfrm>
            <a:off x="1594884" y="2297453"/>
            <a:ext cx="4501114" cy="711561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A576F12-9D50-4AE8-97D1-05C9974DF053}"/>
              </a:ext>
            </a:extLst>
          </p:cNvPr>
          <p:cNvSpPr/>
          <p:nvPr/>
        </p:nvSpPr>
        <p:spPr>
          <a:xfrm>
            <a:off x="2349795" y="2064829"/>
            <a:ext cx="2424215" cy="2296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CARBOHIDRATOS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14" name="Gráfico 13" descr="Muslo de pollo contorno">
            <a:extLst>
              <a:ext uri="{FF2B5EF4-FFF2-40B4-BE49-F238E27FC236}">
                <a16:creationId xmlns:a16="http://schemas.microsoft.com/office/drawing/2014/main" id="{5220CAE0-9731-4A91-9324-C68E915F32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903" y="3026092"/>
            <a:ext cx="723013" cy="723013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A790D55-610A-4C2F-8930-D3CB9CAFDF6D}"/>
              </a:ext>
            </a:extLst>
          </p:cNvPr>
          <p:cNvSpPr/>
          <p:nvPr/>
        </p:nvSpPr>
        <p:spPr>
          <a:xfrm>
            <a:off x="1594884" y="3243339"/>
            <a:ext cx="4501114" cy="7115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64D8369-94A0-4CB1-8D57-D8B88F0A4207}"/>
              </a:ext>
            </a:extLst>
          </p:cNvPr>
          <p:cNvSpPr/>
          <p:nvPr/>
        </p:nvSpPr>
        <p:spPr>
          <a:xfrm>
            <a:off x="2349795" y="3009014"/>
            <a:ext cx="2424215" cy="229689"/>
          </a:xfrm>
          <a:prstGeom prst="roundRect">
            <a:avLst/>
          </a:prstGeom>
          <a:solidFill>
            <a:srgbClr val="F6223B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PROTEÍNAS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18" name="Gráfico 17" descr="Aguacate contorno">
            <a:extLst>
              <a:ext uri="{FF2B5EF4-FFF2-40B4-BE49-F238E27FC236}">
                <a16:creationId xmlns:a16="http://schemas.microsoft.com/office/drawing/2014/main" id="{EA1799C5-0048-4BB7-8BA0-4A6F18E1D3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903" y="3954900"/>
            <a:ext cx="723013" cy="72301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80173AB8-050D-4618-89FB-1AB1C16304DB}"/>
              </a:ext>
            </a:extLst>
          </p:cNvPr>
          <p:cNvSpPr/>
          <p:nvPr/>
        </p:nvSpPr>
        <p:spPr>
          <a:xfrm>
            <a:off x="1594884" y="4189225"/>
            <a:ext cx="4501114" cy="711561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EA4E806-5DB0-4B38-B2D6-0C9CBB99E345}"/>
              </a:ext>
            </a:extLst>
          </p:cNvPr>
          <p:cNvSpPr/>
          <p:nvPr/>
        </p:nvSpPr>
        <p:spPr>
          <a:xfrm>
            <a:off x="2349795" y="3959536"/>
            <a:ext cx="2424215" cy="22968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GRASAS SALUDABLES</a:t>
            </a:r>
            <a:endParaRPr lang="es-CO" dirty="0">
              <a:latin typeface="Berlin Sans FB" panose="020E0602020502020306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5CAB017-2FFF-42B1-96EC-88E7E2811332}"/>
              </a:ext>
            </a:extLst>
          </p:cNvPr>
          <p:cNvSpPr/>
          <p:nvPr/>
        </p:nvSpPr>
        <p:spPr>
          <a:xfrm>
            <a:off x="1594884" y="5130475"/>
            <a:ext cx="4501114" cy="711561"/>
          </a:xfrm>
          <a:prstGeom prst="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8533E1D-444F-4A7D-8C87-ECC999F1D981}"/>
              </a:ext>
            </a:extLst>
          </p:cNvPr>
          <p:cNvSpPr/>
          <p:nvPr/>
        </p:nvSpPr>
        <p:spPr>
          <a:xfrm>
            <a:off x="2190306" y="4900786"/>
            <a:ext cx="2884357" cy="22968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VITAMINAS Y MINERALES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27" name="Gráfico 26" descr="Naranja contorno">
            <a:extLst>
              <a:ext uri="{FF2B5EF4-FFF2-40B4-BE49-F238E27FC236}">
                <a16:creationId xmlns:a16="http://schemas.microsoft.com/office/drawing/2014/main" id="{6F2615BB-A464-4D9E-9EDE-CD59666FA6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034" y="5035697"/>
            <a:ext cx="711464" cy="711464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0E855E80-59FB-437B-AA14-B38FEBC6006B}"/>
              </a:ext>
            </a:extLst>
          </p:cNvPr>
          <p:cNvSpPr/>
          <p:nvPr/>
        </p:nvSpPr>
        <p:spPr>
          <a:xfrm>
            <a:off x="6954122" y="2312722"/>
            <a:ext cx="4501114" cy="1642178"/>
          </a:xfrm>
          <a:prstGeom prst="rect">
            <a:avLst/>
          </a:prstGeom>
          <a:ln w="285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1FA3A34-6FF0-4E48-8D0E-3EAFEB7BF511}"/>
              </a:ext>
            </a:extLst>
          </p:cNvPr>
          <p:cNvSpPr/>
          <p:nvPr/>
        </p:nvSpPr>
        <p:spPr>
          <a:xfrm>
            <a:off x="7868699" y="1988402"/>
            <a:ext cx="3061571" cy="331797"/>
          </a:xfrm>
          <a:prstGeom prst="roundRect">
            <a:avLst/>
          </a:prstGeom>
          <a:solidFill>
            <a:srgbClr val="D151F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EJEMPLO DE DESAYUNO</a:t>
            </a:r>
            <a:endParaRPr lang="es-CO" dirty="0">
              <a:latin typeface="Berlin Sans FB" panose="020E0602020502020306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36F9AD8-76BB-47DF-9EBF-39F2C71466D3}"/>
              </a:ext>
            </a:extLst>
          </p:cNvPr>
          <p:cNvSpPr/>
          <p:nvPr/>
        </p:nvSpPr>
        <p:spPr>
          <a:xfrm>
            <a:off x="6941691" y="4545005"/>
            <a:ext cx="4501114" cy="1642178"/>
          </a:xfrm>
          <a:prstGeom prst="rect">
            <a:avLst/>
          </a:prstGeom>
          <a:ln w="28575"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9150957-6BC7-46A5-BE81-FDEC2CB90693}"/>
              </a:ext>
            </a:extLst>
          </p:cNvPr>
          <p:cNvSpPr/>
          <p:nvPr/>
        </p:nvSpPr>
        <p:spPr>
          <a:xfrm>
            <a:off x="7868698" y="4238802"/>
            <a:ext cx="3061571" cy="331797"/>
          </a:xfrm>
          <a:prstGeom prst="roundRect">
            <a:avLst/>
          </a:prstGeom>
          <a:solidFill>
            <a:srgbClr val="00B05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EJEMPLO DE REFRIGERIO</a:t>
            </a:r>
            <a:endParaRPr lang="es-CO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2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735582F-C1C1-4274-B3FD-492BC82DF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94" y="192202"/>
            <a:ext cx="1528704" cy="127395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09BEE2C-8C86-4958-8897-DAF1AF89DCE8}"/>
              </a:ext>
            </a:extLst>
          </p:cNvPr>
          <p:cNvSpPr txBox="1"/>
          <p:nvPr/>
        </p:nvSpPr>
        <p:spPr>
          <a:xfrm>
            <a:off x="2997771" y="1054848"/>
            <a:ext cx="4589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>
                <a:latin typeface="Berlin Sans FB" panose="020E0602020502020306" pitchFamily="34" charset="0"/>
                <a:cs typeface="Aharoni" panose="02010803020104030203" pitchFamily="2" charset="-79"/>
              </a:rPr>
              <a:t>PLAN DE ALIMENTACIÓN</a:t>
            </a:r>
            <a:endParaRPr lang="es-CO" sz="2800" b="1" dirty="0">
              <a:latin typeface="Berlin Sans FB" panose="020E0602020502020306" pitchFamily="34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1C7F8F-C7A9-4852-BEDF-6D3A7D35C71E}"/>
              </a:ext>
            </a:extLst>
          </p:cNvPr>
          <p:cNvSpPr txBox="1"/>
          <p:nvPr/>
        </p:nvSpPr>
        <p:spPr>
          <a:xfrm>
            <a:off x="7145079" y="644514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NOMBRE:____________________________</a:t>
            </a:r>
            <a:endParaRPr lang="es-CO" dirty="0">
              <a:solidFill>
                <a:srgbClr val="7030A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BFDAD2-757E-4589-9689-FDF7ECAA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164" y="1122690"/>
            <a:ext cx="387535" cy="3875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D06BE7-7682-4AC4-A8F6-F75CDEF5409F}"/>
              </a:ext>
            </a:extLst>
          </p:cNvPr>
          <p:cNvSpPr txBox="1"/>
          <p:nvPr/>
        </p:nvSpPr>
        <p:spPr>
          <a:xfrm>
            <a:off x="3848987" y="1619070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  <a:latin typeface="Berlin Sans FB" panose="020E0602020502020306" pitchFamily="34" charset="0"/>
              </a:rPr>
              <a:t>ALMUERZO</a:t>
            </a:r>
            <a:r>
              <a:rPr lang="es-MX" dirty="0">
                <a:latin typeface="Berlin Sans FB" panose="020E0602020502020306" pitchFamily="34" charset="0"/>
              </a:rPr>
              <a:t> – </a:t>
            </a:r>
            <a:r>
              <a:rPr lang="es-MX" dirty="0">
                <a:solidFill>
                  <a:srgbClr val="00B050"/>
                </a:solidFill>
                <a:latin typeface="Berlin Sans FB" panose="020E0602020502020306" pitchFamily="34" charset="0"/>
              </a:rPr>
              <a:t>CENA </a:t>
            </a:r>
            <a:endParaRPr lang="es-CO" dirty="0">
              <a:solidFill>
                <a:srgbClr val="00B050"/>
              </a:solidFill>
              <a:latin typeface="Berlin Sans FB" panose="020E0602020502020306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8E7AAB8-CF86-4BEE-A44A-DF8A5A177EBC}"/>
              </a:ext>
            </a:extLst>
          </p:cNvPr>
          <p:cNvCxnSpPr>
            <a:cxnSpLocks/>
          </p:cNvCxnSpPr>
          <p:nvPr/>
        </p:nvCxnSpPr>
        <p:spPr>
          <a:xfrm flipH="1">
            <a:off x="1376916" y="2179674"/>
            <a:ext cx="26582" cy="38064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rra de pan contorno">
            <a:extLst>
              <a:ext uri="{FF2B5EF4-FFF2-40B4-BE49-F238E27FC236}">
                <a16:creationId xmlns:a16="http://schemas.microsoft.com/office/drawing/2014/main" id="{B52F8F06-6E75-43CF-986E-809DCF6C3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764" y="2224858"/>
            <a:ext cx="622004" cy="62200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B6A2800-F884-4364-AAE5-27011D342AE2}"/>
              </a:ext>
            </a:extLst>
          </p:cNvPr>
          <p:cNvSpPr/>
          <p:nvPr/>
        </p:nvSpPr>
        <p:spPr>
          <a:xfrm>
            <a:off x="1594884" y="2297453"/>
            <a:ext cx="4501114" cy="711561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A576F12-9D50-4AE8-97D1-05C9974DF053}"/>
              </a:ext>
            </a:extLst>
          </p:cNvPr>
          <p:cNvSpPr/>
          <p:nvPr/>
        </p:nvSpPr>
        <p:spPr>
          <a:xfrm>
            <a:off x="2349795" y="2064829"/>
            <a:ext cx="2424215" cy="2296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CARBOHIDRATOS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14" name="Gráfico 13" descr="Muslo de pollo contorno">
            <a:extLst>
              <a:ext uri="{FF2B5EF4-FFF2-40B4-BE49-F238E27FC236}">
                <a16:creationId xmlns:a16="http://schemas.microsoft.com/office/drawing/2014/main" id="{5220CAE0-9731-4A91-9324-C68E915F32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903" y="3026092"/>
            <a:ext cx="723013" cy="723013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A790D55-610A-4C2F-8930-D3CB9CAFDF6D}"/>
              </a:ext>
            </a:extLst>
          </p:cNvPr>
          <p:cNvSpPr/>
          <p:nvPr/>
        </p:nvSpPr>
        <p:spPr>
          <a:xfrm>
            <a:off x="1594884" y="3243339"/>
            <a:ext cx="4501114" cy="7115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64D8369-94A0-4CB1-8D57-D8B88F0A4207}"/>
              </a:ext>
            </a:extLst>
          </p:cNvPr>
          <p:cNvSpPr/>
          <p:nvPr/>
        </p:nvSpPr>
        <p:spPr>
          <a:xfrm>
            <a:off x="2349795" y="3009014"/>
            <a:ext cx="2424215" cy="229689"/>
          </a:xfrm>
          <a:prstGeom prst="roundRect">
            <a:avLst/>
          </a:prstGeom>
          <a:solidFill>
            <a:srgbClr val="F6223B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PROTEÍNAS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18" name="Gráfico 17" descr="Aguacate contorno">
            <a:extLst>
              <a:ext uri="{FF2B5EF4-FFF2-40B4-BE49-F238E27FC236}">
                <a16:creationId xmlns:a16="http://schemas.microsoft.com/office/drawing/2014/main" id="{EA1799C5-0048-4BB7-8BA0-4A6F18E1D3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903" y="3954900"/>
            <a:ext cx="723013" cy="72301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80173AB8-050D-4618-89FB-1AB1C16304DB}"/>
              </a:ext>
            </a:extLst>
          </p:cNvPr>
          <p:cNvSpPr/>
          <p:nvPr/>
        </p:nvSpPr>
        <p:spPr>
          <a:xfrm>
            <a:off x="1594884" y="4189225"/>
            <a:ext cx="4501114" cy="711561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EA4E806-5DB0-4B38-B2D6-0C9CBB99E345}"/>
              </a:ext>
            </a:extLst>
          </p:cNvPr>
          <p:cNvSpPr/>
          <p:nvPr/>
        </p:nvSpPr>
        <p:spPr>
          <a:xfrm>
            <a:off x="2349795" y="3959536"/>
            <a:ext cx="2424215" cy="22968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GRASAS SALUDABLES</a:t>
            </a:r>
            <a:endParaRPr lang="es-CO" dirty="0">
              <a:latin typeface="Berlin Sans FB" panose="020E0602020502020306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5CAB017-2FFF-42B1-96EC-88E7E2811332}"/>
              </a:ext>
            </a:extLst>
          </p:cNvPr>
          <p:cNvSpPr/>
          <p:nvPr/>
        </p:nvSpPr>
        <p:spPr>
          <a:xfrm>
            <a:off x="1594884" y="5130475"/>
            <a:ext cx="4501114" cy="711561"/>
          </a:xfrm>
          <a:prstGeom prst="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8533E1D-444F-4A7D-8C87-ECC999F1D981}"/>
              </a:ext>
            </a:extLst>
          </p:cNvPr>
          <p:cNvSpPr/>
          <p:nvPr/>
        </p:nvSpPr>
        <p:spPr>
          <a:xfrm>
            <a:off x="2190306" y="4900786"/>
            <a:ext cx="2884357" cy="22968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VITAMINAS Y MINERALES</a:t>
            </a:r>
            <a:endParaRPr lang="es-CO" dirty="0">
              <a:latin typeface="Berlin Sans FB" panose="020E0602020502020306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855E80-59FB-437B-AA14-B38FEBC6006B}"/>
              </a:ext>
            </a:extLst>
          </p:cNvPr>
          <p:cNvSpPr/>
          <p:nvPr/>
        </p:nvSpPr>
        <p:spPr>
          <a:xfrm>
            <a:off x="6954122" y="2312722"/>
            <a:ext cx="4501114" cy="1642178"/>
          </a:xfrm>
          <a:prstGeom prst="rect">
            <a:avLst/>
          </a:prstGeom>
          <a:ln w="28575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1FA3A34-6FF0-4E48-8D0E-3EAFEB7BF511}"/>
              </a:ext>
            </a:extLst>
          </p:cNvPr>
          <p:cNvSpPr/>
          <p:nvPr/>
        </p:nvSpPr>
        <p:spPr>
          <a:xfrm>
            <a:off x="7868699" y="1988402"/>
            <a:ext cx="3061571" cy="331797"/>
          </a:xfrm>
          <a:prstGeom prst="roundRect">
            <a:avLst/>
          </a:prstGeom>
          <a:solidFill>
            <a:srgbClr val="D151F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EJEMPLO DE ALMUERZO</a:t>
            </a:r>
            <a:endParaRPr lang="es-CO" dirty="0">
              <a:latin typeface="Berlin Sans FB" panose="020E0602020502020306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36F9AD8-76BB-47DF-9EBF-39F2C71466D3}"/>
              </a:ext>
            </a:extLst>
          </p:cNvPr>
          <p:cNvSpPr/>
          <p:nvPr/>
        </p:nvSpPr>
        <p:spPr>
          <a:xfrm>
            <a:off x="6941691" y="4545005"/>
            <a:ext cx="4501114" cy="1642178"/>
          </a:xfrm>
          <a:prstGeom prst="rect">
            <a:avLst/>
          </a:prstGeom>
          <a:ln w="28575"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9150957-6BC7-46A5-BE81-FDEC2CB90693}"/>
              </a:ext>
            </a:extLst>
          </p:cNvPr>
          <p:cNvSpPr/>
          <p:nvPr/>
        </p:nvSpPr>
        <p:spPr>
          <a:xfrm>
            <a:off x="7868698" y="4238802"/>
            <a:ext cx="3061571" cy="331797"/>
          </a:xfrm>
          <a:prstGeom prst="roundRect">
            <a:avLst/>
          </a:prstGeom>
          <a:solidFill>
            <a:srgbClr val="00B05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Berlin Sans FB" panose="020E0602020502020306" pitchFamily="34" charset="0"/>
              </a:rPr>
              <a:t>EJEMPLO DE CENA</a:t>
            </a:r>
            <a:endParaRPr lang="es-CO" dirty="0">
              <a:latin typeface="Berlin Sans FB" panose="020E0602020502020306" pitchFamily="34" charset="0"/>
            </a:endParaRPr>
          </a:p>
        </p:txBody>
      </p:sp>
      <p:pic>
        <p:nvPicPr>
          <p:cNvPr id="9" name="Gráfico 8" descr="Piña contorno">
            <a:extLst>
              <a:ext uri="{FF2B5EF4-FFF2-40B4-BE49-F238E27FC236}">
                <a16:creationId xmlns:a16="http://schemas.microsoft.com/office/drawing/2014/main" id="{F1350654-6F9D-42C3-BAB1-6193F51C65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9198" y="4946868"/>
            <a:ext cx="754300" cy="7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2EDEA229-7066-4140-89AB-247D723768DA}"/>
              </a:ext>
            </a:extLst>
          </p:cNvPr>
          <p:cNvSpPr/>
          <p:nvPr/>
        </p:nvSpPr>
        <p:spPr>
          <a:xfrm>
            <a:off x="2339163" y="606056"/>
            <a:ext cx="6921795" cy="5996764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002B58-A38E-4A99-973A-86058DCE6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66" y="917452"/>
            <a:ext cx="599106" cy="5058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7931E5-8D05-4969-9EDD-BE089CD41A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49" r="11281"/>
          <a:stretch/>
        </p:blipFill>
        <p:spPr>
          <a:xfrm>
            <a:off x="6645172" y="1222568"/>
            <a:ext cx="1154568" cy="7010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9B3598-0360-4D44-AA35-769E8641F4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135"/>
          <a:stretch/>
        </p:blipFill>
        <p:spPr>
          <a:xfrm>
            <a:off x="6775893" y="1893405"/>
            <a:ext cx="744286" cy="584464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B2CFF2E-9282-4A35-BCBC-3953DDBDED7E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5800061" y="606056"/>
            <a:ext cx="0" cy="599676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4B3224F-EB60-4BF2-9A2B-25AEAE06C5C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339163" y="3604438"/>
            <a:ext cx="343818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 descr="Una pizza en un plato&#10;&#10;Descripción generada automáticamente">
            <a:extLst>
              <a:ext uri="{FF2B5EF4-FFF2-40B4-BE49-F238E27FC236}">
                <a16:creationId xmlns:a16="http://schemas.microsoft.com/office/drawing/2014/main" id="{E473D1FD-2D23-B100-744D-F6ED52534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657473" y="2677143"/>
            <a:ext cx="1120198" cy="67211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AE485F-8418-2281-8249-E371E64B3A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627" t="8586" r="10481"/>
          <a:stretch/>
        </p:blipFill>
        <p:spPr>
          <a:xfrm>
            <a:off x="4459368" y="1222568"/>
            <a:ext cx="985710" cy="8767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0120996-02AD-B4C9-09D4-34971567E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6981" y="1888319"/>
            <a:ext cx="1276264" cy="63813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C4556EC-8EB5-0ACD-5672-EB6B42B9858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984" t="22341" r="7848" b="13022"/>
          <a:stretch/>
        </p:blipFill>
        <p:spPr>
          <a:xfrm>
            <a:off x="4459368" y="2333761"/>
            <a:ext cx="1094689" cy="67211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9A4238E-A842-6C0E-28FD-97C686BEC57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106" t="18832" r="26092" b="10504"/>
          <a:stretch/>
        </p:blipFill>
        <p:spPr>
          <a:xfrm>
            <a:off x="2727905" y="3806173"/>
            <a:ext cx="1172832" cy="77973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0677DD7-71EE-8DA5-5ABD-BF7337A3824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96" t="12989" r="15977" b="16023"/>
          <a:stretch/>
        </p:blipFill>
        <p:spPr>
          <a:xfrm>
            <a:off x="4559100" y="4523254"/>
            <a:ext cx="1172833" cy="100157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9FD9BA6-9C8A-FB28-79B1-3470033B972F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5469" t="21371" b="12356"/>
          <a:stretch/>
        </p:blipFill>
        <p:spPr>
          <a:xfrm>
            <a:off x="4313079" y="3804856"/>
            <a:ext cx="1152270" cy="60048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D33A61F-93AB-3485-503C-C35A7F93DD7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5745" t="3881" r="11984"/>
          <a:stretch/>
        </p:blipFill>
        <p:spPr>
          <a:xfrm>
            <a:off x="3459123" y="4787637"/>
            <a:ext cx="880733" cy="779728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55A18D8-C8B4-6144-6229-1E3E168C21B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8821" t="6145" r="5416" b="6623"/>
          <a:stretch/>
        </p:blipFill>
        <p:spPr>
          <a:xfrm>
            <a:off x="5977796" y="1587832"/>
            <a:ext cx="782957" cy="750794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0F2B642-3E0F-0F2D-AFF0-F2CFCBD03B27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4064" t="9101" r="7722" b="15331"/>
          <a:stretch/>
        </p:blipFill>
        <p:spPr>
          <a:xfrm>
            <a:off x="7671883" y="1792646"/>
            <a:ext cx="858465" cy="61333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8C0E0C9-CAAB-5D70-B08D-6B7D1BB984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12062" y="2668845"/>
            <a:ext cx="1154568" cy="92457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D74A0FF-983A-0A06-344F-2F965BCBB034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6624" t="7596" r="9692" b="7596"/>
          <a:stretch/>
        </p:blipFill>
        <p:spPr>
          <a:xfrm>
            <a:off x="7453381" y="2819629"/>
            <a:ext cx="1146120" cy="77294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99AE12C-89D2-A81F-9C62-D14171D0EA12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13354" t="9547" r="8061" b="14027"/>
          <a:stretch/>
        </p:blipFill>
        <p:spPr>
          <a:xfrm>
            <a:off x="6211634" y="3784396"/>
            <a:ext cx="1098237" cy="733069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D2F52BC-8D05-DBAF-41F5-C22423CB4FA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97206" y="4582868"/>
            <a:ext cx="721884" cy="108874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F774CDF-52E6-03D0-7F3B-F81F8EBDBCD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65334" y="3781971"/>
            <a:ext cx="800897" cy="80089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1C437120-46AF-31F3-4C82-202693E03A7F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17499" t="19960" r="10276" b="13436"/>
          <a:stretch/>
        </p:blipFill>
        <p:spPr>
          <a:xfrm>
            <a:off x="6020571" y="5642329"/>
            <a:ext cx="1098238" cy="67393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9B80E46-1CE6-A5D0-185A-702A37D53EE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195" y="4753831"/>
            <a:ext cx="878790" cy="82933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05A33BF7-1F38-B6FA-9F78-7E367D2F5C82}"/>
              </a:ext>
            </a:extLst>
          </p:cNvPr>
          <p:cNvSpPr/>
          <p:nvPr/>
        </p:nvSpPr>
        <p:spPr>
          <a:xfrm>
            <a:off x="226706" y="198562"/>
            <a:ext cx="3292889" cy="92333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DESAYUNO</a:t>
            </a:r>
          </a:p>
        </p:txBody>
      </p:sp>
    </p:spTree>
    <p:extLst>
      <p:ext uri="{BB962C8B-B14F-4D97-AF65-F5344CB8AC3E}">
        <p14:creationId xmlns:p14="http://schemas.microsoft.com/office/powerpoint/2010/main" val="48157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2EDEA229-7066-4140-89AB-247D723768DA}"/>
              </a:ext>
            </a:extLst>
          </p:cNvPr>
          <p:cNvSpPr/>
          <p:nvPr/>
        </p:nvSpPr>
        <p:spPr>
          <a:xfrm>
            <a:off x="2339163" y="606056"/>
            <a:ext cx="6921795" cy="5996764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02A6B4-CB47-4A0E-8DB1-7C31477A2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116"/>
          <a:stretch/>
        </p:blipFill>
        <p:spPr>
          <a:xfrm>
            <a:off x="3974022" y="991378"/>
            <a:ext cx="1803328" cy="11674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3A1C738-19DC-4691-87BF-9185CA4AD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95" y="1738746"/>
            <a:ext cx="1594884" cy="11900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A002B58-A38E-4A99-973A-86058DCE6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751" y="1115483"/>
            <a:ext cx="1354918" cy="11439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7931E5-8D05-4969-9EDD-BE089CD41A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049" r="11281"/>
          <a:stretch/>
        </p:blipFill>
        <p:spPr>
          <a:xfrm>
            <a:off x="6172309" y="2333761"/>
            <a:ext cx="2323882" cy="14110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16CA1D-FEC3-47A7-BA0E-0BB5617D4D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8419"/>
          <a:stretch/>
        </p:blipFill>
        <p:spPr>
          <a:xfrm>
            <a:off x="6584651" y="3429000"/>
            <a:ext cx="2143125" cy="15340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9B3598-0360-4D44-AA35-769E8641F4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8135"/>
          <a:stretch/>
        </p:blipFill>
        <p:spPr>
          <a:xfrm>
            <a:off x="6052047" y="4875835"/>
            <a:ext cx="1505831" cy="1182482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B2CFF2E-9282-4A35-BCBC-3953DDBDED7E}"/>
              </a:ext>
            </a:extLst>
          </p:cNvPr>
          <p:cNvCxnSpPr>
            <a:stCxn id="2" idx="0"/>
            <a:endCxn id="2" idx="4"/>
          </p:cNvCxnSpPr>
          <p:nvPr/>
        </p:nvCxnSpPr>
        <p:spPr>
          <a:xfrm>
            <a:off x="5800061" y="606056"/>
            <a:ext cx="0" cy="599676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4B3224F-EB60-4BF2-9A2B-25AEAE06C5C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339163" y="3604438"/>
            <a:ext cx="343818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3335D4C6-F6B3-4687-8A30-FEACCF28C66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820" t="12860" r="14073" b="9169"/>
          <a:stretch/>
        </p:blipFill>
        <p:spPr>
          <a:xfrm>
            <a:off x="2693513" y="3744800"/>
            <a:ext cx="968212" cy="7981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27AF16-9FD1-4E34-8432-F04C8646AA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055" y="5157217"/>
            <a:ext cx="1517763" cy="10417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2C7B152-0C1C-4F78-A2D6-2F9AEDA76F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1914" y="846112"/>
            <a:ext cx="560201" cy="75291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B4A6A2F-4A18-4446-A7E6-EEE26C71D20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7277" t="5515" r="15243" b="6789"/>
          <a:stretch/>
        </p:blipFill>
        <p:spPr>
          <a:xfrm rot="4712005">
            <a:off x="4541102" y="2219656"/>
            <a:ext cx="777473" cy="151833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60CE848-364C-05EB-9B22-D33D7B82683A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574" t="40794" r="20255" b="9494"/>
          <a:stretch/>
        </p:blipFill>
        <p:spPr>
          <a:xfrm>
            <a:off x="4671404" y="4235679"/>
            <a:ext cx="938857" cy="72981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077160-A27A-C7D5-1FDF-41C7ABE088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b="10550"/>
          <a:stretch/>
        </p:blipFill>
        <p:spPr>
          <a:xfrm>
            <a:off x="3028733" y="4633456"/>
            <a:ext cx="1321346" cy="75291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7084EFF-6CA7-DA08-DA4B-4E86015D4C2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3462" t="15048" r="13721" b="8590"/>
          <a:stretch/>
        </p:blipFill>
        <p:spPr>
          <a:xfrm>
            <a:off x="3710653" y="4013588"/>
            <a:ext cx="829226" cy="64884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D155A4BE-B345-2343-1997-D0F4878AC557}"/>
              </a:ext>
            </a:extLst>
          </p:cNvPr>
          <p:cNvSpPr/>
          <p:nvPr/>
        </p:nvSpPr>
        <p:spPr>
          <a:xfrm>
            <a:off x="172268" y="198562"/>
            <a:ext cx="3401765" cy="92333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ALMUERZO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4155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148</Words>
  <Application>Microsoft Office PowerPoint</Application>
  <PresentationFormat>Panorámica</PresentationFormat>
  <Paragraphs>37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Berlin Sans FB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Auxiliar Administrativo SHAWA</dc:creator>
  <cp:lastModifiedBy>Licencias_2</cp:lastModifiedBy>
  <cp:revision>3</cp:revision>
  <dcterms:created xsi:type="dcterms:W3CDTF">2021-10-11T20:52:52Z</dcterms:created>
  <dcterms:modified xsi:type="dcterms:W3CDTF">2022-05-17T20:20:06Z</dcterms:modified>
</cp:coreProperties>
</file>