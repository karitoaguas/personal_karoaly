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A6"/>
    <a:srgbClr val="00809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7563" autoAdjust="0"/>
    <p:restoredTop sz="94660"/>
  </p:normalViewPr>
  <p:slideViewPr>
    <p:cSldViewPr snapToGrid="0">
      <p:cViewPr>
        <p:scale>
          <a:sx n="100" d="100"/>
          <a:sy n="100" d="100"/>
        </p:scale>
        <p:origin x="624" y="78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C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CO"/>
          </a:p>
        </p:txBody>
      </p:sp>
      <p:sp>
        <p:nvSpPr>
          <p:cNvPr id="4" name="Marcador de fecha 3"/>
          <p:cNvSpPr>
            <a:spLocks noGrp="1"/>
          </p:cNvSpPr>
          <p:nvPr>
            <p:ph type="dt" sz="half" idx="10"/>
          </p:nvPr>
        </p:nvSpPr>
        <p:spPr/>
        <p:txBody>
          <a:bodyPr/>
          <a:lstStyle/>
          <a:p>
            <a:fld id="{B4CCF2C2-3165-4D30-B1E0-E4117101716B}" type="datetimeFigureOut">
              <a:rPr lang="es-CO" smtClean="0"/>
              <a:pPr/>
              <a:t>22/05/2025</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409912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10"/>
          </p:nvPr>
        </p:nvSpPr>
        <p:spPr/>
        <p:txBody>
          <a:bodyPr/>
          <a:lstStyle/>
          <a:p>
            <a:fld id="{B4CCF2C2-3165-4D30-B1E0-E4117101716B}" type="datetimeFigureOut">
              <a:rPr lang="es-CO" smtClean="0"/>
              <a:pPr/>
              <a:t>22/05/2025</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2984047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B4CCF2C2-3165-4D30-B1E0-E4117101716B}" type="datetimeFigureOut">
              <a:rPr lang="es-CO" smtClean="0"/>
              <a:pPr/>
              <a:t>22/05/2025</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151665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5" name="Marcador de fecha 4"/>
          <p:cNvSpPr>
            <a:spLocks noGrp="1"/>
          </p:cNvSpPr>
          <p:nvPr>
            <p:ph type="dt" sz="half" idx="10"/>
          </p:nvPr>
        </p:nvSpPr>
        <p:spPr/>
        <p:txBody>
          <a:bodyPr/>
          <a:lstStyle/>
          <a:p>
            <a:fld id="{B4CCF2C2-3165-4D30-B1E0-E4117101716B}" type="datetimeFigureOut">
              <a:rPr lang="es-CO" smtClean="0"/>
              <a:pPr/>
              <a:t>22/05/2025</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1269569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7" name="Marcador de fecha 6"/>
          <p:cNvSpPr>
            <a:spLocks noGrp="1"/>
          </p:cNvSpPr>
          <p:nvPr>
            <p:ph type="dt" sz="half" idx="10"/>
          </p:nvPr>
        </p:nvSpPr>
        <p:spPr/>
        <p:txBody>
          <a:bodyPr/>
          <a:lstStyle/>
          <a:p>
            <a:fld id="{B4CCF2C2-3165-4D30-B1E0-E4117101716B}" type="datetimeFigureOut">
              <a:rPr lang="es-CO" smtClean="0"/>
              <a:pPr/>
              <a:t>22/05/2025</a:t>
            </a:fld>
            <a:endParaRPr lang="es-CO"/>
          </a:p>
        </p:txBody>
      </p:sp>
      <p:sp>
        <p:nvSpPr>
          <p:cNvPr id="8" name="Marcador de pie de página 7"/>
          <p:cNvSpPr>
            <a:spLocks noGrp="1"/>
          </p:cNvSpPr>
          <p:nvPr>
            <p:ph type="ftr" sz="quarter" idx="11"/>
          </p:nvPr>
        </p:nvSpPr>
        <p:spPr/>
        <p:txBody>
          <a:bodyPr/>
          <a:lstStyle/>
          <a:p>
            <a:endParaRPr lang="es-CO"/>
          </a:p>
        </p:txBody>
      </p:sp>
      <p:sp>
        <p:nvSpPr>
          <p:cNvPr id="9" name="Marcador de número de diapositiva 8"/>
          <p:cNvSpPr>
            <a:spLocks noGrp="1"/>
          </p:cNvSpPr>
          <p:nvPr>
            <p:ph type="sldNum" sz="quarter" idx="12"/>
          </p:nvPr>
        </p:nvSpPr>
        <p:spPr/>
        <p:txBody>
          <a:body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34841993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fecha 2"/>
          <p:cNvSpPr>
            <a:spLocks noGrp="1"/>
          </p:cNvSpPr>
          <p:nvPr>
            <p:ph type="dt" sz="half" idx="10"/>
          </p:nvPr>
        </p:nvSpPr>
        <p:spPr/>
        <p:txBody>
          <a:bodyPr/>
          <a:lstStyle/>
          <a:p>
            <a:fld id="{B4CCF2C2-3165-4D30-B1E0-E4117101716B}" type="datetimeFigureOut">
              <a:rPr lang="es-CO" smtClean="0"/>
              <a:pPr/>
              <a:t>22/05/2025</a:t>
            </a:fld>
            <a:endParaRPr lang="es-CO"/>
          </a:p>
        </p:txBody>
      </p:sp>
      <p:sp>
        <p:nvSpPr>
          <p:cNvPr id="4" name="Marcador de pie de página 3"/>
          <p:cNvSpPr>
            <a:spLocks noGrp="1"/>
          </p:cNvSpPr>
          <p:nvPr>
            <p:ph type="ftr" sz="quarter" idx="11"/>
          </p:nvPr>
        </p:nvSpPr>
        <p:spPr/>
        <p:txBody>
          <a:bodyPr/>
          <a:lstStyle/>
          <a:p>
            <a:endParaRPr lang="es-CO"/>
          </a:p>
        </p:txBody>
      </p:sp>
      <p:sp>
        <p:nvSpPr>
          <p:cNvPr id="5" name="Marcador de número de diapositiva 4"/>
          <p:cNvSpPr>
            <a:spLocks noGrp="1"/>
          </p:cNvSpPr>
          <p:nvPr>
            <p:ph type="sldNum" sz="quarter" idx="12"/>
          </p:nvPr>
        </p:nvSpPr>
        <p:spPr/>
        <p:txBody>
          <a:body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1543383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B4CCF2C2-3165-4D30-B1E0-E4117101716B}" type="datetimeFigureOut">
              <a:rPr lang="es-CO" smtClean="0"/>
              <a:pPr/>
              <a:t>22/05/2025</a:t>
            </a:fld>
            <a:endParaRPr lang="es-CO"/>
          </a:p>
        </p:txBody>
      </p:sp>
      <p:sp>
        <p:nvSpPr>
          <p:cNvPr id="3" name="Marcador de pie de página 2"/>
          <p:cNvSpPr>
            <a:spLocks noGrp="1"/>
          </p:cNvSpPr>
          <p:nvPr>
            <p:ph type="ftr" sz="quarter" idx="11"/>
          </p:nvPr>
        </p:nvSpPr>
        <p:spPr/>
        <p:txBody>
          <a:bodyPr/>
          <a:lstStyle/>
          <a:p>
            <a:endParaRPr lang="es-CO"/>
          </a:p>
        </p:txBody>
      </p:sp>
      <p:sp>
        <p:nvSpPr>
          <p:cNvPr id="4" name="Marcador de número de diapositiva 3"/>
          <p:cNvSpPr>
            <a:spLocks noGrp="1"/>
          </p:cNvSpPr>
          <p:nvPr>
            <p:ph type="sldNum" sz="quarter" idx="12"/>
          </p:nvPr>
        </p:nvSpPr>
        <p:spPr/>
        <p:txBody>
          <a:body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4242902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C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B4CCF2C2-3165-4D30-B1E0-E4117101716B}" type="datetimeFigureOut">
              <a:rPr lang="es-CO" smtClean="0"/>
              <a:pPr/>
              <a:t>22/05/2025</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102735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C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B4CCF2C2-3165-4D30-B1E0-E4117101716B}" type="datetimeFigureOut">
              <a:rPr lang="es-CO" smtClean="0"/>
              <a:pPr/>
              <a:t>22/05/2025</a:t>
            </a:fld>
            <a:endParaRPr lang="es-CO"/>
          </a:p>
        </p:txBody>
      </p:sp>
      <p:sp>
        <p:nvSpPr>
          <p:cNvPr id="6" name="Marcador de pie de página 5"/>
          <p:cNvSpPr>
            <a:spLocks noGrp="1"/>
          </p:cNvSpPr>
          <p:nvPr>
            <p:ph type="ftr" sz="quarter" idx="11"/>
          </p:nvPr>
        </p:nvSpPr>
        <p:spPr/>
        <p:txBody>
          <a:bodyPr/>
          <a:lstStyle/>
          <a:p>
            <a:endParaRPr lang="es-CO"/>
          </a:p>
        </p:txBody>
      </p:sp>
      <p:sp>
        <p:nvSpPr>
          <p:cNvPr id="7" name="Marcador de número de diapositiva 6"/>
          <p:cNvSpPr>
            <a:spLocks noGrp="1"/>
          </p:cNvSpPr>
          <p:nvPr>
            <p:ph type="sldNum" sz="quarter" idx="12"/>
          </p:nvPr>
        </p:nvSpPr>
        <p:spPr/>
        <p:txBody>
          <a:body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1024941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CO"/>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10"/>
          </p:nvPr>
        </p:nvSpPr>
        <p:spPr/>
        <p:txBody>
          <a:bodyPr/>
          <a:lstStyle/>
          <a:p>
            <a:fld id="{B4CCF2C2-3165-4D30-B1E0-E4117101716B}" type="datetimeFigureOut">
              <a:rPr lang="es-CO" smtClean="0"/>
              <a:pPr/>
              <a:t>22/05/2025</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2908256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C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10"/>
          </p:nvPr>
        </p:nvSpPr>
        <p:spPr/>
        <p:txBody>
          <a:bodyPr/>
          <a:lstStyle/>
          <a:p>
            <a:fld id="{B4CCF2C2-3165-4D30-B1E0-E4117101716B}" type="datetimeFigureOut">
              <a:rPr lang="es-CO" smtClean="0"/>
              <a:pPr/>
              <a:t>22/05/2025</a:t>
            </a:fld>
            <a:endParaRPr lang="es-CO"/>
          </a:p>
        </p:txBody>
      </p:sp>
      <p:sp>
        <p:nvSpPr>
          <p:cNvPr id="5" name="Marcador de pie de página 4"/>
          <p:cNvSpPr>
            <a:spLocks noGrp="1"/>
          </p:cNvSpPr>
          <p:nvPr>
            <p:ph type="ftr" sz="quarter" idx="11"/>
          </p:nvPr>
        </p:nvSpPr>
        <p:spPr/>
        <p:txBody>
          <a:bodyPr/>
          <a:lstStyle/>
          <a:p>
            <a:endParaRPr lang="es-CO"/>
          </a:p>
        </p:txBody>
      </p:sp>
      <p:sp>
        <p:nvSpPr>
          <p:cNvPr id="6" name="Marcador de número de diapositiva 5"/>
          <p:cNvSpPr>
            <a:spLocks noGrp="1"/>
          </p:cNvSpPr>
          <p:nvPr>
            <p:ph type="sldNum" sz="quarter" idx="12"/>
          </p:nvPr>
        </p:nvSpPr>
        <p:spPr/>
        <p:txBody>
          <a:body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2446878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CCF2C2-3165-4D30-B1E0-E4117101716B}" type="datetimeFigureOut">
              <a:rPr lang="es-CO" smtClean="0"/>
              <a:pPr/>
              <a:t>22/05/2025</a:t>
            </a:fld>
            <a:endParaRPr lang="es-C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6572E6-599E-4CB3-B531-ACA90FE71A6C}" type="slidenum">
              <a:rPr lang="es-CO" smtClean="0"/>
              <a:pPr/>
              <a:t>‹Nº›</a:t>
            </a:fld>
            <a:endParaRPr lang="es-CO"/>
          </a:p>
        </p:txBody>
      </p:sp>
    </p:spTree>
    <p:extLst>
      <p:ext uri="{BB962C8B-B14F-4D97-AF65-F5344CB8AC3E}">
        <p14:creationId xmlns:p14="http://schemas.microsoft.com/office/powerpoint/2010/main" xmlns="" val="3492951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5" name="CuadroTexto 4"/>
          <p:cNvSpPr txBox="1"/>
          <p:nvPr/>
        </p:nvSpPr>
        <p:spPr>
          <a:xfrm>
            <a:off x="7912145" y="2767504"/>
            <a:ext cx="2905125" cy="1323439"/>
          </a:xfrm>
          <a:prstGeom prst="rect">
            <a:avLst/>
          </a:prstGeom>
          <a:noFill/>
        </p:spPr>
        <p:txBody>
          <a:bodyPr wrap="square" rtlCol="0">
            <a:spAutoFit/>
          </a:bodyPr>
          <a:lstStyle/>
          <a:p>
            <a:r>
              <a:rPr lang="es-CO" sz="2400" dirty="0" smtClean="0">
                <a:latin typeface="Gill Sans MT" panose="020B0502020104020203" pitchFamily="34" charset="0"/>
              </a:rPr>
              <a:t>¿Cómo lograr </a:t>
            </a:r>
            <a:r>
              <a:rPr lang="es-CO" sz="2800" b="1" dirty="0" smtClean="0">
                <a:solidFill>
                  <a:srgbClr val="008090"/>
                </a:solidFill>
                <a:latin typeface="Gill Sans MT" panose="020B0502020104020203" pitchFamily="34" charset="0"/>
              </a:rPr>
              <a:t>buenos hábitos nutricionales?</a:t>
            </a:r>
            <a:endParaRPr lang="es-CO" sz="2800" b="1" dirty="0">
              <a:solidFill>
                <a:srgbClr val="008090"/>
              </a:solidFill>
              <a:latin typeface="Gill Sans MT" panose="020B0502020104020203" pitchFamily="34" charset="0"/>
            </a:endParaRPr>
          </a:p>
        </p:txBody>
      </p:sp>
    </p:spTree>
    <p:extLst>
      <p:ext uri="{BB962C8B-B14F-4D97-AF65-F5344CB8AC3E}">
        <p14:creationId xmlns:p14="http://schemas.microsoft.com/office/powerpoint/2010/main" xmlns="" val="3052773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295694" y="434313"/>
            <a:ext cx="5736615" cy="430887"/>
          </a:xfrm>
          <a:prstGeom prst="rect">
            <a:avLst/>
          </a:prstGeom>
          <a:noFill/>
        </p:spPr>
        <p:txBody>
          <a:bodyPr wrap="square" rtlCol="0">
            <a:spAutoFit/>
          </a:bodyPr>
          <a:lstStyle/>
          <a:p>
            <a:r>
              <a:rPr lang="es-CO" sz="2200" b="1" dirty="0" smtClean="0">
                <a:solidFill>
                  <a:schemeClr val="bg1"/>
                </a:solidFill>
                <a:latin typeface="Gill Sans MT" panose="020B0502020104020203" pitchFamily="34" charset="0"/>
              </a:rPr>
              <a:t>Decálogo de una alimentación saludable</a:t>
            </a:r>
            <a:endParaRPr lang="es-CO" sz="2200" b="1" dirty="0">
              <a:solidFill>
                <a:schemeClr val="bg1"/>
              </a:solidFill>
              <a:latin typeface="Gill Sans MT" panose="020B0502020104020203" pitchFamily="34" charset="0"/>
            </a:endParaRPr>
          </a:p>
        </p:txBody>
      </p:sp>
      <p:sp>
        <p:nvSpPr>
          <p:cNvPr id="4" name="CuadroTexto 3"/>
          <p:cNvSpPr txBox="1"/>
          <p:nvPr/>
        </p:nvSpPr>
        <p:spPr>
          <a:xfrm>
            <a:off x="1790698" y="1962150"/>
            <a:ext cx="2105027" cy="461665"/>
          </a:xfrm>
          <a:prstGeom prst="rect">
            <a:avLst/>
          </a:prstGeom>
          <a:noFill/>
        </p:spPr>
        <p:txBody>
          <a:bodyPr wrap="square" rtlCol="0">
            <a:spAutoFit/>
          </a:bodyPr>
          <a:lstStyle/>
          <a:p>
            <a:r>
              <a:rPr lang="es-CO" sz="1200" dirty="0" smtClean="0">
                <a:solidFill>
                  <a:srgbClr val="008090"/>
                </a:solidFill>
                <a:latin typeface="Gill Sans MT" panose="020B0502020104020203" pitchFamily="34" charset="0"/>
              </a:rPr>
              <a:t>Consume alimentos variados y nutritivos diariamente</a:t>
            </a:r>
            <a:endParaRPr lang="es-CO" sz="1400" dirty="0">
              <a:solidFill>
                <a:srgbClr val="008090"/>
              </a:solidFill>
              <a:latin typeface="Gill Sans MT" panose="020B0502020104020203" pitchFamily="34" charset="0"/>
            </a:endParaRPr>
          </a:p>
        </p:txBody>
      </p:sp>
      <p:sp>
        <p:nvSpPr>
          <p:cNvPr id="5" name="CuadroTexto 4"/>
          <p:cNvSpPr txBox="1"/>
          <p:nvPr/>
        </p:nvSpPr>
        <p:spPr>
          <a:xfrm>
            <a:off x="1790698" y="2683817"/>
            <a:ext cx="2105027" cy="646331"/>
          </a:xfrm>
          <a:prstGeom prst="rect">
            <a:avLst/>
          </a:prstGeom>
          <a:noFill/>
        </p:spPr>
        <p:txBody>
          <a:bodyPr wrap="square" rtlCol="0">
            <a:spAutoFit/>
          </a:bodyPr>
          <a:lstStyle/>
          <a:p>
            <a:r>
              <a:rPr lang="es-CO" sz="1200" dirty="0" smtClean="0">
                <a:solidFill>
                  <a:srgbClr val="008090"/>
                </a:solidFill>
                <a:latin typeface="Gill Sans MT" panose="020B0502020104020203" pitchFamily="34" charset="0"/>
              </a:rPr>
              <a:t>Disminuye el consumo de grasas saturadas y evita las comidas rápidas</a:t>
            </a:r>
            <a:endParaRPr lang="es-CO" sz="1400" dirty="0">
              <a:solidFill>
                <a:srgbClr val="008090"/>
              </a:solidFill>
              <a:latin typeface="Gill Sans MT" panose="020B0502020104020203" pitchFamily="34" charset="0"/>
            </a:endParaRPr>
          </a:p>
        </p:txBody>
      </p:sp>
      <p:sp>
        <p:nvSpPr>
          <p:cNvPr id="6" name="CuadroTexto 5"/>
          <p:cNvSpPr txBox="1"/>
          <p:nvPr/>
        </p:nvSpPr>
        <p:spPr>
          <a:xfrm>
            <a:off x="1790698" y="3474392"/>
            <a:ext cx="1838327" cy="646331"/>
          </a:xfrm>
          <a:prstGeom prst="rect">
            <a:avLst/>
          </a:prstGeom>
          <a:noFill/>
        </p:spPr>
        <p:txBody>
          <a:bodyPr wrap="square" rtlCol="0">
            <a:spAutoFit/>
          </a:bodyPr>
          <a:lstStyle/>
          <a:p>
            <a:r>
              <a:rPr lang="es-CO" sz="1200" dirty="0" smtClean="0">
                <a:solidFill>
                  <a:srgbClr val="008090"/>
                </a:solidFill>
                <a:latin typeface="Gill Sans MT" panose="020B0502020104020203" pitchFamily="34" charset="0"/>
              </a:rPr>
              <a:t>Aumenta el consumo de frutas y verduras “5 veces al día”</a:t>
            </a:r>
            <a:endParaRPr lang="es-CO" sz="1400" dirty="0">
              <a:solidFill>
                <a:srgbClr val="008090"/>
              </a:solidFill>
              <a:latin typeface="Gill Sans MT" panose="020B0502020104020203" pitchFamily="34" charset="0"/>
            </a:endParaRPr>
          </a:p>
        </p:txBody>
      </p:sp>
      <p:sp>
        <p:nvSpPr>
          <p:cNvPr id="7" name="CuadroTexto 6"/>
          <p:cNvSpPr txBox="1"/>
          <p:nvPr/>
        </p:nvSpPr>
        <p:spPr>
          <a:xfrm>
            <a:off x="1790698" y="4350692"/>
            <a:ext cx="1838327" cy="461665"/>
          </a:xfrm>
          <a:prstGeom prst="rect">
            <a:avLst/>
          </a:prstGeom>
          <a:noFill/>
        </p:spPr>
        <p:txBody>
          <a:bodyPr wrap="square" rtlCol="0">
            <a:spAutoFit/>
          </a:bodyPr>
          <a:lstStyle/>
          <a:p>
            <a:r>
              <a:rPr lang="es-CO" sz="1200" dirty="0" smtClean="0">
                <a:solidFill>
                  <a:srgbClr val="008090"/>
                </a:solidFill>
                <a:latin typeface="Gill Sans MT" panose="020B0502020104020203" pitchFamily="34" charset="0"/>
              </a:rPr>
              <a:t>Vigila tu peso corporal fácilmente</a:t>
            </a:r>
            <a:endParaRPr lang="es-CO" sz="1400" dirty="0">
              <a:solidFill>
                <a:srgbClr val="008090"/>
              </a:solidFill>
              <a:latin typeface="Gill Sans MT" panose="020B0502020104020203" pitchFamily="34" charset="0"/>
            </a:endParaRPr>
          </a:p>
        </p:txBody>
      </p:sp>
      <p:sp>
        <p:nvSpPr>
          <p:cNvPr id="8" name="CuadroTexto 7"/>
          <p:cNvSpPr txBox="1"/>
          <p:nvPr/>
        </p:nvSpPr>
        <p:spPr>
          <a:xfrm>
            <a:off x="1790698" y="5142681"/>
            <a:ext cx="2105027" cy="461665"/>
          </a:xfrm>
          <a:prstGeom prst="rect">
            <a:avLst/>
          </a:prstGeom>
          <a:noFill/>
        </p:spPr>
        <p:txBody>
          <a:bodyPr wrap="square" rtlCol="0">
            <a:spAutoFit/>
          </a:bodyPr>
          <a:lstStyle/>
          <a:p>
            <a:r>
              <a:rPr lang="es-CO" sz="1200" dirty="0" smtClean="0">
                <a:solidFill>
                  <a:srgbClr val="008090"/>
                </a:solidFill>
                <a:latin typeface="Gill Sans MT" panose="020B0502020104020203" pitchFamily="34" charset="0"/>
              </a:rPr>
              <a:t>Evita el consumo de bebidas azucaradas</a:t>
            </a:r>
            <a:endParaRPr lang="es-CO" sz="1400" dirty="0">
              <a:solidFill>
                <a:srgbClr val="008090"/>
              </a:solidFill>
              <a:latin typeface="Gill Sans MT" panose="020B0502020104020203" pitchFamily="34" charset="0"/>
            </a:endParaRPr>
          </a:p>
        </p:txBody>
      </p:sp>
      <p:sp>
        <p:nvSpPr>
          <p:cNvPr id="9" name="CuadroTexto 8"/>
          <p:cNvSpPr txBox="1"/>
          <p:nvPr/>
        </p:nvSpPr>
        <p:spPr>
          <a:xfrm>
            <a:off x="4457698" y="1962150"/>
            <a:ext cx="2105027" cy="461665"/>
          </a:xfrm>
          <a:prstGeom prst="rect">
            <a:avLst/>
          </a:prstGeom>
          <a:noFill/>
        </p:spPr>
        <p:txBody>
          <a:bodyPr wrap="square" rtlCol="0">
            <a:spAutoFit/>
          </a:bodyPr>
          <a:lstStyle/>
          <a:p>
            <a:r>
              <a:rPr lang="es-CO" sz="1200" dirty="0" smtClean="0">
                <a:solidFill>
                  <a:srgbClr val="008090"/>
                </a:solidFill>
                <a:latin typeface="Gill Sans MT" panose="020B0502020104020203" pitchFamily="34" charset="0"/>
              </a:rPr>
              <a:t>Limita el consumo de sal en tu alimentación</a:t>
            </a:r>
            <a:endParaRPr lang="es-CO" sz="1200" dirty="0">
              <a:solidFill>
                <a:srgbClr val="008090"/>
              </a:solidFill>
              <a:latin typeface="Gill Sans MT" panose="020B0502020104020203" pitchFamily="34" charset="0"/>
            </a:endParaRPr>
          </a:p>
        </p:txBody>
      </p:sp>
      <p:sp>
        <p:nvSpPr>
          <p:cNvPr id="10" name="CuadroTexto 9"/>
          <p:cNvSpPr txBox="1"/>
          <p:nvPr/>
        </p:nvSpPr>
        <p:spPr>
          <a:xfrm>
            <a:off x="4457697" y="2836217"/>
            <a:ext cx="2105027" cy="276999"/>
          </a:xfrm>
          <a:prstGeom prst="rect">
            <a:avLst/>
          </a:prstGeom>
          <a:noFill/>
        </p:spPr>
        <p:txBody>
          <a:bodyPr wrap="square" rtlCol="0">
            <a:spAutoFit/>
          </a:bodyPr>
          <a:lstStyle/>
          <a:p>
            <a:r>
              <a:rPr lang="es-CO" sz="1200" dirty="0" smtClean="0">
                <a:solidFill>
                  <a:srgbClr val="008090"/>
                </a:solidFill>
                <a:latin typeface="Gill Sans MT" panose="020B0502020104020203" pitchFamily="34" charset="0"/>
              </a:rPr>
              <a:t>Elige alimentos integrales</a:t>
            </a:r>
            <a:endParaRPr lang="es-CO" sz="1200" dirty="0">
              <a:solidFill>
                <a:srgbClr val="008090"/>
              </a:solidFill>
              <a:latin typeface="Gill Sans MT" panose="020B0502020104020203" pitchFamily="34" charset="0"/>
            </a:endParaRPr>
          </a:p>
        </p:txBody>
      </p:sp>
      <p:sp>
        <p:nvSpPr>
          <p:cNvPr id="11" name="CuadroTexto 10"/>
          <p:cNvSpPr txBox="1"/>
          <p:nvPr/>
        </p:nvSpPr>
        <p:spPr>
          <a:xfrm>
            <a:off x="4457696" y="3473023"/>
            <a:ext cx="2105027" cy="646331"/>
          </a:xfrm>
          <a:prstGeom prst="rect">
            <a:avLst/>
          </a:prstGeom>
          <a:noFill/>
        </p:spPr>
        <p:txBody>
          <a:bodyPr wrap="square" rtlCol="0">
            <a:spAutoFit/>
          </a:bodyPr>
          <a:lstStyle/>
          <a:p>
            <a:r>
              <a:rPr lang="es-CO" sz="1200" dirty="0" smtClean="0">
                <a:solidFill>
                  <a:srgbClr val="008090"/>
                </a:solidFill>
                <a:latin typeface="Gill Sans MT" panose="020B0502020104020203" pitchFamily="34" charset="0"/>
              </a:rPr>
              <a:t>Toma medidas para el manejo y conservación de los alimentos</a:t>
            </a:r>
            <a:endParaRPr lang="es-CO" sz="1200" dirty="0">
              <a:solidFill>
                <a:srgbClr val="008090"/>
              </a:solidFill>
              <a:latin typeface="Gill Sans MT" panose="020B0502020104020203" pitchFamily="34" charset="0"/>
            </a:endParaRPr>
          </a:p>
        </p:txBody>
      </p:sp>
      <p:sp>
        <p:nvSpPr>
          <p:cNvPr id="12" name="CuadroTexto 11"/>
          <p:cNvSpPr txBox="1"/>
          <p:nvPr/>
        </p:nvSpPr>
        <p:spPr>
          <a:xfrm>
            <a:off x="4457695" y="4350692"/>
            <a:ext cx="2105027" cy="461665"/>
          </a:xfrm>
          <a:prstGeom prst="rect">
            <a:avLst/>
          </a:prstGeom>
          <a:noFill/>
        </p:spPr>
        <p:txBody>
          <a:bodyPr wrap="square" rtlCol="0">
            <a:spAutoFit/>
          </a:bodyPr>
          <a:lstStyle/>
          <a:p>
            <a:r>
              <a:rPr lang="es-CO" sz="1200" dirty="0" smtClean="0">
                <a:solidFill>
                  <a:srgbClr val="008090"/>
                </a:solidFill>
                <a:latin typeface="Gill Sans MT" panose="020B0502020104020203" pitchFamily="34" charset="0"/>
              </a:rPr>
              <a:t>Lacta a tu bebé y apoya a las mujeres que deciden lactar</a:t>
            </a:r>
            <a:endParaRPr lang="es-CO" sz="1200" dirty="0">
              <a:solidFill>
                <a:srgbClr val="008090"/>
              </a:solidFill>
              <a:latin typeface="Gill Sans MT" panose="020B0502020104020203" pitchFamily="34" charset="0"/>
            </a:endParaRPr>
          </a:p>
        </p:txBody>
      </p:sp>
      <p:sp>
        <p:nvSpPr>
          <p:cNvPr id="13" name="CuadroTexto 12"/>
          <p:cNvSpPr txBox="1"/>
          <p:nvPr/>
        </p:nvSpPr>
        <p:spPr>
          <a:xfrm>
            <a:off x="4457695" y="5142681"/>
            <a:ext cx="2105027" cy="461665"/>
          </a:xfrm>
          <a:prstGeom prst="rect">
            <a:avLst/>
          </a:prstGeom>
          <a:noFill/>
        </p:spPr>
        <p:txBody>
          <a:bodyPr wrap="square" rtlCol="0">
            <a:spAutoFit/>
          </a:bodyPr>
          <a:lstStyle/>
          <a:p>
            <a:r>
              <a:rPr lang="es-CO" sz="1200" dirty="0" smtClean="0">
                <a:solidFill>
                  <a:srgbClr val="008090"/>
                </a:solidFill>
                <a:latin typeface="Gill Sans MT" panose="020B0502020104020203" pitchFamily="34" charset="0"/>
              </a:rPr>
              <a:t>¿Por qué “5 al día” en Colombia?</a:t>
            </a:r>
            <a:endParaRPr lang="es-CO" sz="1200" dirty="0">
              <a:solidFill>
                <a:srgbClr val="008090"/>
              </a:solidFill>
              <a:latin typeface="Gill Sans MT" panose="020B0502020104020203" pitchFamily="34" charset="0"/>
            </a:endParaRPr>
          </a:p>
        </p:txBody>
      </p:sp>
    </p:spTree>
    <p:extLst>
      <p:ext uri="{BB962C8B-B14F-4D97-AF65-F5344CB8AC3E}">
        <p14:creationId xmlns:p14="http://schemas.microsoft.com/office/powerpoint/2010/main" xmlns="" val="3293206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1943519" y="415263"/>
            <a:ext cx="7972006" cy="430887"/>
          </a:xfrm>
          <a:prstGeom prst="rect">
            <a:avLst/>
          </a:prstGeom>
          <a:noFill/>
        </p:spPr>
        <p:txBody>
          <a:bodyPr wrap="square" rtlCol="0">
            <a:spAutoFit/>
          </a:bodyPr>
          <a:lstStyle/>
          <a:p>
            <a:r>
              <a:rPr lang="es-CO" sz="2200" b="1" dirty="0" smtClean="0">
                <a:solidFill>
                  <a:srgbClr val="008090"/>
                </a:solidFill>
                <a:latin typeface="Gill Sans MT" panose="020B0502020104020203" pitchFamily="34" charset="0"/>
              </a:rPr>
              <a:t>Consume alimentos variados y nutritivos diariamente</a:t>
            </a:r>
            <a:endParaRPr lang="es-CO" sz="2200" b="1" dirty="0">
              <a:solidFill>
                <a:srgbClr val="008090"/>
              </a:solidFill>
              <a:latin typeface="Gill Sans MT" panose="020B0502020104020203" pitchFamily="34" charset="0"/>
            </a:endParaRPr>
          </a:p>
        </p:txBody>
      </p:sp>
      <p:sp>
        <p:nvSpPr>
          <p:cNvPr id="4" name="CuadroTexto 3"/>
          <p:cNvSpPr txBox="1"/>
          <p:nvPr/>
        </p:nvSpPr>
        <p:spPr>
          <a:xfrm>
            <a:off x="733423" y="3313211"/>
            <a:ext cx="4191002" cy="830997"/>
          </a:xfrm>
          <a:prstGeom prst="rect">
            <a:avLst/>
          </a:prstGeom>
          <a:noFill/>
        </p:spPr>
        <p:txBody>
          <a:bodyPr wrap="square" rtlCol="0">
            <a:spAutoFit/>
          </a:bodyPr>
          <a:lstStyle/>
          <a:p>
            <a:r>
              <a:rPr lang="es-CO" sz="1600" dirty="0" smtClean="0">
                <a:latin typeface="Gill Sans MT" panose="020B0502020104020203" pitchFamily="34" charset="0"/>
              </a:rPr>
              <a:t>La alimentación es más saludable y nutritiva cuando se incluyen diferentes tipos de alimentos en cada comida.</a:t>
            </a:r>
            <a:endParaRPr lang="es-CO" dirty="0">
              <a:latin typeface="Gill Sans MT" panose="020B0502020104020203" pitchFamily="34" charset="0"/>
            </a:endParaRPr>
          </a:p>
        </p:txBody>
      </p:sp>
      <p:sp>
        <p:nvSpPr>
          <p:cNvPr id="5" name="CuadroTexto 4"/>
          <p:cNvSpPr txBox="1"/>
          <p:nvPr/>
        </p:nvSpPr>
        <p:spPr>
          <a:xfrm>
            <a:off x="733423" y="4235561"/>
            <a:ext cx="4324352" cy="1323439"/>
          </a:xfrm>
          <a:prstGeom prst="rect">
            <a:avLst/>
          </a:prstGeom>
          <a:noFill/>
        </p:spPr>
        <p:txBody>
          <a:bodyPr wrap="square" rtlCol="0">
            <a:spAutoFit/>
          </a:bodyPr>
          <a:lstStyle/>
          <a:p>
            <a:r>
              <a:rPr lang="es-CO" sz="1600" dirty="0" smtClean="0">
                <a:latin typeface="Gill Sans MT" panose="020B0502020104020203" pitchFamily="34" charset="0"/>
              </a:rPr>
              <a:t>La alimentación diaria debe incluir frutas, verduras y en hortalizas de diferentes colores, leguminosas (frijol, lenteja, garbanzo), cereales integrales, nueces, lácteos bajos en grasa, carne magra, pescado y huevo.</a:t>
            </a:r>
            <a:endParaRPr lang="es-CO" sz="1600" dirty="0">
              <a:latin typeface="Gill Sans MT" panose="020B0502020104020203" pitchFamily="34" charset="0"/>
            </a:endParaRPr>
          </a:p>
        </p:txBody>
      </p:sp>
      <p:sp>
        <p:nvSpPr>
          <p:cNvPr id="6" name="CuadroTexto 5"/>
          <p:cNvSpPr txBox="1"/>
          <p:nvPr/>
        </p:nvSpPr>
        <p:spPr>
          <a:xfrm>
            <a:off x="400048" y="6219453"/>
            <a:ext cx="4324352" cy="230832"/>
          </a:xfrm>
          <a:prstGeom prst="rect">
            <a:avLst/>
          </a:prstGeom>
          <a:noFill/>
        </p:spPr>
        <p:txBody>
          <a:bodyPr wrap="square" rtlCol="0">
            <a:spAutoFit/>
          </a:bodyPr>
          <a:lstStyle/>
          <a:p>
            <a:r>
              <a:rPr lang="es-CO" sz="900" dirty="0" smtClean="0">
                <a:solidFill>
                  <a:schemeClr val="bg1"/>
                </a:solidFill>
                <a:latin typeface="Gill Sans MT" panose="020B0502020104020203" pitchFamily="34" charset="0"/>
              </a:rPr>
              <a:t>https://www.minsalud.gov.co/salud/Paginas/Alimentaci%C3%B3n-saludable.aspx</a:t>
            </a:r>
          </a:p>
        </p:txBody>
      </p:sp>
    </p:spTree>
    <p:extLst>
      <p:ext uri="{BB962C8B-B14F-4D97-AF65-F5344CB8AC3E}">
        <p14:creationId xmlns:p14="http://schemas.microsoft.com/office/powerpoint/2010/main" xmlns="" val="3438516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1943519" y="415263"/>
            <a:ext cx="9781756" cy="430887"/>
          </a:xfrm>
          <a:prstGeom prst="rect">
            <a:avLst/>
          </a:prstGeom>
          <a:noFill/>
        </p:spPr>
        <p:txBody>
          <a:bodyPr wrap="square" rtlCol="0">
            <a:spAutoFit/>
          </a:bodyPr>
          <a:lstStyle/>
          <a:p>
            <a:r>
              <a:rPr lang="es-CO" sz="2200" b="1" dirty="0" smtClean="0">
                <a:solidFill>
                  <a:srgbClr val="008090"/>
                </a:solidFill>
                <a:latin typeface="Gill Sans MT" panose="020B0502020104020203" pitchFamily="34" charset="0"/>
              </a:rPr>
              <a:t>Disminuye el consumo de grasas saturadas y evita las comidas rápidas</a:t>
            </a:r>
            <a:endParaRPr lang="es-CO" sz="2200" b="1" dirty="0">
              <a:solidFill>
                <a:srgbClr val="008090"/>
              </a:solidFill>
              <a:latin typeface="Gill Sans MT" panose="020B0502020104020203" pitchFamily="34" charset="0"/>
            </a:endParaRPr>
          </a:p>
        </p:txBody>
      </p:sp>
      <p:sp>
        <p:nvSpPr>
          <p:cNvPr id="4" name="CuadroTexto 3"/>
          <p:cNvSpPr txBox="1"/>
          <p:nvPr/>
        </p:nvSpPr>
        <p:spPr>
          <a:xfrm>
            <a:off x="600073" y="3579911"/>
            <a:ext cx="3524252" cy="1323439"/>
          </a:xfrm>
          <a:prstGeom prst="rect">
            <a:avLst/>
          </a:prstGeom>
          <a:noFill/>
        </p:spPr>
        <p:txBody>
          <a:bodyPr wrap="square" rtlCol="0">
            <a:spAutoFit/>
          </a:bodyPr>
          <a:lstStyle/>
          <a:p>
            <a:r>
              <a:rPr lang="es-CO" sz="1600" dirty="0" smtClean="0">
                <a:latin typeface="Gill Sans MT" panose="020B0502020104020203" pitchFamily="34" charset="0"/>
              </a:rPr>
              <a:t>El consumo habitual de grasas saturadas es perjudicial para la salud. Estas se encuentran en la mantequilla y carnes rojas y están contenidas en productos de pastelería, galletas y postres.</a:t>
            </a:r>
            <a:endParaRPr lang="es-CO" dirty="0">
              <a:latin typeface="Gill Sans MT" panose="020B0502020104020203" pitchFamily="34" charset="0"/>
            </a:endParaRPr>
          </a:p>
        </p:txBody>
      </p:sp>
      <p:sp>
        <p:nvSpPr>
          <p:cNvPr id="5" name="CuadroTexto 4"/>
          <p:cNvSpPr txBox="1"/>
          <p:nvPr/>
        </p:nvSpPr>
        <p:spPr>
          <a:xfrm>
            <a:off x="400048" y="6219453"/>
            <a:ext cx="4324352" cy="230832"/>
          </a:xfrm>
          <a:prstGeom prst="rect">
            <a:avLst/>
          </a:prstGeom>
          <a:noFill/>
        </p:spPr>
        <p:txBody>
          <a:bodyPr wrap="square" rtlCol="0">
            <a:spAutoFit/>
          </a:bodyPr>
          <a:lstStyle/>
          <a:p>
            <a:r>
              <a:rPr lang="es-CO" sz="900" dirty="0" smtClean="0">
                <a:solidFill>
                  <a:schemeClr val="bg1"/>
                </a:solidFill>
                <a:latin typeface="Gill Sans MT" panose="020B0502020104020203" pitchFamily="34" charset="0"/>
              </a:rPr>
              <a:t>https://www.minsalud.gov.co/salud/Paginas/Alimentaci%C3%B3n-saludable.aspx</a:t>
            </a:r>
          </a:p>
        </p:txBody>
      </p:sp>
    </p:spTree>
    <p:extLst>
      <p:ext uri="{BB962C8B-B14F-4D97-AF65-F5344CB8AC3E}">
        <p14:creationId xmlns:p14="http://schemas.microsoft.com/office/powerpoint/2010/main" xmlns="" val="2793711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400048" y="6219453"/>
            <a:ext cx="4324352" cy="230832"/>
          </a:xfrm>
          <a:prstGeom prst="rect">
            <a:avLst/>
          </a:prstGeom>
          <a:noFill/>
        </p:spPr>
        <p:txBody>
          <a:bodyPr wrap="square" rtlCol="0">
            <a:spAutoFit/>
          </a:bodyPr>
          <a:lstStyle/>
          <a:p>
            <a:r>
              <a:rPr lang="es-CO" sz="900" dirty="0" smtClean="0">
                <a:solidFill>
                  <a:schemeClr val="bg1"/>
                </a:solidFill>
                <a:latin typeface="Gill Sans MT" panose="020B0502020104020203" pitchFamily="34" charset="0"/>
              </a:rPr>
              <a:t>https://www.minsalud.gov.co/salud/Paginas/Alimentaci%C3%B3n-saludable.aspx</a:t>
            </a:r>
          </a:p>
        </p:txBody>
      </p:sp>
      <p:sp>
        <p:nvSpPr>
          <p:cNvPr id="4" name="CuadroTexto 3"/>
          <p:cNvSpPr txBox="1"/>
          <p:nvPr/>
        </p:nvSpPr>
        <p:spPr>
          <a:xfrm>
            <a:off x="1943519" y="415263"/>
            <a:ext cx="9781756" cy="430887"/>
          </a:xfrm>
          <a:prstGeom prst="rect">
            <a:avLst/>
          </a:prstGeom>
          <a:noFill/>
        </p:spPr>
        <p:txBody>
          <a:bodyPr wrap="square" rtlCol="0">
            <a:spAutoFit/>
          </a:bodyPr>
          <a:lstStyle/>
          <a:p>
            <a:r>
              <a:rPr lang="es-CO" sz="2200" b="1" dirty="0" smtClean="0">
                <a:solidFill>
                  <a:srgbClr val="008090"/>
                </a:solidFill>
                <a:latin typeface="Gill Sans MT" panose="020B0502020104020203" pitchFamily="34" charset="0"/>
              </a:rPr>
              <a:t>Aumenta el consumo de frutas y de verduras “5 veces al día”</a:t>
            </a:r>
            <a:endParaRPr lang="es-CO" sz="2200" b="1" dirty="0">
              <a:solidFill>
                <a:srgbClr val="008090"/>
              </a:solidFill>
              <a:latin typeface="Gill Sans MT" panose="020B0502020104020203" pitchFamily="34" charset="0"/>
            </a:endParaRPr>
          </a:p>
        </p:txBody>
      </p:sp>
      <p:sp>
        <p:nvSpPr>
          <p:cNvPr id="5" name="CuadroTexto 4"/>
          <p:cNvSpPr txBox="1"/>
          <p:nvPr/>
        </p:nvSpPr>
        <p:spPr>
          <a:xfrm>
            <a:off x="257172" y="3552825"/>
            <a:ext cx="5686427" cy="954107"/>
          </a:xfrm>
          <a:prstGeom prst="rect">
            <a:avLst/>
          </a:prstGeom>
          <a:noFill/>
        </p:spPr>
        <p:txBody>
          <a:bodyPr wrap="square" rtlCol="0">
            <a:spAutoFit/>
          </a:bodyPr>
          <a:lstStyle/>
          <a:p>
            <a:r>
              <a:rPr lang="es-CO" sz="1400" dirty="0" smtClean="0">
                <a:latin typeface="Gill Sans MT" panose="020B0502020104020203" pitchFamily="34" charset="0"/>
              </a:rPr>
              <a:t>Consumir 3 frutas y 2 verduras de diferentes colores diariamente, mejora tu salud y tu nutrición. Las frutas (mango, papaya, guayaba, melón, naranja, durazno), aportan vitaminas A y C, necesarias para el sistema inmunológico, y para la visión. También aportan fibra natural, necesaria en la digestión.</a:t>
            </a:r>
            <a:endParaRPr lang="es-CO" sz="1600" dirty="0">
              <a:latin typeface="Gill Sans MT" panose="020B0502020104020203" pitchFamily="34" charset="0"/>
            </a:endParaRPr>
          </a:p>
        </p:txBody>
      </p:sp>
    </p:spTree>
    <p:extLst>
      <p:ext uri="{BB962C8B-B14F-4D97-AF65-F5344CB8AC3E}">
        <p14:creationId xmlns:p14="http://schemas.microsoft.com/office/powerpoint/2010/main" xmlns="" val="186569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400048" y="6219453"/>
            <a:ext cx="4324352" cy="230832"/>
          </a:xfrm>
          <a:prstGeom prst="rect">
            <a:avLst/>
          </a:prstGeom>
          <a:noFill/>
        </p:spPr>
        <p:txBody>
          <a:bodyPr wrap="square" rtlCol="0">
            <a:spAutoFit/>
          </a:bodyPr>
          <a:lstStyle/>
          <a:p>
            <a:r>
              <a:rPr lang="es-CO" sz="900" dirty="0" smtClean="0">
                <a:solidFill>
                  <a:schemeClr val="bg1"/>
                </a:solidFill>
                <a:latin typeface="Gill Sans MT" panose="020B0502020104020203" pitchFamily="34" charset="0"/>
              </a:rPr>
              <a:t>https://www.minsalud.gov.co/salud/Paginas/Alimentaci%C3%B3n-saludable.aspx</a:t>
            </a:r>
          </a:p>
        </p:txBody>
      </p:sp>
      <p:sp>
        <p:nvSpPr>
          <p:cNvPr id="4" name="CuadroTexto 3"/>
          <p:cNvSpPr txBox="1"/>
          <p:nvPr/>
        </p:nvSpPr>
        <p:spPr>
          <a:xfrm>
            <a:off x="1943519" y="415263"/>
            <a:ext cx="5076406" cy="430887"/>
          </a:xfrm>
          <a:prstGeom prst="rect">
            <a:avLst/>
          </a:prstGeom>
          <a:noFill/>
        </p:spPr>
        <p:txBody>
          <a:bodyPr wrap="square" rtlCol="0">
            <a:spAutoFit/>
          </a:bodyPr>
          <a:lstStyle/>
          <a:p>
            <a:r>
              <a:rPr lang="es-CO" sz="2200" b="1" dirty="0" smtClean="0">
                <a:solidFill>
                  <a:srgbClr val="008090"/>
                </a:solidFill>
                <a:latin typeface="Gill Sans MT" panose="020B0502020104020203" pitchFamily="34" charset="0"/>
              </a:rPr>
              <a:t>Vigila tu peso corporal fácilmente</a:t>
            </a:r>
            <a:endParaRPr lang="es-CO" sz="2200" b="1" dirty="0">
              <a:solidFill>
                <a:srgbClr val="008090"/>
              </a:solidFill>
              <a:latin typeface="Gill Sans MT" panose="020B0502020104020203" pitchFamily="34" charset="0"/>
            </a:endParaRPr>
          </a:p>
        </p:txBody>
      </p:sp>
      <p:sp>
        <p:nvSpPr>
          <p:cNvPr id="5" name="CuadroTexto 4"/>
          <p:cNvSpPr txBox="1"/>
          <p:nvPr/>
        </p:nvSpPr>
        <p:spPr>
          <a:xfrm>
            <a:off x="790572" y="2295525"/>
            <a:ext cx="3228977" cy="584775"/>
          </a:xfrm>
          <a:prstGeom prst="rect">
            <a:avLst/>
          </a:prstGeom>
          <a:noFill/>
        </p:spPr>
        <p:txBody>
          <a:bodyPr wrap="square" rtlCol="0">
            <a:spAutoFit/>
          </a:bodyPr>
          <a:lstStyle/>
          <a:p>
            <a:r>
              <a:rPr lang="es-CO" sz="1600" dirty="0" smtClean="0">
                <a:latin typeface="Gill Sans MT" panose="020B0502020104020203" pitchFamily="34" charset="0"/>
              </a:rPr>
              <a:t>Mide tu estatura y tu peso y anota el dato.</a:t>
            </a:r>
            <a:endParaRPr lang="es-CO" sz="1600" dirty="0">
              <a:latin typeface="Gill Sans MT" panose="020B0502020104020203" pitchFamily="34" charset="0"/>
            </a:endParaRPr>
          </a:p>
        </p:txBody>
      </p:sp>
      <p:sp>
        <p:nvSpPr>
          <p:cNvPr id="6" name="CuadroTexto 5"/>
          <p:cNvSpPr txBox="1"/>
          <p:nvPr/>
        </p:nvSpPr>
        <p:spPr>
          <a:xfrm>
            <a:off x="790572" y="3006980"/>
            <a:ext cx="3676653" cy="1246495"/>
          </a:xfrm>
          <a:prstGeom prst="rect">
            <a:avLst/>
          </a:prstGeom>
          <a:noFill/>
        </p:spPr>
        <p:txBody>
          <a:bodyPr wrap="square" rtlCol="0">
            <a:spAutoFit/>
          </a:bodyPr>
          <a:lstStyle/>
          <a:p>
            <a:pPr>
              <a:lnSpc>
                <a:spcPts val="1800"/>
              </a:lnSpc>
            </a:pPr>
            <a:r>
              <a:rPr lang="es-CO" sz="1600" dirty="0" smtClean="0">
                <a:latin typeface="Gill Sans MT" panose="020B0502020104020203" pitchFamily="34" charset="0"/>
              </a:rPr>
              <a:t>Realiza la siguiente operación: divide tu peso (</a:t>
            </a:r>
            <a:r>
              <a:rPr lang="es-CO" sz="1600" dirty="0" err="1" smtClean="0">
                <a:latin typeface="Gill Sans MT" panose="020B0502020104020203" pitchFamily="34" charset="0"/>
              </a:rPr>
              <a:t>kgs</a:t>
            </a:r>
            <a:r>
              <a:rPr lang="es-CO" sz="1600" dirty="0" smtClean="0">
                <a:latin typeface="Gill Sans MT" panose="020B0502020104020203" pitchFamily="34" charset="0"/>
              </a:rPr>
              <a:t>.) sobre tu altura (</a:t>
            </a:r>
            <a:r>
              <a:rPr lang="es-CO" sz="1600" dirty="0" err="1" smtClean="0">
                <a:latin typeface="Gill Sans MT" panose="020B0502020104020203" pitchFamily="34" charset="0"/>
              </a:rPr>
              <a:t>mts</a:t>
            </a:r>
            <a:r>
              <a:rPr lang="es-CO" sz="1600" dirty="0" smtClean="0">
                <a:latin typeface="Gill Sans MT" panose="020B0502020104020203" pitchFamily="34" charset="0"/>
              </a:rPr>
              <a:t>.) al cuadrado. El resultado te dará el índice de Masa Corporal (IMC) y se clasifica así: (adultos entre 20 y 60 años)</a:t>
            </a:r>
            <a:endParaRPr lang="es-CO" sz="1600" dirty="0">
              <a:latin typeface="Gill Sans MT" panose="020B0502020104020203" pitchFamily="34" charset="0"/>
            </a:endParaRPr>
          </a:p>
        </p:txBody>
      </p:sp>
      <p:sp>
        <p:nvSpPr>
          <p:cNvPr id="7" name="CuadroTexto 6"/>
          <p:cNvSpPr txBox="1"/>
          <p:nvPr/>
        </p:nvSpPr>
        <p:spPr>
          <a:xfrm>
            <a:off x="819147" y="4621309"/>
            <a:ext cx="1943519" cy="430887"/>
          </a:xfrm>
          <a:prstGeom prst="rect">
            <a:avLst/>
          </a:prstGeom>
          <a:noFill/>
        </p:spPr>
        <p:txBody>
          <a:bodyPr wrap="square" rtlCol="0">
            <a:spAutoFit/>
          </a:bodyPr>
          <a:lstStyle/>
          <a:p>
            <a:pPr algn="ctr"/>
            <a:r>
              <a:rPr lang="es-CO" sz="1100" b="1" dirty="0" smtClean="0">
                <a:solidFill>
                  <a:srgbClr val="FFF6A6"/>
                </a:solidFill>
                <a:latin typeface="Gill Sans MT" panose="020B0502020104020203" pitchFamily="34" charset="0"/>
              </a:rPr>
              <a:t>Peso bajo:</a:t>
            </a:r>
          </a:p>
          <a:p>
            <a:pPr algn="ctr"/>
            <a:r>
              <a:rPr lang="es-CO" sz="1100" dirty="0" smtClean="0">
                <a:solidFill>
                  <a:schemeClr val="bg1"/>
                </a:solidFill>
                <a:latin typeface="Gill Sans MT" panose="020B0502020104020203" pitchFamily="34" charset="0"/>
              </a:rPr>
              <a:t>IMC menor a 18,5</a:t>
            </a:r>
            <a:endParaRPr lang="es-CO" sz="1100" dirty="0">
              <a:solidFill>
                <a:schemeClr val="bg1"/>
              </a:solidFill>
              <a:latin typeface="Gill Sans MT" panose="020B0502020104020203" pitchFamily="34" charset="0"/>
            </a:endParaRPr>
          </a:p>
        </p:txBody>
      </p:sp>
      <p:sp>
        <p:nvSpPr>
          <p:cNvPr id="8" name="CuadroTexto 7"/>
          <p:cNvSpPr txBox="1"/>
          <p:nvPr/>
        </p:nvSpPr>
        <p:spPr>
          <a:xfrm>
            <a:off x="2780881" y="4621309"/>
            <a:ext cx="1943519" cy="430887"/>
          </a:xfrm>
          <a:prstGeom prst="rect">
            <a:avLst/>
          </a:prstGeom>
          <a:noFill/>
        </p:spPr>
        <p:txBody>
          <a:bodyPr wrap="square" rtlCol="0">
            <a:spAutoFit/>
          </a:bodyPr>
          <a:lstStyle/>
          <a:p>
            <a:pPr algn="ctr"/>
            <a:r>
              <a:rPr lang="es-CO" sz="1100" b="1" dirty="0" smtClean="0">
                <a:solidFill>
                  <a:srgbClr val="FFF6A6"/>
                </a:solidFill>
                <a:latin typeface="Gill Sans MT" panose="020B0502020104020203" pitchFamily="34" charset="0"/>
              </a:rPr>
              <a:t>Sobrepeso:</a:t>
            </a:r>
          </a:p>
          <a:p>
            <a:pPr algn="ctr"/>
            <a:r>
              <a:rPr lang="es-CO" sz="1100" dirty="0" smtClean="0">
                <a:solidFill>
                  <a:schemeClr val="bg1"/>
                </a:solidFill>
                <a:latin typeface="Gill Sans MT" panose="020B0502020104020203" pitchFamily="34" charset="0"/>
              </a:rPr>
              <a:t>IMC mayor o igual a 25</a:t>
            </a:r>
            <a:endParaRPr lang="es-CO" sz="1100" dirty="0">
              <a:solidFill>
                <a:schemeClr val="bg1"/>
              </a:solidFill>
              <a:latin typeface="Gill Sans MT" panose="020B0502020104020203" pitchFamily="34" charset="0"/>
            </a:endParaRPr>
          </a:p>
        </p:txBody>
      </p:sp>
      <p:sp>
        <p:nvSpPr>
          <p:cNvPr id="9" name="CuadroTexto 8"/>
          <p:cNvSpPr txBox="1"/>
          <p:nvPr/>
        </p:nvSpPr>
        <p:spPr>
          <a:xfrm>
            <a:off x="837362" y="5196244"/>
            <a:ext cx="1943519" cy="430887"/>
          </a:xfrm>
          <a:prstGeom prst="rect">
            <a:avLst/>
          </a:prstGeom>
          <a:noFill/>
        </p:spPr>
        <p:txBody>
          <a:bodyPr wrap="square" rtlCol="0">
            <a:spAutoFit/>
          </a:bodyPr>
          <a:lstStyle/>
          <a:p>
            <a:pPr algn="ctr"/>
            <a:r>
              <a:rPr lang="es-CO" sz="1100" b="1" dirty="0" smtClean="0">
                <a:solidFill>
                  <a:srgbClr val="FFF6A6"/>
                </a:solidFill>
                <a:latin typeface="Gill Sans MT" panose="020B0502020104020203" pitchFamily="34" charset="0"/>
              </a:rPr>
              <a:t>Peso normal:</a:t>
            </a:r>
          </a:p>
          <a:p>
            <a:pPr algn="ctr"/>
            <a:r>
              <a:rPr lang="es-CO" sz="1100" dirty="0" smtClean="0">
                <a:solidFill>
                  <a:schemeClr val="bg1"/>
                </a:solidFill>
                <a:latin typeface="Gill Sans MT" panose="020B0502020104020203" pitchFamily="34" charset="0"/>
              </a:rPr>
              <a:t>IMC de 18,5 a 24,9</a:t>
            </a:r>
            <a:endParaRPr lang="es-CO" sz="1100" dirty="0">
              <a:solidFill>
                <a:schemeClr val="bg1"/>
              </a:solidFill>
              <a:latin typeface="Gill Sans MT" panose="020B0502020104020203" pitchFamily="34" charset="0"/>
            </a:endParaRPr>
          </a:p>
        </p:txBody>
      </p:sp>
      <p:sp>
        <p:nvSpPr>
          <p:cNvPr id="10" name="CuadroTexto 9"/>
          <p:cNvSpPr txBox="1"/>
          <p:nvPr/>
        </p:nvSpPr>
        <p:spPr>
          <a:xfrm>
            <a:off x="2780881" y="5196243"/>
            <a:ext cx="1943519" cy="430887"/>
          </a:xfrm>
          <a:prstGeom prst="rect">
            <a:avLst/>
          </a:prstGeom>
          <a:noFill/>
        </p:spPr>
        <p:txBody>
          <a:bodyPr wrap="square" rtlCol="0">
            <a:spAutoFit/>
          </a:bodyPr>
          <a:lstStyle/>
          <a:p>
            <a:pPr algn="ctr"/>
            <a:r>
              <a:rPr lang="es-CO" sz="1100" b="1" dirty="0" smtClean="0">
                <a:solidFill>
                  <a:srgbClr val="FFF6A6"/>
                </a:solidFill>
                <a:latin typeface="Gill Sans MT" panose="020B0502020104020203" pitchFamily="34" charset="0"/>
              </a:rPr>
              <a:t>Obesidad:</a:t>
            </a:r>
          </a:p>
          <a:p>
            <a:pPr algn="ctr"/>
            <a:r>
              <a:rPr lang="es-CO" sz="1100" dirty="0" smtClean="0">
                <a:solidFill>
                  <a:schemeClr val="bg1"/>
                </a:solidFill>
                <a:latin typeface="Gill Sans MT" panose="020B0502020104020203" pitchFamily="34" charset="0"/>
              </a:rPr>
              <a:t>IMC mayor o igual a 30</a:t>
            </a:r>
            <a:endParaRPr lang="es-CO" sz="1100" dirty="0">
              <a:solidFill>
                <a:schemeClr val="bg1"/>
              </a:solidFill>
              <a:latin typeface="Gill Sans MT" panose="020B0502020104020203" pitchFamily="34" charset="0"/>
            </a:endParaRPr>
          </a:p>
        </p:txBody>
      </p:sp>
    </p:spTree>
    <p:extLst>
      <p:ext uri="{BB962C8B-B14F-4D97-AF65-F5344CB8AC3E}">
        <p14:creationId xmlns:p14="http://schemas.microsoft.com/office/powerpoint/2010/main" xmlns="" val="3836648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400048" y="6219453"/>
            <a:ext cx="4324352" cy="230832"/>
          </a:xfrm>
          <a:prstGeom prst="rect">
            <a:avLst/>
          </a:prstGeom>
          <a:noFill/>
        </p:spPr>
        <p:txBody>
          <a:bodyPr wrap="square" rtlCol="0">
            <a:spAutoFit/>
          </a:bodyPr>
          <a:lstStyle/>
          <a:p>
            <a:r>
              <a:rPr lang="es-CO" sz="900" dirty="0" smtClean="0">
                <a:solidFill>
                  <a:schemeClr val="bg1"/>
                </a:solidFill>
                <a:latin typeface="Gill Sans MT" panose="020B0502020104020203" pitchFamily="34" charset="0"/>
              </a:rPr>
              <a:t>https://www.minsalud.gov.co/salud/Paginas/Alimentaci%C3%B3n-saludable.aspx</a:t>
            </a:r>
          </a:p>
        </p:txBody>
      </p:sp>
      <p:sp>
        <p:nvSpPr>
          <p:cNvPr id="4" name="CuadroTexto 3"/>
          <p:cNvSpPr txBox="1"/>
          <p:nvPr/>
        </p:nvSpPr>
        <p:spPr>
          <a:xfrm>
            <a:off x="1943519" y="415263"/>
            <a:ext cx="5495506" cy="430887"/>
          </a:xfrm>
          <a:prstGeom prst="rect">
            <a:avLst/>
          </a:prstGeom>
          <a:noFill/>
        </p:spPr>
        <p:txBody>
          <a:bodyPr wrap="square" rtlCol="0">
            <a:spAutoFit/>
          </a:bodyPr>
          <a:lstStyle/>
          <a:p>
            <a:r>
              <a:rPr lang="es-CO" sz="2200" b="1" dirty="0" smtClean="0">
                <a:solidFill>
                  <a:srgbClr val="008090"/>
                </a:solidFill>
                <a:latin typeface="Gill Sans MT" panose="020B0502020104020203" pitchFamily="34" charset="0"/>
              </a:rPr>
              <a:t>Evita el consumo de bebidas azucaradas</a:t>
            </a:r>
            <a:endParaRPr lang="es-CO" sz="2200" b="1" dirty="0">
              <a:solidFill>
                <a:srgbClr val="008090"/>
              </a:solidFill>
              <a:latin typeface="Gill Sans MT" panose="020B0502020104020203" pitchFamily="34" charset="0"/>
            </a:endParaRPr>
          </a:p>
        </p:txBody>
      </p:sp>
      <p:sp>
        <p:nvSpPr>
          <p:cNvPr id="5" name="CuadroTexto 4"/>
          <p:cNvSpPr txBox="1"/>
          <p:nvPr/>
        </p:nvSpPr>
        <p:spPr>
          <a:xfrm>
            <a:off x="309980" y="3171825"/>
            <a:ext cx="3228977" cy="1077218"/>
          </a:xfrm>
          <a:prstGeom prst="rect">
            <a:avLst/>
          </a:prstGeom>
          <a:noFill/>
        </p:spPr>
        <p:txBody>
          <a:bodyPr wrap="square" rtlCol="0">
            <a:spAutoFit/>
          </a:bodyPr>
          <a:lstStyle/>
          <a:p>
            <a:r>
              <a:rPr lang="es-CO" sz="1600" dirty="0" smtClean="0">
                <a:latin typeface="Gill Sans MT" panose="020B0502020104020203" pitchFamily="34" charset="0"/>
              </a:rPr>
              <a:t>Las personas que las consumen habitualmente tienen mayor riesgo de padecer enfermedades como obesidad y diabetes.</a:t>
            </a:r>
            <a:endParaRPr lang="es-CO" sz="1600" dirty="0">
              <a:latin typeface="Gill Sans MT" panose="020B0502020104020203" pitchFamily="34" charset="0"/>
            </a:endParaRPr>
          </a:p>
        </p:txBody>
      </p:sp>
      <p:sp>
        <p:nvSpPr>
          <p:cNvPr id="6" name="CuadroTexto 5"/>
          <p:cNvSpPr txBox="1"/>
          <p:nvPr/>
        </p:nvSpPr>
        <p:spPr>
          <a:xfrm>
            <a:off x="290930" y="4258568"/>
            <a:ext cx="3248027" cy="430887"/>
          </a:xfrm>
          <a:prstGeom prst="rect">
            <a:avLst/>
          </a:prstGeom>
          <a:noFill/>
        </p:spPr>
        <p:txBody>
          <a:bodyPr wrap="square" rtlCol="0">
            <a:spAutoFit/>
          </a:bodyPr>
          <a:lstStyle/>
          <a:p>
            <a:r>
              <a:rPr lang="es-CO" sz="2200" b="1" dirty="0" smtClean="0">
                <a:solidFill>
                  <a:srgbClr val="008090"/>
                </a:solidFill>
                <a:latin typeface="Gill Sans MT" panose="020B0502020104020203" pitchFamily="34" charset="0"/>
              </a:rPr>
              <a:t>¡Elige beber agua!</a:t>
            </a:r>
            <a:endParaRPr lang="es-CO" sz="2200" b="1" dirty="0">
              <a:solidFill>
                <a:srgbClr val="008090"/>
              </a:solidFill>
              <a:latin typeface="Gill Sans MT" panose="020B0502020104020203" pitchFamily="34" charset="0"/>
            </a:endParaRPr>
          </a:p>
        </p:txBody>
      </p:sp>
    </p:spTree>
    <p:extLst>
      <p:ext uri="{BB962C8B-B14F-4D97-AF65-F5344CB8AC3E}">
        <p14:creationId xmlns:p14="http://schemas.microsoft.com/office/powerpoint/2010/main" xmlns="" val="3307118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400048" y="6219453"/>
            <a:ext cx="4324352" cy="230832"/>
          </a:xfrm>
          <a:prstGeom prst="rect">
            <a:avLst/>
          </a:prstGeom>
          <a:noFill/>
        </p:spPr>
        <p:txBody>
          <a:bodyPr wrap="square" rtlCol="0">
            <a:spAutoFit/>
          </a:bodyPr>
          <a:lstStyle/>
          <a:p>
            <a:r>
              <a:rPr lang="es-CO" sz="900" dirty="0" smtClean="0">
                <a:solidFill>
                  <a:schemeClr val="bg1"/>
                </a:solidFill>
                <a:latin typeface="Gill Sans MT" panose="020B0502020104020203" pitchFamily="34" charset="0"/>
              </a:rPr>
              <a:t>https://www.minsalud.gov.co/salud/Paginas/Alimentaci%C3%B3n-saludable.aspx</a:t>
            </a:r>
          </a:p>
        </p:txBody>
      </p:sp>
      <p:sp>
        <p:nvSpPr>
          <p:cNvPr id="4" name="CuadroTexto 3"/>
          <p:cNvSpPr txBox="1"/>
          <p:nvPr/>
        </p:nvSpPr>
        <p:spPr>
          <a:xfrm>
            <a:off x="1943519" y="415263"/>
            <a:ext cx="6124156" cy="430887"/>
          </a:xfrm>
          <a:prstGeom prst="rect">
            <a:avLst/>
          </a:prstGeom>
          <a:noFill/>
        </p:spPr>
        <p:txBody>
          <a:bodyPr wrap="square" rtlCol="0">
            <a:spAutoFit/>
          </a:bodyPr>
          <a:lstStyle/>
          <a:p>
            <a:r>
              <a:rPr lang="es-CO" sz="2200" b="1" dirty="0" smtClean="0">
                <a:solidFill>
                  <a:srgbClr val="008090"/>
                </a:solidFill>
                <a:latin typeface="Gill Sans MT" panose="020B0502020104020203" pitchFamily="34" charset="0"/>
              </a:rPr>
              <a:t>Limita el consumo de sal en tu alimentación</a:t>
            </a:r>
            <a:endParaRPr lang="es-CO" sz="2200" b="1" dirty="0">
              <a:solidFill>
                <a:srgbClr val="008090"/>
              </a:solidFill>
              <a:latin typeface="Gill Sans MT" panose="020B0502020104020203" pitchFamily="34" charset="0"/>
            </a:endParaRPr>
          </a:p>
        </p:txBody>
      </p:sp>
      <p:sp>
        <p:nvSpPr>
          <p:cNvPr id="5" name="CuadroTexto 4"/>
          <p:cNvSpPr txBox="1"/>
          <p:nvPr/>
        </p:nvSpPr>
        <p:spPr>
          <a:xfrm>
            <a:off x="5129630" y="2663704"/>
            <a:ext cx="3228977" cy="830997"/>
          </a:xfrm>
          <a:prstGeom prst="rect">
            <a:avLst/>
          </a:prstGeom>
          <a:noFill/>
        </p:spPr>
        <p:txBody>
          <a:bodyPr wrap="square" rtlCol="0">
            <a:spAutoFit/>
          </a:bodyPr>
          <a:lstStyle/>
          <a:p>
            <a:r>
              <a:rPr lang="es-CO" sz="1600" dirty="0" smtClean="0">
                <a:solidFill>
                  <a:schemeClr val="bg1"/>
                </a:solidFill>
                <a:latin typeface="Gill Sans MT" panose="020B0502020104020203" pitchFamily="34" charset="0"/>
              </a:rPr>
              <a:t>Elige siempre alimentos frescos.</a:t>
            </a:r>
          </a:p>
          <a:p>
            <a:r>
              <a:rPr lang="es-CO" sz="1600" dirty="0" smtClean="0">
                <a:solidFill>
                  <a:schemeClr val="bg1"/>
                </a:solidFill>
                <a:latin typeface="Gill Sans MT" panose="020B0502020104020203" pitchFamily="34" charset="0"/>
              </a:rPr>
              <a:t>Consumir demasiado sodio puede elevar la presión arterial.</a:t>
            </a:r>
            <a:endParaRPr lang="es-CO" sz="1600" dirty="0">
              <a:solidFill>
                <a:schemeClr val="bg1"/>
              </a:solidFill>
              <a:latin typeface="Gill Sans MT" panose="020B0502020104020203" pitchFamily="34" charset="0"/>
            </a:endParaRPr>
          </a:p>
        </p:txBody>
      </p:sp>
    </p:spTree>
    <p:extLst>
      <p:ext uri="{BB962C8B-B14F-4D97-AF65-F5344CB8AC3E}">
        <p14:creationId xmlns:p14="http://schemas.microsoft.com/office/powerpoint/2010/main" xmlns="" val="598979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400048" y="6219453"/>
            <a:ext cx="4324352" cy="230832"/>
          </a:xfrm>
          <a:prstGeom prst="rect">
            <a:avLst/>
          </a:prstGeom>
          <a:noFill/>
        </p:spPr>
        <p:txBody>
          <a:bodyPr wrap="square" rtlCol="0">
            <a:spAutoFit/>
          </a:bodyPr>
          <a:lstStyle/>
          <a:p>
            <a:r>
              <a:rPr lang="es-CO" sz="900" dirty="0" smtClean="0">
                <a:solidFill>
                  <a:schemeClr val="bg1"/>
                </a:solidFill>
                <a:latin typeface="Gill Sans MT" panose="020B0502020104020203" pitchFamily="34" charset="0"/>
              </a:rPr>
              <a:t>https://www.minsalud.gov.co/salud/Paginas/Alimentaci%C3%B3n-saludable.aspx</a:t>
            </a:r>
          </a:p>
        </p:txBody>
      </p:sp>
      <p:sp>
        <p:nvSpPr>
          <p:cNvPr id="4" name="CuadroTexto 3"/>
          <p:cNvSpPr txBox="1"/>
          <p:nvPr/>
        </p:nvSpPr>
        <p:spPr>
          <a:xfrm>
            <a:off x="1943519" y="415263"/>
            <a:ext cx="6124156" cy="430887"/>
          </a:xfrm>
          <a:prstGeom prst="rect">
            <a:avLst/>
          </a:prstGeom>
          <a:noFill/>
        </p:spPr>
        <p:txBody>
          <a:bodyPr wrap="square" rtlCol="0">
            <a:spAutoFit/>
          </a:bodyPr>
          <a:lstStyle/>
          <a:p>
            <a:r>
              <a:rPr lang="es-CO" sz="2200" b="1" dirty="0" smtClean="0">
                <a:solidFill>
                  <a:srgbClr val="008090"/>
                </a:solidFill>
                <a:latin typeface="Gill Sans MT" panose="020B0502020104020203" pitchFamily="34" charset="0"/>
              </a:rPr>
              <a:t>Elige alimentos integrales</a:t>
            </a:r>
            <a:endParaRPr lang="es-CO" sz="2200" b="1" dirty="0">
              <a:solidFill>
                <a:srgbClr val="008090"/>
              </a:solidFill>
              <a:latin typeface="Gill Sans MT" panose="020B0502020104020203" pitchFamily="34" charset="0"/>
            </a:endParaRPr>
          </a:p>
        </p:txBody>
      </p:sp>
      <p:sp>
        <p:nvSpPr>
          <p:cNvPr id="5" name="CuadroTexto 4"/>
          <p:cNvSpPr txBox="1"/>
          <p:nvPr/>
        </p:nvSpPr>
        <p:spPr>
          <a:xfrm>
            <a:off x="309980" y="3729529"/>
            <a:ext cx="2804695" cy="830997"/>
          </a:xfrm>
          <a:prstGeom prst="rect">
            <a:avLst/>
          </a:prstGeom>
          <a:noFill/>
        </p:spPr>
        <p:txBody>
          <a:bodyPr wrap="square" rtlCol="0">
            <a:spAutoFit/>
          </a:bodyPr>
          <a:lstStyle/>
          <a:p>
            <a:r>
              <a:rPr lang="es-CO" sz="1600" dirty="0" smtClean="0">
                <a:latin typeface="Gill Sans MT" panose="020B0502020104020203" pitchFamily="34" charset="0"/>
              </a:rPr>
              <a:t>Selecciona para tu desayuno pan, tostadas, cereales, arroz, avena y quinua (integrales).</a:t>
            </a:r>
            <a:endParaRPr lang="es-CO" sz="1600" dirty="0">
              <a:latin typeface="Gill Sans MT" panose="020B0502020104020203" pitchFamily="34" charset="0"/>
            </a:endParaRPr>
          </a:p>
        </p:txBody>
      </p:sp>
    </p:spTree>
    <p:extLst>
      <p:ext uri="{BB962C8B-B14F-4D97-AF65-F5344CB8AC3E}">
        <p14:creationId xmlns:p14="http://schemas.microsoft.com/office/powerpoint/2010/main" xmlns="" val="3654319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7886698" y="6219453"/>
            <a:ext cx="4324352" cy="230832"/>
          </a:xfrm>
          <a:prstGeom prst="rect">
            <a:avLst/>
          </a:prstGeom>
          <a:noFill/>
        </p:spPr>
        <p:txBody>
          <a:bodyPr wrap="square" rtlCol="0">
            <a:spAutoFit/>
          </a:bodyPr>
          <a:lstStyle/>
          <a:p>
            <a:r>
              <a:rPr lang="es-CO" sz="900" dirty="0" smtClean="0">
                <a:solidFill>
                  <a:schemeClr val="bg1"/>
                </a:solidFill>
                <a:latin typeface="Gill Sans MT" panose="020B0502020104020203" pitchFamily="34" charset="0"/>
              </a:rPr>
              <a:t>https://www.minsalud.gov.co/salud/Paginas/Alimentaci%C3%B3n-saludable.aspx</a:t>
            </a:r>
          </a:p>
        </p:txBody>
      </p:sp>
      <p:sp>
        <p:nvSpPr>
          <p:cNvPr id="4" name="CuadroTexto 3"/>
          <p:cNvSpPr txBox="1"/>
          <p:nvPr/>
        </p:nvSpPr>
        <p:spPr>
          <a:xfrm>
            <a:off x="1943519" y="415263"/>
            <a:ext cx="8657806" cy="430887"/>
          </a:xfrm>
          <a:prstGeom prst="rect">
            <a:avLst/>
          </a:prstGeom>
          <a:noFill/>
        </p:spPr>
        <p:txBody>
          <a:bodyPr wrap="square" rtlCol="0">
            <a:spAutoFit/>
          </a:bodyPr>
          <a:lstStyle/>
          <a:p>
            <a:r>
              <a:rPr lang="es-CO" sz="2200" b="1" dirty="0" smtClean="0">
                <a:solidFill>
                  <a:srgbClr val="008090"/>
                </a:solidFill>
                <a:latin typeface="Gill Sans MT" panose="020B0502020104020203" pitchFamily="34" charset="0"/>
              </a:rPr>
              <a:t>Toma medidas para el manejo y conservación de los alimentos</a:t>
            </a:r>
            <a:endParaRPr lang="es-CO" sz="2200" b="1" dirty="0">
              <a:solidFill>
                <a:srgbClr val="008090"/>
              </a:solidFill>
              <a:latin typeface="Gill Sans MT" panose="020B0502020104020203" pitchFamily="34" charset="0"/>
            </a:endParaRPr>
          </a:p>
        </p:txBody>
      </p:sp>
      <p:sp>
        <p:nvSpPr>
          <p:cNvPr id="5" name="CuadroTexto 4"/>
          <p:cNvSpPr txBox="1"/>
          <p:nvPr/>
        </p:nvSpPr>
        <p:spPr>
          <a:xfrm>
            <a:off x="7000875" y="2735327"/>
            <a:ext cx="2928520" cy="830997"/>
          </a:xfrm>
          <a:prstGeom prst="rect">
            <a:avLst/>
          </a:prstGeom>
          <a:noFill/>
        </p:spPr>
        <p:txBody>
          <a:bodyPr wrap="square" rtlCol="0">
            <a:spAutoFit/>
          </a:bodyPr>
          <a:lstStyle/>
          <a:p>
            <a:r>
              <a:rPr lang="es-CO" sz="1600" dirty="0" smtClean="0">
                <a:latin typeface="Gill Sans MT" panose="020B0502020104020203" pitchFamily="34" charset="0"/>
              </a:rPr>
              <a:t>Selecciona alimentos sanos y frescos. Usa agua segura o trátala adecuadamente.</a:t>
            </a:r>
            <a:endParaRPr lang="es-CO" sz="1600" dirty="0">
              <a:latin typeface="Gill Sans MT" panose="020B0502020104020203" pitchFamily="34" charset="0"/>
            </a:endParaRPr>
          </a:p>
        </p:txBody>
      </p:sp>
      <p:sp>
        <p:nvSpPr>
          <p:cNvPr id="6" name="CuadroTexto 5"/>
          <p:cNvSpPr txBox="1"/>
          <p:nvPr/>
        </p:nvSpPr>
        <p:spPr>
          <a:xfrm>
            <a:off x="7000875" y="3657302"/>
            <a:ext cx="2928520" cy="830997"/>
          </a:xfrm>
          <a:prstGeom prst="rect">
            <a:avLst/>
          </a:prstGeom>
          <a:noFill/>
        </p:spPr>
        <p:txBody>
          <a:bodyPr wrap="square" rtlCol="0">
            <a:spAutoFit/>
          </a:bodyPr>
          <a:lstStyle/>
          <a:p>
            <a:r>
              <a:rPr lang="es-CO" sz="1600" dirty="0" smtClean="0">
                <a:latin typeface="Gill Sans MT" panose="020B0502020104020203" pitchFamily="34" charset="0"/>
              </a:rPr>
              <a:t>Lávate las manos con jabón antes de preparar los alimentos, y después de ir al baño.</a:t>
            </a:r>
            <a:endParaRPr lang="es-CO" sz="1600" dirty="0">
              <a:latin typeface="Gill Sans MT" panose="020B0502020104020203" pitchFamily="34" charset="0"/>
            </a:endParaRPr>
          </a:p>
        </p:txBody>
      </p:sp>
      <p:sp>
        <p:nvSpPr>
          <p:cNvPr id="7" name="CuadroTexto 6"/>
          <p:cNvSpPr txBox="1"/>
          <p:nvPr/>
        </p:nvSpPr>
        <p:spPr>
          <a:xfrm>
            <a:off x="7000875" y="4579277"/>
            <a:ext cx="2928520" cy="1077218"/>
          </a:xfrm>
          <a:prstGeom prst="rect">
            <a:avLst/>
          </a:prstGeom>
          <a:noFill/>
        </p:spPr>
        <p:txBody>
          <a:bodyPr wrap="square" rtlCol="0">
            <a:spAutoFit/>
          </a:bodyPr>
          <a:lstStyle/>
          <a:p>
            <a:r>
              <a:rPr lang="es-CO" sz="1600" dirty="0" smtClean="0">
                <a:latin typeface="Gill Sans MT" panose="020B0502020104020203" pitchFamily="34" charset="0"/>
              </a:rPr>
              <a:t>Lava y desinfecta todas las superficies y utensilios así como las frutas y las verduras antes de consumirlas.</a:t>
            </a:r>
            <a:endParaRPr lang="es-CO" sz="1600" dirty="0">
              <a:latin typeface="Gill Sans MT" panose="020B0502020104020203" pitchFamily="34" charset="0"/>
            </a:endParaRPr>
          </a:p>
        </p:txBody>
      </p:sp>
    </p:spTree>
    <p:extLst>
      <p:ext uri="{BB962C8B-B14F-4D97-AF65-F5344CB8AC3E}">
        <p14:creationId xmlns:p14="http://schemas.microsoft.com/office/powerpoint/2010/main" xmlns="" val="62911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400048" y="6219453"/>
            <a:ext cx="4324352" cy="230832"/>
          </a:xfrm>
          <a:prstGeom prst="rect">
            <a:avLst/>
          </a:prstGeom>
          <a:noFill/>
        </p:spPr>
        <p:txBody>
          <a:bodyPr wrap="square" rtlCol="0">
            <a:spAutoFit/>
          </a:bodyPr>
          <a:lstStyle/>
          <a:p>
            <a:r>
              <a:rPr lang="es-CO" sz="900" dirty="0" smtClean="0">
                <a:solidFill>
                  <a:schemeClr val="bg1"/>
                </a:solidFill>
                <a:latin typeface="Gill Sans MT" panose="020B0502020104020203" pitchFamily="34" charset="0"/>
              </a:rPr>
              <a:t>https://www.minsalud.gov.co/salud/Paginas/Alimentaci%C3%B3n-saludable.aspx</a:t>
            </a:r>
          </a:p>
        </p:txBody>
      </p:sp>
      <p:sp>
        <p:nvSpPr>
          <p:cNvPr id="4" name="CuadroTexto 3"/>
          <p:cNvSpPr txBox="1"/>
          <p:nvPr/>
        </p:nvSpPr>
        <p:spPr>
          <a:xfrm>
            <a:off x="1943519" y="415263"/>
            <a:ext cx="8657806" cy="430887"/>
          </a:xfrm>
          <a:prstGeom prst="rect">
            <a:avLst/>
          </a:prstGeom>
          <a:noFill/>
        </p:spPr>
        <p:txBody>
          <a:bodyPr wrap="square" rtlCol="0">
            <a:spAutoFit/>
          </a:bodyPr>
          <a:lstStyle/>
          <a:p>
            <a:r>
              <a:rPr lang="es-CO" sz="2200" b="1" dirty="0" smtClean="0">
                <a:solidFill>
                  <a:srgbClr val="008090"/>
                </a:solidFill>
                <a:latin typeface="Gill Sans MT" panose="020B0502020104020203" pitchFamily="34" charset="0"/>
              </a:rPr>
              <a:t>Lacta a tu bebé y apoya a las mujeres que deciden lactar</a:t>
            </a:r>
            <a:endParaRPr lang="es-CO" sz="2200" b="1" dirty="0">
              <a:solidFill>
                <a:srgbClr val="008090"/>
              </a:solidFill>
              <a:latin typeface="Gill Sans MT" panose="020B0502020104020203" pitchFamily="34" charset="0"/>
            </a:endParaRPr>
          </a:p>
        </p:txBody>
      </p:sp>
      <p:sp>
        <p:nvSpPr>
          <p:cNvPr id="5" name="CuadroTexto 4"/>
          <p:cNvSpPr txBox="1"/>
          <p:nvPr/>
        </p:nvSpPr>
        <p:spPr>
          <a:xfrm>
            <a:off x="300247" y="3230627"/>
            <a:ext cx="7176878" cy="1077218"/>
          </a:xfrm>
          <a:prstGeom prst="rect">
            <a:avLst/>
          </a:prstGeom>
          <a:noFill/>
        </p:spPr>
        <p:txBody>
          <a:bodyPr wrap="square" rtlCol="0">
            <a:spAutoFit/>
          </a:bodyPr>
          <a:lstStyle/>
          <a:p>
            <a:r>
              <a:rPr lang="es-CO" sz="1600" dirty="0" smtClean="0">
                <a:latin typeface="Gill Sans MT" panose="020B0502020104020203" pitchFamily="34" charset="0"/>
              </a:rPr>
              <a:t>Una vida saludable comienza con leche materna. Este es el mejor alimento que puede darse al bebé desde que nace hasta los seis meses de edad, porque le proporciona todos los nutrientes y las defensas que necesita para crecer, desarrollarse y evitar las infecciones.</a:t>
            </a:r>
            <a:endParaRPr lang="es-CO" sz="1600" dirty="0">
              <a:latin typeface="Gill Sans MT" panose="020B0502020104020203" pitchFamily="34" charset="0"/>
            </a:endParaRPr>
          </a:p>
        </p:txBody>
      </p:sp>
    </p:spTree>
    <p:extLst>
      <p:ext uri="{BB962C8B-B14F-4D97-AF65-F5344CB8AC3E}">
        <p14:creationId xmlns:p14="http://schemas.microsoft.com/office/powerpoint/2010/main" xmlns="" val="342806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3543298" y="6219453"/>
            <a:ext cx="4324352" cy="230832"/>
          </a:xfrm>
          <a:prstGeom prst="rect">
            <a:avLst/>
          </a:prstGeom>
          <a:noFill/>
        </p:spPr>
        <p:txBody>
          <a:bodyPr wrap="square" rtlCol="0">
            <a:spAutoFit/>
          </a:bodyPr>
          <a:lstStyle/>
          <a:p>
            <a:r>
              <a:rPr lang="es-CO" sz="900" dirty="0" smtClean="0">
                <a:solidFill>
                  <a:schemeClr val="bg1"/>
                </a:solidFill>
                <a:latin typeface="Gill Sans MT" panose="020B0502020104020203" pitchFamily="34" charset="0"/>
              </a:rPr>
              <a:t>https://www.minsalud.gov.co/salud/Paginas/Alimentaci%C3%B3n-saludable.aspx</a:t>
            </a:r>
          </a:p>
        </p:txBody>
      </p:sp>
      <p:sp>
        <p:nvSpPr>
          <p:cNvPr id="4" name="CuadroTexto 3"/>
          <p:cNvSpPr txBox="1"/>
          <p:nvPr/>
        </p:nvSpPr>
        <p:spPr>
          <a:xfrm>
            <a:off x="1943519" y="415263"/>
            <a:ext cx="8657806" cy="430887"/>
          </a:xfrm>
          <a:prstGeom prst="rect">
            <a:avLst/>
          </a:prstGeom>
          <a:noFill/>
        </p:spPr>
        <p:txBody>
          <a:bodyPr wrap="square" rtlCol="0">
            <a:spAutoFit/>
          </a:bodyPr>
          <a:lstStyle/>
          <a:p>
            <a:r>
              <a:rPr lang="es-CO" sz="2200" b="1" dirty="0" smtClean="0">
                <a:solidFill>
                  <a:srgbClr val="008090"/>
                </a:solidFill>
                <a:latin typeface="Gill Sans MT" panose="020B0502020104020203" pitchFamily="34" charset="0"/>
              </a:rPr>
              <a:t>¿Por qué “5 al día” en Colombia?</a:t>
            </a:r>
            <a:endParaRPr lang="es-CO" sz="2200" b="1" dirty="0">
              <a:solidFill>
                <a:srgbClr val="008090"/>
              </a:solidFill>
              <a:latin typeface="Gill Sans MT" panose="020B0502020104020203" pitchFamily="34" charset="0"/>
            </a:endParaRPr>
          </a:p>
        </p:txBody>
      </p:sp>
      <p:sp>
        <p:nvSpPr>
          <p:cNvPr id="5" name="CuadroTexto 4"/>
          <p:cNvSpPr txBox="1"/>
          <p:nvPr/>
        </p:nvSpPr>
        <p:spPr>
          <a:xfrm>
            <a:off x="8858248" y="1261413"/>
            <a:ext cx="2714627" cy="954107"/>
          </a:xfrm>
          <a:prstGeom prst="rect">
            <a:avLst/>
          </a:prstGeom>
          <a:noFill/>
        </p:spPr>
        <p:txBody>
          <a:bodyPr wrap="square" rtlCol="0">
            <a:spAutoFit/>
          </a:bodyPr>
          <a:lstStyle/>
          <a:p>
            <a:r>
              <a:rPr lang="es-CO" sz="1400" dirty="0" smtClean="0">
                <a:solidFill>
                  <a:schemeClr val="bg1"/>
                </a:solidFill>
                <a:latin typeface="Gill Sans MT" panose="020B0502020104020203" pitchFamily="34" charset="0"/>
              </a:rPr>
              <a:t>La </a:t>
            </a:r>
            <a:r>
              <a:rPr lang="es-CO" sz="1400" dirty="0" smtClean="0">
                <a:solidFill>
                  <a:srgbClr val="FFF6A6"/>
                </a:solidFill>
                <a:latin typeface="Gill Sans MT" panose="020B0502020104020203" pitchFamily="34" charset="0"/>
              </a:rPr>
              <a:t>Organización Mundial de la Salud </a:t>
            </a:r>
            <a:r>
              <a:rPr lang="es-CO" sz="1400" dirty="0" smtClean="0">
                <a:solidFill>
                  <a:schemeClr val="bg1"/>
                </a:solidFill>
                <a:latin typeface="Gill Sans MT" panose="020B0502020104020203" pitchFamily="34" charset="0"/>
              </a:rPr>
              <a:t>sugiere como mínimo 400 gramos de frutas y hortalizas al día para una buena salud.</a:t>
            </a:r>
            <a:endParaRPr lang="es-CO" sz="1400" dirty="0">
              <a:solidFill>
                <a:schemeClr val="bg1"/>
              </a:solidFill>
              <a:latin typeface="Gill Sans MT" panose="020B0502020104020203" pitchFamily="34" charset="0"/>
            </a:endParaRPr>
          </a:p>
        </p:txBody>
      </p:sp>
      <p:sp>
        <p:nvSpPr>
          <p:cNvPr id="6" name="CuadroTexto 5"/>
          <p:cNvSpPr txBox="1"/>
          <p:nvPr/>
        </p:nvSpPr>
        <p:spPr>
          <a:xfrm>
            <a:off x="8858248" y="2401864"/>
            <a:ext cx="2838452" cy="954107"/>
          </a:xfrm>
          <a:prstGeom prst="rect">
            <a:avLst/>
          </a:prstGeom>
          <a:noFill/>
        </p:spPr>
        <p:txBody>
          <a:bodyPr wrap="square" rtlCol="0">
            <a:spAutoFit/>
          </a:bodyPr>
          <a:lstStyle/>
          <a:p>
            <a:r>
              <a:rPr lang="es-CO" sz="1400" b="1" dirty="0" smtClean="0">
                <a:solidFill>
                  <a:srgbClr val="FFF6A6"/>
                </a:solidFill>
                <a:latin typeface="Gill Sans MT" panose="020B0502020104020203" pitchFamily="34" charset="0"/>
              </a:rPr>
              <a:t>Recuerda:</a:t>
            </a:r>
          </a:p>
          <a:p>
            <a:r>
              <a:rPr lang="es-CO" sz="1400" dirty="0" smtClean="0">
                <a:solidFill>
                  <a:schemeClr val="bg1"/>
                </a:solidFill>
                <a:latin typeface="Gill Sans MT" panose="020B0502020104020203" pitchFamily="34" charset="0"/>
              </a:rPr>
              <a:t>Consumir 3 frutas y 2 verduras al día en un país con gran variedad de estas.</a:t>
            </a:r>
            <a:endParaRPr lang="es-CO" sz="1400" dirty="0">
              <a:solidFill>
                <a:schemeClr val="bg1"/>
              </a:solidFill>
              <a:latin typeface="Gill Sans MT" panose="020B0502020104020203" pitchFamily="34" charset="0"/>
            </a:endParaRPr>
          </a:p>
        </p:txBody>
      </p:sp>
    </p:spTree>
    <p:extLst>
      <p:ext uri="{BB962C8B-B14F-4D97-AF65-F5344CB8AC3E}">
        <p14:creationId xmlns:p14="http://schemas.microsoft.com/office/powerpoint/2010/main" xmlns="" val="577981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7999"/>
          </a:xfrm>
          <a:prstGeom prst="rect">
            <a:avLst/>
          </a:prstGeom>
        </p:spPr>
      </p:pic>
      <p:sp>
        <p:nvSpPr>
          <p:cNvPr id="3" name="CuadroTexto 2"/>
          <p:cNvSpPr txBox="1"/>
          <p:nvPr/>
        </p:nvSpPr>
        <p:spPr>
          <a:xfrm>
            <a:off x="2600744" y="1091538"/>
            <a:ext cx="2371306" cy="461665"/>
          </a:xfrm>
          <a:prstGeom prst="rect">
            <a:avLst/>
          </a:prstGeom>
          <a:noFill/>
        </p:spPr>
        <p:txBody>
          <a:bodyPr wrap="square" rtlCol="0">
            <a:spAutoFit/>
          </a:bodyPr>
          <a:lstStyle/>
          <a:p>
            <a:pPr algn="ctr"/>
            <a:r>
              <a:rPr lang="es-CO" sz="2400" b="1" dirty="0" smtClean="0">
                <a:solidFill>
                  <a:schemeClr val="bg1"/>
                </a:solidFill>
                <a:latin typeface="Gill Sans MT" panose="020B0502020104020203" pitchFamily="34" charset="0"/>
              </a:rPr>
              <a:t>Referencias</a:t>
            </a:r>
            <a:endParaRPr lang="es-CO" sz="2400" b="1" dirty="0">
              <a:solidFill>
                <a:schemeClr val="bg1"/>
              </a:solidFill>
              <a:latin typeface="Gill Sans MT" panose="020B0502020104020203" pitchFamily="34" charset="0"/>
            </a:endParaRPr>
          </a:p>
        </p:txBody>
      </p:sp>
      <p:sp>
        <p:nvSpPr>
          <p:cNvPr id="4" name="CuadroTexto 3"/>
          <p:cNvSpPr txBox="1"/>
          <p:nvPr/>
        </p:nvSpPr>
        <p:spPr>
          <a:xfrm>
            <a:off x="1543048" y="1833086"/>
            <a:ext cx="4705352" cy="830997"/>
          </a:xfrm>
          <a:prstGeom prst="rect">
            <a:avLst/>
          </a:prstGeom>
          <a:noFill/>
        </p:spPr>
        <p:txBody>
          <a:bodyPr wrap="square" rtlCol="0">
            <a:spAutoFit/>
          </a:bodyPr>
          <a:lstStyle/>
          <a:p>
            <a:pPr algn="ctr"/>
            <a:r>
              <a:rPr lang="es-ES" sz="1600" dirty="0" smtClean="0">
                <a:latin typeface="Gill Sans MT" panose="020B0502020104020203" pitchFamily="34" charset="0"/>
              </a:rPr>
              <a:t>Ministerio de Salud Colombia: Recuperado de: https://www.minsalud.gov.co/salud/Páginas/Alimentaci%C3%B3n-Saludable.aspx  24/12/2020.</a:t>
            </a:r>
            <a:endParaRPr lang="es-CO" sz="1600" dirty="0">
              <a:latin typeface="Gill Sans MT" panose="020B0502020104020203" pitchFamily="34" charset="0"/>
            </a:endParaRPr>
          </a:p>
        </p:txBody>
      </p:sp>
    </p:spTree>
    <p:extLst>
      <p:ext uri="{BB962C8B-B14F-4D97-AF65-F5344CB8AC3E}">
        <p14:creationId xmlns:p14="http://schemas.microsoft.com/office/powerpoint/2010/main" xmlns="" val="2650421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xmlns="" val="269924995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ategoriaPorProducto xmlns="93d3e24f-3ff8-479e-868d-eaa24eb13187">7</CategoriaPorProducto>
    <NombreProducto xmlns="93d3e24f-3ff8-479e-868d-eaa24eb13187">56</NombreProducto>
    <Imagen xmlns="93d3e24f-3ff8-479e-868d-eaa24eb13187">
      <Url xsi:nil="true"/>
      <Description xsi:nil="true"/>
    </Imagen>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A30A2013F62EBB4DA9663E4A93CC934D" ma:contentTypeVersion="4" ma:contentTypeDescription="Crear nuevo documento." ma:contentTypeScope="" ma:versionID="03bb2acf7f44e5f56cb90709d34918d1">
  <xsd:schema xmlns:xsd="http://www.w3.org/2001/XMLSchema" xmlns:xs="http://www.w3.org/2001/XMLSchema" xmlns:p="http://schemas.microsoft.com/office/2006/metadata/properties" xmlns:ns2="93d3e24f-3ff8-479e-868d-eaa24eb13187" targetNamespace="http://schemas.microsoft.com/office/2006/metadata/properties" ma:root="true" ma:fieldsID="4b5928729fde775bff58fc01eaa602d9" ns2:_="">
    <xsd:import namespace="93d3e24f-3ff8-479e-868d-eaa24eb13187"/>
    <xsd:element name="properties">
      <xsd:complexType>
        <xsd:sequence>
          <xsd:element name="documentManagement">
            <xsd:complexType>
              <xsd:all>
                <xsd:element ref="ns2:NombreProducto" minOccurs="0"/>
                <xsd:element ref="ns2:CategoriaPorProducto" minOccurs="0"/>
                <xsd:element ref="ns2:Imag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d3e24f-3ff8-479e-868d-eaa24eb13187" elementFormDefault="qualified">
    <xsd:import namespace="http://schemas.microsoft.com/office/2006/documentManagement/types"/>
    <xsd:import namespace="http://schemas.microsoft.com/office/infopath/2007/PartnerControls"/>
    <xsd:element name="NombreProducto" ma:index="8" nillable="true" ma:displayName="NombreProducto" ma:description="Producto al que se asocia el documento" ma:list="{39026772-dd58-4df9-bd9d-b9f9062ace69}" ma:internalName="NombreProducto" ma:readOnly="false" ma:showField="Title">
      <xsd:simpleType>
        <xsd:restriction base="dms:Lookup"/>
      </xsd:simpleType>
    </xsd:element>
    <xsd:element name="CategoriaPorProducto" ma:index="9" nillable="true" ma:displayName="CategoriaPorProducto" ma:description="Si el producto No Tinene Wizard este campo se debe dejar sin selección." ma:list="{76331b60-5cbf-4c56-8843-226d589e3b11}" ma:internalName="CategoriaPorProducto" ma:showField="Title">
      <xsd:simpleType>
        <xsd:restriction base="dms:Lookup"/>
      </xsd:simpleType>
    </xsd:element>
    <xsd:element name="Imagen" ma:index="10" nillable="true" ma:displayName="Imagen" ma:format="Image" ma:internalName="Imagen">
      <xsd:complexType>
        <xsd:complexContent>
          <xsd:extension base="dms:URL">
            <xsd:sequence>
              <xsd:element name="Url" type="dms:ValidUrl" minOccurs="0" nillable="true"/>
              <xsd:element name="Description" type="xsd:string"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8BD517-6E9D-47B1-AACB-70E84356E6F0}">
  <ds:schemaRefs>
    <ds:schemaRef ds:uri="http://schemas.microsoft.com/sharepoint/v3/contenttype/forms"/>
  </ds:schemaRefs>
</ds:datastoreItem>
</file>

<file path=customXml/itemProps2.xml><?xml version="1.0" encoding="utf-8"?>
<ds:datastoreItem xmlns:ds="http://schemas.openxmlformats.org/officeDocument/2006/customXml" ds:itemID="{97E03070-C4AE-4E01-95E0-0C511E81C368}">
  <ds:schemaRefs>
    <ds:schemaRef ds:uri="http://schemas.microsoft.com/office/2006/metadata/properties"/>
    <ds:schemaRef ds:uri="http://schemas.microsoft.com/office/infopath/2007/PartnerControls"/>
    <ds:schemaRef ds:uri="93d3e24f-3ff8-479e-868d-eaa24eb13187"/>
  </ds:schemaRefs>
</ds:datastoreItem>
</file>

<file path=customXml/itemProps3.xml><?xml version="1.0" encoding="utf-8"?>
<ds:datastoreItem xmlns:ds="http://schemas.openxmlformats.org/officeDocument/2006/customXml" ds:itemID="{202D3701-8D0C-4694-8247-9DAAE9A027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d3e24f-3ff8-479e-868d-eaa24eb131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77</TotalTime>
  <Words>658</Words>
  <Application>Microsoft Office PowerPoint</Application>
  <PresentationFormat>Personalizado</PresentationFormat>
  <Paragraphs>60</Paragraphs>
  <Slides>14</Slides>
  <Notes>0</Notes>
  <HiddenSlides>0</HiddenSlides>
  <MMClips>0</MMClips>
  <ScaleCrop>false</ScaleCrop>
  <HeadingPairs>
    <vt:vector size="4" baseType="variant">
      <vt:variant>
        <vt:lpstr>Tema</vt:lpstr>
      </vt:variant>
      <vt:variant>
        <vt:i4>1</vt:i4>
      </vt:variant>
      <vt:variant>
        <vt:lpstr>Títulos de diapositiva</vt:lpstr>
      </vt:variant>
      <vt:variant>
        <vt:i4>14</vt:i4>
      </vt:variant>
    </vt:vector>
  </HeadingPairs>
  <TitlesOfParts>
    <vt:vector size="15"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User</dc:creator>
  <cp:lastModifiedBy>CONSULTORIO-5</cp:lastModifiedBy>
  <cp:revision>11</cp:revision>
  <dcterms:created xsi:type="dcterms:W3CDTF">2024-04-03T21:05:23Z</dcterms:created>
  <dcterms:modified xsi:type="dcterms:W3CDTF">2025-05-22T16:53:45Z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0x010100A30A2013F62EBB4DA9663E4A93CC934D</vt:lpwstr>
  </property>
</Properties>
</file>